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69" d="100"/>
          <a:sy n="169" d="100"/>
        </p:scale>
        <p:origin x="192" y="21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9629450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" Target="slide3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slide" Target="slide1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hyperlink" Target="https://ech08ravo.github.io/deakin/guide/playbook/FAQ.html" TargetMode="External"/><Relationship Id="rId3" Type="http://schemas.openxmlformats.org/officeDocument/2006/relationships/slide" Target="slide1.xml"/><Relationship Id="rId7" Type="http://schemas.openxmlformats.org/officeDocument/2006/relationships/hyperlink" Target="https://ech08ravo.github.io/deakin/guide/playbook/index.html" TargetMode="Externa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slide" Target="slide6.xml"/><Relationship Id="rId11" Type="http://schemas.openxmlformats.org/officeDocument/2006/relationships/hyperlink" Target="https://chatgpt.com/g/g-686dd48d08d081918171e1b348f6c6a4-interactive-oral-assessments" TargetMode="External"/><Relationship Id="rId5" Type="http://schemas.openxmlformats.org/officeDocument/2006/relationships/slide" Target="slide5.xml"/><Relationship Id="rId10" Type="http://schemas.openxmlformats.org/officeDocument/2006/relationships/hyperlink" Target="https://cogniti-uat.deakin.edu.au/agents/69893323542ae4b2c6bb11b4/chat/c/69894870542ae4b2c6bb11bc?k=92f9PhM10vApcZfeQMAT_XQFg08ncbkPRrwHU7TZ3bs" TargetMode="External"/><Relationship Id="rId4" Type="http://schemas.openxmlformats.org/officeDocument/2006/relationships/slide" Target="slide4.xml"/><Relationship Id="rId9" Type="http://schemas.openxmlformats.org/officeDocument/2006/relationships/hyperlink" Target="https://ech08ravo.github.io/deakin/guide/ioa-guide/comprehensive.html" TargetMode="Externa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slide" Target="slide10.xml"/><Relationship Id="rId13" Type="http://schemas.openxmlformats.org/officeDocument/2006/relationships/slide" Target="slide15.xml"/><Relationship Id="rId3" Type="http://schemas.openxmlformats.org/officeDocument/2006/relationships/slide" Target="slide3.xml"/><Relationship Id="rId7" Type="http://schemas.openxmlformats.org/officeDocument/2006/relationships/slide" Target="slide9.xml"/><Relationship Id="rId12" Type="http://schemas.openxmlformats.org/officeDocument/2006/relationships/slide" Target="slide14.xml"/><Relationship Id="rId17" Type="http://schemas.openxmlformats.org/officeDocument/2006/relationships/slide" Target="slide19.xml"/><Relationship Id="rId2" Type="http://schemas.openxmlformats.org/officeDocument/2006/relationships/notesSlide" Target="../notesSlides/notesSlide4.xml"/><Relationship Id="rId16" Type="http://schemas.openxmlformats.org/officeDocument/2006/relationships/slide" Target="slide18.xml"/><Relationship Id="rId1" Type="http://schemas.openxmlformats.org/officeDocument/2006/relationships/slideLayout" Target="../slideLayouts/slideLayout1.xml"/><Relationship Id="rId6" Type="http://schemas.openxmlformats.org/officeDocument/2006/relationships/slide" Target="slide8.xml"/><Relationship Id="rId11" Type="http://schemas.openxmlformats.org/officeDocument/2006/relationships/slide" Target="slide13.xml"/><Relationship Id="rId5" Type="http://schemas.openxmlformats.org/officeDocument/2006/relationships/slide" Target="slide7.xml"/><Relationship Id="rId15" Type="http://schemas.openxmlformats.org/officeDocument/2006/relationships/slide" Target="slide17.xml"/><Relationship Id="rId10" Type="http://schemas.openxmlformats.org/officeDocument/2006/relationships/slide" Target="slide12.xml"/><Relationship Id="rId4" Type="http://schemas.openxmlformats.org/officeDocument/2006/relationships/slide" Target="slide1.xml"/><Relationship Id="rId9" Type="http://schemas.openxmlformats.org/officeDocument/2006/relationships/slide" Target="slide11.xml"/><Relationship Id="rId14" Type="http://schemas.openxmlformats.org/officeDocument/2006/relationships/slide" Target="slide16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" Target="slide3.xml"/><Relationship Id="rId7" Type="http://schemas.openxmlformats.org/officeDocument/2006/relationships/slide" Target="slide22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slide" Target="slide21.xml"/><Relationship Id="rId5" Type="http://schemas.openxmlformats.org/officeDocument/2006/relationships/slide" Target="slide20.xml"/><Relationship Id="rId4" Type="http://schemas.openxmlformats.org/officeDocument/2006/relationships/slide" Target="slide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" Target="slide3.xml"/><Relationship Id="rId7" Type="http://schemas.openxmlformats.org/officeDocument/2006/relationships/slide" Target="slide25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slide" Target="slide24.xml"/><Relationship Id="rId5" Type="http://schemas.openxmlformats.org/officeDocument/2006/relationships/slide" Target="slide23.xml"/><Relationship Id="rId4" Type="http://schemas.openxmlformats.org/officeDocument/2006/relationships/slide" Target="slide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" Target="slide3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5" Type="http://schemas.openxmlformats.org/officeDocument/2006/relationships/hyperlink" Target="https://ech08ravo.github.io/deakin/guide/ioa-guide/resources/01_IOA_Overview_1pager.docx" TargetMode="External"/><Relationship Id="rId4" Type="http://schemas.openxmlformats.org/officeDocument/2006/relationships/slide" Target="slide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" Target="slide3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5" Type="http://schemas.openxmlformats.org/officeDocument/2006/relationships/hyperlink" Target="https://ech08ravo.github.io/deakin/guide/ioa-guide/resources/02_Scenario_Brief.docx" TargetMode="External"/><Relationship Id="rId4" Type="http://schemas.openxmlformats.org/officeDocument/2006/relationships/slide" Target="slide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slide" Target="slide3.xm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5" Type="http://schemas.openxmlformats.org/officeDocument/2006/relationships/hyperlink" Target="https://ech08ravo.github.io/deakin/guide/ioa-guide/resources/03_Assessment_Rubric.docx" TargetMode="External"/><Relationship Id="rId4" Type="http://schemas.openxmlformats.org/officeDocument/2006/relationships/slide" Target="slide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slide" Target="slide3.xm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5" Type="http://schemas.openxmlformats.org/officeDocument/2006/relationships/hyperlink" Target="https://ech08ravo.github.io/deakin/guide/ioa-guide/resources/03_SRM161_Rubric_CloudDeakin.docx" TargetMode="External"/><Relationship Id="rId4" Type="http://schemas.openxmlformats.org/officeDocument/2006/relationships/slide" Target="slide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slide" Target="slide3.xm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5" Type="http://schemas.openxmlformats.org/officeDocument/2006/relationships/hyperlink" Target="https://ech08ravo.github.io/deakin/guide/ioa-guide/resources/04_What_Were_Listening_For.docx" TargetMode="External"/><Relationship Id="rId4" Type="http://schemas.openxmlformats.org/officeDocument/2006/relationships/slide" Target="slide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slide" Target="slide3.xml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5" Type="http://schemas.openxmlformats.org/officeDocument/2006/relationships/hyperlink" Target="https://ech08ravo.github.io/deakin/guide/ioa-guide/resources/05_Challenge_Prompts.docx" TargetMode="External"/><Relationship Id="rId4" Type="http://schemas.openxmlformats.org/officeDocument/2006/relationships/slide" Target="slide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slide" Target="slide3.xml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5" Type="http://schemas.openxmlformats.org/officeDocument/2006/relationships/hyperlink" Target="https://ech08ravo.github.io/deakin/guide/ioa-guide/resources/06_Practice_Script_Timing.docx" TargetMode="External"/><Relationship Id="rId4" Type="http://schemas.openxmlformats.org/officeDocument/2006/relationships/slide" Target="slide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slide" Target="slide3.xml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5" Type="http://schemas.openxmlformats.org/officeDocument/2006/relationships/hyperlink" Target="https://ech08ravo.github.io/deakin/guide/ioa-guide/resources/07_Academic_Integrity_Policy.docx" TargetMode="External"/><Relationship Id="rId4" Type="http://schemas.openxmlformats.org/officeDocument/2006/relationships/slide" Target="slide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slide" Target="slide3.xml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5" Type="http://schemas.openxmlformats.org/officeDocument/2006/relationships/hyperlink" Target="https://ech08ravo.github.io/deakin/guide/ioa-guide/resources/08_Booking_Logistics_Guide.docx" TargetMode="External"/><Relationship Id="rId4" Type="http://schemas.openxmlformats.org/officeDocument/2006/relationships/slide" Target="slide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slide" Target="slide3.xml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5" Type="http://schemas.openxmlformats.org/officeDocument/2006/relationships/hyperlink" Target="https://ech08ravo.github.io/deakin/guide/ioa-guide/resources/09_Tech_Check.docx" TargetMode="External"/><Relationship Id="rId4" Type="http://schemas.openxmlformats.org/officeDocument/2006/relationships/slide" Target="slide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slide" Target="slide3.xml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5" Type="http://schemas.openxmlformats.org/officeDocument/2006/relationships/hyperlink" Target="https://ech08ravo.github.io/deakin/guide/ioa-guide/resources/10_Day_Of_Checklist.docx" TargetMode="External"/><Relationship Id="rId4" Type="http://schemas.openxmlformats.org/officeDocument/2006/relationships/slide" Target="slide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slide" Target="slide3.xml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5" Type="http://schemas.openxmlformats.org/officeDocument/2006/relationships/hyperlink" Target="https://ech08ravo.github.io/deakin/guide/ioa-guide/resources/11_After_IO_Debrief.docx" TargetMode="External"/><Relationship Id="rId4" Type="http://schemas.openxmlformats.org/officeDocument/2006/relationships/slide" Target="slide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slide" Target="slide3.xml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Relationship Id="rId5" Type="http://schemas.openxmlformats.org/officeDocument/2006/relationships/hyperlink" Target="https://ech08ravo.github.io/deakin/guide/ioa-guide/resources/12_One_Page_Notes_Template.docx" TargetMode="External"/><Relationship Id="rId4" Type="http://schemas.openxmlformats.org/officeDocument/2006/relationships/slide" Target="slide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slide" Target="slide3.xml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Relationship Id="rId5" Type="http://schemas.openxmlformats.org/officeDocument/2006/relationships/hyperlink" Target="https://ech08ravo.github.io/deakin/guide/ioa-guide/resources/Example_IOA_Design_in_detail.docx" TargetMode="External"/><Relationship Id="rId4" Type="http://schemas.openxmlformats.org/officeDocument/2006/relationships/slide" Target="slide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slide" Target="slide3.xml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Relationship Id="rId5" Type="http://schemas.openxmlformats.org/officeDocument/2006/relationships/hyperlink" Target="https://ech08ravo.github.io/deakin/guide/ioa-guide/resources/Example_IOA_client_consultation_UC_brief.pptx" TargetMode="External"/><Relationship Id="rId4" Type="http://schemas.openxmlformats.org/officeDocument/2006/relationships/slide" Target="slide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slide" Target="slide3.xml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Relationship Id="rId4" Type="http://schemas.openxmlformats.org/officeDocument/2006/relationships/slide" Target="slide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slide" Target="slide3.xml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Relationship Id="rId4" Type="http://schemas.openxmlformats.org/officeDocument/2006/relationships/slide" Target="slide1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slide" Target="slide3.xml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Relationship Id="rId4" Type="http://schemas.openxmlformats.org/officeDocument/2006/relationships/slide" Target="slide1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slide" Target="slide3.xml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Relationship Id="rId5" Type="http://schemas.openxmlformats.org/officeDocument/2006/relationships/hyperlink" Target="https://ech08ravo.github.io/deakin/guide/ioa-guide/resources/03_Assessment_Rubric.docx" TargetMode="External"/><Relationship Id="rId4" Type="http://schemas.openxmlformats.org/officeDocument/2006/relationships/slide" Target="slide1.xml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hyperlink" Target="https://ech08ravo.github.io/deakin/guide/ioa-guide/index.html" TargetMode="External"/><Relationship Id="rId3" Type="http://schemas.openxmlformats.org/officeDocument/2006/relationships/slide" Target="slide3.xml"/><Relationship Id="rId7" Type="http://schemas.openxmlformats.org/officeDocument/2006/relationships/hyperlink" Target="https://ech08ravo.github.io/deakin/guide/ioa-guide/comprehensive.html" TargetMode="External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Relationship Id="rId6" Type="http://schemas.openxmlformats.org/officeDocument/2006/relationships/hyperlink" Target="https://ech08ravo.github.io/deakin/guide/playbook/FAQ.html" TargetMode="External"/><Relationship Id="rId5" Type="http://schemas.openxmlformats.org/officeDocument/2006/relationships/hyperlink" Target="https://ech08ravo.github.io/deakin/guide/playbook/index.html" TargetMode="External"/><Relationship Id="rId10" Type="http://schemas.openxmlformats.org/officeDocument/2006/relationships/hyperlink" Target="https://chatgpt.com/g/g-686dd48d08d081918171e1b348f6c6a4-interactive-oral-assessments" TargetMode="External"/><Relationship Id="rId4" Type="http://schemas.openxmlformats.org/officeDocument/2006/relationships/slide" Target="slide1.xml"/><Relationship Id="rId9" Type="http://schemas.openxmlformats.org/officeDocument/2006/relationships/hyperlink" Target="https://cogniti-uat.deakin.edu.au/agents/69893323542ae4b2c6bb11b4/chat/c/69894870542ae4b2c6bb11bc?k=92f9PhM10vApcZfeQMAT_XQFg08ncbkPRrwHU7TZ3bs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274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731520"/>
            <a:ext cx="50292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Interactive Oral</a:t>
            </a:r>
            <a:endParaRPr lang="en-US" sz="4200" dirty="0"/>
          </a:p>
          <a:p>
            <a:pPr marL="0" indent="0">
              <a:buNone/>
            </a:pPr>
            <a:r>
              <a:rPr lang="en-US" sz="4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Assessment</a:t>
            </a:r>
            <a:endParaRPr lang="en-US" sz="4200" dirty="0"/>
          </a:p>
        </p:txBody>
      </p:sp>
      <p:sp>
        <p:nvSpPr>
          <p:cNvPr id="3" name="Text 1"/>
          <p:cNvSpPr/>
          <p:nvPr/>
        </p:nvSpPr>
        <p:spPr>
          <a:xfrm>
            <a:off x="548640" y="228600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0A7E8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Resource Cards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2926080"/>
            <a:ext cx="4572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menu of resources and tools for designing, running,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supporting IOAs in higher education.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760720" y="731520"/>
            <a:ext cx="2926080" cy="1005840"/>
          </a:xfrm>
          <a:prstGeom prst="roundRect">
            <a:avLst>
              <a:gd name="adj" fmla="val 9091"/>
            </a:avLst>
          </a:prstGeom>
          <a:solidFill>
            <a:srgbClr val="243556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6" name="Text 4"/>
          <p:cNvSpPr/>
          <p:nvPr/>
        </p:nvSpPr>
        <p:spPr>
          <a:xfrm>
            <a:off x="5943600" y="82296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A7E8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~4,000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5943600" y="1207008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words in 10 min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943600" y="1444752"/>
            <a:ext cx="2560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5566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Colvin &amp; Gaffey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5760720" y="1965960"/>
            <a:ext cx="2926080" cy="1005840"/>
          </a:xfrm>
          <a:prstGeom prst="roundRect">
            <a:avLst>
              <a:gd name="adj" fmla="val 9091"/>
            </a:avLst>
          </a:prstGeom>
          <a:solidFill>
            <a:srgbClr val="243556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10" name="Text 8"/>
          <p:cNvSpPr/>
          <p:nvPr/>
        </p:nvSpPr>
        <p:spPr>
          <a:xfrm>
            <a:off x="5943600" y="205740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A7E8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60%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5943600" y="2441448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 marking time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943600" y="2679192"/>
            <a:ext cx="2560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5566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Shaeri et al.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5760720" y="3200400"/>
            <a:ext cx="2926080" cy="1005840"/>
          </a:xfrm>
          <a:prstGeom prst="roundRect">
            <a:avLst>
              <a:gd name="adj" fmla="val 9091"/>
            </a:avLst>
          </a:prstGeom>
          <a:solidFill>
            <a:srgbClr val="243556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14" name="Text 12"/>
          <p:cNvSpPr/>
          <p:nvPr/>
        </p:nvSpPr>
        <p:spPr>
          <a:xfrm>
            <a:off x="5943600" y="329184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A7E8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800+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5943600" y="3675888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scaled successfully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943600" y="3913632"/>
            <a:ext cx="2560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5566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Griffith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548640" y="43891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566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 any card to explore. Navigate with index and home buttons.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A274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hlinkClick r:id="rId3" action="ppaction://hlinksldjump"/>
          </p:cNvPr>
          <p:cNvSpPr/>
          <p:nvPr/>
        </p:nvSpPr>
        <p:spPr>
          <a:xfrm>
            <a:off x="7863840" y="137160"/>
            <a:ext cx="502920" cy="347472"/>
          </a:xfrm>
          <a:prstGeom prst="roundRect">
            <a:avLst>
              <a:gd name="adj" fmla="val 15789"/>
            </a:avLst>
          </a:prstGeom>
          <a:solidFill>
            <a:srgbClr val="1A2744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3" name="Text 1">
            <a:hlinkClick r:id="rId3" action="ppaction://hlinksldjump"/>
          </p:cNvPr>
          <p:cNvSpPr/>
          <p:nvPr/>
        </p:nvSpPr>
        <p:spPr>
          <a:xfrm>
            <a:off x="7863840" y="137160"/>
            <a:ext cx="502920" cy="347472"/>
          </a:xfrm>
          <a:prstGeom prst="rect">
            <a:avLst/>
          </a:prstGeom>
          <a:noFill/>
          <a:ln/>
        </p:spPr>
        <p:txBody>
          <a:bodyPr wrap="square" lIns="0" tIns="0" rIns="0" bIns="38100" rtlCol="0" anchor="b"/>
          <a:lstStyle/>
          <a:p>
            <a:pPr marL="0" indent="0" algn="ctr">
              <a:buNone/>
            </a:pPr>
            <a:r>
              <a:rPr lang="en-US" sz="800" u="sng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3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index</a:t>
            </a:r>
            <a:endParaRPr lang="en-US" sz="800" dirty="0"/>
          </a:p>
        </p:txBody>
      </p:sp>
      <p:sp>
        <p:nvSpPr>
          <p:cNvPr id="4" name="Shape 2">
            <a:hlinkClick r:id="rId4" action="ppaction://hlinksldjump"/>
          </p:cNvPr>
          <p:cNvSpPr/>
          <p:nvPr/>
        </p:nvSpPr>
        <p:spPr>
          <a:xfrm>
            <a:off x="8458200" y="137160"/>
            <a:ext cx="502920" cy="347472"/>
          </a:xfrm>
          <a:prstGeom prst="roundRect">
            <a:avLst>
              <a:gd name="adj" fmla="val 15789"/>
            </a:avLst>
          </a:prstGeom>
          <a:solidFill>
            <a:srgbClr val="1A2744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5" name="Text 3">
            <a:hlinkClick r:id="rId4" action="ppaction://hlinksldjump"/>
          </p:cNvPr>
          <p:cNvSpPr/>
          <p:nvPr/>
        </p:nvSpPr>
        <p:spPr>
          <a:xfrm>
            <a:off x="8458200" y="137160"/>
            <a:ext cx="502920" cy="347472"/>
          </a:xfrm>
          <a:prstGeom prst="rect">
            <a:avLst/>
          </a:prstGeom>
          <a:noFill/>
          <a:ln/>
        </p:spPr>
        <p:txBody>
          <a:bodyPr wrap="square" lIns="0" tIns="0" rIns="0" bIns="38100" rtlCol="0" anchor="b"/>
          <a:lstStyle/>
          <a:p>
            <a:pPr marL="0" indent="0" algn="ctr">
              <a:buNone/>
            </a:pPr>
            <a:r>
              <a:rPr lang="en-US" sz="800" u="sng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4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home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48640" y="18288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Each card outlines: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0" y="594360"/>
            <a:ext cx="9144000" cy="36576"/>
          </a:xfrm>
          <a:prstGeom prst="rect">
            <a:avLst/>
          </a:prstGeom>
          <a:solidFill>
            <a:srgbClr val="0A7E8C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8" name="Shape 6"/>
          <p:cNvSpPr/>
          <p:nvPr/>
        </p:nvSpPr>
        <p:spPr>
          <a:xfrm>
            <a:off x="548640" y="822960"/>
            <a:ext cx="8046720" cy="530352"/>
          </a:xfrm>
          <a:prstGeom prst="roundRect">
            <a:avLst>
              <a:gd name="adj" fmla="val 13793"/>
            </a:avLst>
          </a:prstGeom>
          <a:solidFill>
            <a:srgbClr val="243556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9" name="Text 7"/>
          <p:cNvSpPr/>
          <p:nvPr/>
        </p:nvSpPr>
        <p:spPr>
          <a:xfrm>
            <a:off x="822960" y="868680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A7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Purpose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822960" y="1097280"/>
            <a:ext cx="7498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resource is for and when to use it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48640" y="1463040"/>
            <a:ext cx="8046720" cy="530352"/>
          </a:xfrm>
          <a:prstGeom prst="roundRect">
            <a:avLst>
              <a:gd name="adj" fmla="val 13793"/>
            </a:avLst>
          </a:prstGeom>
          <a:solidFill>
            <a:srgbClr val="243556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12" name="Text 10"/>
          <p:cNvSpPr/>
          <p:nvPr/>
        </p:nvSpPr>
        <p:spPr>
          <a:xfrm>
            <a:off x="822960" y="1508760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A7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Contents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822960" y="1737360"/>
            <a:ext cx="7498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What's included in the document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48640" y="2103120"/>
            <a:ext cx="8046720" cy="530352"/>
          </a:xfrm>
          <a:prstGeom prst="roundRect">
            <a:avLst>
              <a:gd name="adj" fmla="val 13793"/>
            </a:avLst>
          </a:prstGeom>
          <a:solidFill>
            <a:srgbClr val="243556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15" name="Text 13"/>
          <p:cNvSpPr/>
          <p:nvPr/>
        </p:nvSpPr>
        <p:spPr>
          <a:xfrm>
            <a:off x="822960" y="2148840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A7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Suggested timing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822960" y="2377440"/>
            <a:ext cx="7498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to release or use in your unit schedule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548640" y="2743200"/>
            <a:ext cx="8046720" cy="530352"/>
          </a:xfrm>
          <a:prstGeom prst="roundRect">
            <a:avLst>
              <a:gd name="adj" fmla="val 13793"/>
            </a:avLst>
          </a:prstGeom>
          <a:solidFill>
            <a:srgbClr val="243556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18" name="Text 16"/>
          <p:cNvSpPr/>
          <p:nvPr/>
        </p:nvSpPr>
        <p:spPr>
          <a:xfrm>
            <a:off x="822960" y="2788920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A7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Audience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822960" y="3017520"/>
            <a:ext cx="7498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Students, staff, or both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48640" y="3383280"/>
            <a:ext cx="8046720" cy="530352"/>
          </a:xfrm>
          <a:prstGeom prst="roundRect">
            <a:avLst>
              <a:gd name="adj" fmla="val 13793"/>
            </a:avLst>
          </a:prstGeom>
          <a:solidFill>
            <a:srgbClr val="243556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21" name="Text 19"/>
          <p:cNvSpPr/>
          <p:nvPr/>
        </p:nvSpPr>
        <p:spPr>
          <a:xfrm>
            <a:off x="822960" y="3429000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A7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Download link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822960" y="3657600"/>
            <a:ext cx="7498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 to download the .docx from the resource library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548640" y="420624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566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resources are customisable .docx templates hosted on GitHub.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5566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Links will be updated to SharePoint when available.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A274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hlinkClick r:id="rId3" action="ppaction://hlinksldjump"/>
          </p:cNvPr>
          <p:cNvSpPr/>
          <p:nvPr/>
        </p:nvSpPr>
        <p:spPr>
          <a:xfrm>
            <a:off x="8458200" y="137160"/>
            <a:ext cx="502920" cy="347472"/>
          </a:xfrm>
          <a:prstGeom prst="roundRect">
            <a:avLst>
              <a:gd name="adj" fmla="val 15789"/>
            </a:avLst>
          </a:prstGeom>
          <a:solidFill>
            <a:srgbClr val="1A2744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3" name="Text 1">
            <a:hlinkClick r:id="rId3" action="ppaction://hlinksldjump"/>
          </p:cNvPr>
          <p:cNvSpPr/>
          <p:nvPr/>
        </p:nvSpPr>
        <p:spPr>
          <a:xfrm>
            <a:off x="8458200" y="137160"/>
            <a:ext cx="502920" cy="347472"/>
          </a:xfrm>
          <a:prstGeom prst="rect">
            <a:avLst/>
          </a:prstGeom>
          <a:noFill/>
          <a:ln/>
        </p:spPr>
        <p:txBody>
          <a:bodyPr wrap="square" lIns="0" tIns="0" rIns="0" bIns="38100" rtlCol="0" anchor="b"/>
          <a:lstStyle/>
          <a:p>
            <a:pPr marL="0" indent="0" algn="ctr">
              <a:buNone/>
            </a:pPr>
            <a:r>
              <a:rPr lang="en-US" sz="800" u="sng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3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home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48640" y="731520"/>
            <a:ext cx="3474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Resource</a:t>
            </a:r>
            <a:endParaRPr lang="en-US" sz="2800" dirty="0"/>
          </a:p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category index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48640" y="2011680"/>
            <a:ext cx="3474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 a category to view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its resource cards.</a:t>
            </a:r>
            <a:endParaRPr lang="en-US" sz="1300" dirty="0"/>
          </a:p>
          <a:p>
            <a:pPr marL="0" indent="0">
              <a:buNone/>
            </a:pP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 flick through all cards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starting from slide 7.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0" y="594360"/>
            <a:ext cx="9144000" cy="36576"/>
          </a:xfrm>
          <a:prstGeom prst="rect">
            <a:avLst/>
          </a:prstGeom>
          <a:solidFill>
            <a:srgbClr val="0A7E8C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7" name="Shape 5">
            <a:hlinkClick r:id="rId4" action="ppaction://hlinksldjump"/>
          </p:cNvPr>
          <p:cNvSpPr/>
          <p:nvPr/>
        </p:nvSpPr>
        <p:spPr>
          <a:xfrm>
            <a:off x="4572000" y="914400"/>
            <a:ext cx="1371600" cy="1645920"/>
          </a:xfrm>
          <a:prstGeom prst="roundRect">
            <a:avLst>
              <a:gd name="adj" fmla="val 6667"/>
            </a:avLst>
          </a:prstGeom>
          <a:solidFill>
            <a:srgbClr val="0A7E8C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8" name="Text 6">
            <a:hlinkClick r:id="rId4" action="ppaction://hlinksldjump"/>
          </p:cNvPr>
          <p:cNvSpPr/>
          <p:nvPr/>
        </p:nvSpPr>
        <p:spPr>
          <a:xfrm>
            <a:off x="4572000" y="1371600"/>
            <a:ext cx="1371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u="sng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  <a:hlinkClick r:id="rId4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Student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u="sng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  <a:hlinkClick r:id="rId4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Resources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572000" y="21031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CDD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cards</a:t>
            </a:r>
            <a:endParaRPr lang="en-US" sz="1000" dirty="0"/>
          </a:p>
        </p:txBody>
      </p:sp>
      <p:sp>
        <p:nvSpPr>
          <p:cNvPr id="10" name="Shape 8">
            <a:hlinkClick r:id="rId5" action="ppaction://hlinksldjump"/>
          </p:cNvPr>
          <p:cNvSpPr/>
          <p:nvPr/>
        </p:nvSpPr>
        <p:spPr>
          <a:xfrm>
            <a:off x="6126480" y="914400"/>
            <a:ext cx="1371600" cy="1645920"/>
          </a:xfrm>
          <a:prstGeom prst="roundRect">
            <a:avLst>
              <a:gd name="adj" fmla="val 6667"/>
            </a:avLst>
          </a:prstGeom>
          <a:solidFill>
            <a:srgbClr val="7B2D8B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11" name="Text 9">
            <a:hlinkClick r:id="rId5" action="ppaction://hlinksldjump"/>
          </p:cNvPr>
          <p:cNvSpPr/>
          <p:nvPr/>
        </p:nvSpPr>
        <p:spPr>
          <a:xfrm>
            <a:off x="6126480" y="1371600"/>
            <a:ext cx="1371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u="sng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  <a:hlinkClick r:id="rId5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Staff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u="sng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  <a:hlinkClick r:id="rId5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Resources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126480" y="21031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CDD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cards</a:t>
            </a:r>
            <a:endParaRPr lang="en-US" sz="1000" dirty="0"/>
          </a:p>
        </p:txBody>
      </p:sp>
      <p:sp>
        <p:nvSpPr>
          <p:cNvPr id="13" name="Shape 11">
            <a:hlinkClick r:id="rId6" action="ppaction://hlinksldjump"/>
          </p:cNvPr>
          <p:cNvSpPr/>
          <p:nvPr/>
        </p:nvSpPr>
        <p:spPr>
          <a:xfrm>
            <a:off x="7680960" y="914400"/>
            <a:ext cx="1371600" cy="1645920"/>
          </a:xfrm>
          <a:prstGeom prst="roundRect">
            <a:avLst>
              <a:gd name="adj" fmla="val 6667"/>
            </a:avLst>
          </a:prstGeom>
          <a:solidFill>
            <a:srgbClr val="C97A1E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14" name="Text 12">
            <a:hlinkClick r:id="rId6" action="ppaction://hlinksldjump"/>
          </p:cNvPr>
          <p:cNvSpPr/>
          <p:nvPr/>
        </p:nvSpPr>
        <p:spPr>
          <a:xfrm>
            <a:off x="7680960" y="1371600"/>
            <a:ext cx="1371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u="sng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  <a:hlinkClick r:id="rId6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Design &amp;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u="sng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  <a:hlinkClick r:id="rId6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Logistics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7680960" y="21031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CDD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cards</a:t>
            </a:r>
            <a:endParaRPr lang="en-US" sz="1000" dirty="0"/>
          </a:p>
        </p:txBody>
      </p:sp>
      <p:sp>
        <p:nvSpPr>
          <p:cNvPr id="16" name="Shape 14">
            <a:hlinkClick r:id="rId7"/>
          </p:cNvPr>
          <p:cNvSpPr/>
          <p:nvPr/>
        </p:nvSpPr>
        <p:spPr>
          <a:xfrm>
            <a:off x="4572000" y="2834640"/>
            <a:ext cx="1371600" cy="1097280"/>
          </a:xfrm>
          <a:prstGeom prst="roundRect">
            <a:avLst>
              <a:gd name="adj" fmla="val 8333"/>
            </a:avLst>
          </a:prstGeom>
          <a:solidFill>
            <a:srgbClr val="243556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17" name="Text 15">
            <a:hlinkClick r:id="rId7"/>
          </p:cNvPr>
          <p:cNvSpPr/>
          <p:nvPr/>
        </p:nvSpPr>
        <p:spPr>
          <a:xfrm>
            <a:off x="4572000" y="3017520"/>
            <a:ext cx="1371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u="sng" dirty="0">
                <a:solidFill>
                  <a:srgbClr val="0A7E8C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7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Playbook</a:t>
            </a:r>
            <a:endParaRPr lang="en-US" sz="1200" dirty="0"/>
          </a:p>
        </p:txBody>
      </p:sp>
      <p:sp>
        <p:nvSpPr>
          <p:cNvPr id="18" name="Shape 16">
            <a:hlinkClick r:id="rId8"/>
          </p:cNvPr>
          <p:cNvSpPr/>
          <p:nvPr/>
        </p:nvSpPr>
        <p:spPr>
          <a:xfrm>
            <a:off x="6126480" y="2834640"/>
            <a:ext cx="1371600" cy="1097280"/>
          </a:xfrm>
          <a:prstGeom prst="roundRect">
            <a:avLst>
              <a:gd name="adj" fmla="val 8333"/>
            </a:avLst>
          </a:prstGeom>
          <a:solidFill>
            <a:srgbClr val="243556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19" name="Text 17">
            <a:hlinkClick r:id="rId8"/>
          </p:cNvPr>
          <p:cNvSpPr/>
          <p:nvPr/>
        </p:nvSpPr>
        <p:spPr>
          <a:xfrm>
            <a:off x="6126480" y="3017520"/>
            <a:ext cx="1371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u="sng" dirty="0">
                <a:solidFill>
                  <a:srgbClr val="0A7E8C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8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FAQ</a:t>
            </a:r>
            <a:endParaRPr lang="en-US" sz="1200" dirty="0"/>
          </a:p>
        </p:txBody>
      </p:sp>
      <p:sp>
        <p:nvSpPr>
          <p:cNvPr id="20" name="Shape 18">
            <a:hlinkClick r:id="rId9"/>
          </p:cNvPr>
          <p:cNvSpPr/>
          <p:nvPr/>
        </p:nvSpPr>
        <p:spPr>
          <a:xfrm>
            <a:off x="7680960" y="2834640"/>
            <a:ext cx="1371600" cy="1097280"/>
          </a:xfrm>
          <a:prstGeom prst="roundRect">
            <a:avLst>
              <a:gd name="adj" fmla="val 8333"/>
            </a:avLst>
          </a:prstGeom>
          <a:solidFill>
            <a:srgbClr val="243556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21" name="Text 19">
            <a:hlinkClick r:id="rId9"/>
          </p:cNvPr>
          <p:cNvSpPr/>
          <p:nvPr/>
        </p:nvSpPr>
        <p:spPr>
          <a:xfrm>
            <a:off x="7680960" y="3017520"/>
            <a:ext cx="1371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u="sng" dirty="0">
                <a:solidFill>
                  <a:srgbClr val="0A7E8C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9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Interactive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u="sng" dirty="0">
                <a:solidFill>
                  <a:srgbClr val="0A7E8C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9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Guide</a:t>
            </a:r>
            <a:endParaRPr lang="en-US" sz="1200" dirty="0"/>
          </a:p>
        </p:txBody>
      </p:sp>
      <p:sp>
        <p:nvSpPr>
          <p:cNvPr id="22" name="Shape 20">
            <a:hlinkClick r:id="rId10"/>
          </p:cNvPr>
          <p:cNvSpPr/>
          <p:nvPr/>
        </p:nvSpPr>
        <p:spPr>
          <a:xfrm>
            <a:off x="4572000" y="4069080"/>
            <a:ext cx="1371600" cy="640080"/>
          </a:xfrm>
          <a:prstGeom prst="roundRect">
            <a:avLst>
              <a:gd name="adj" fmla="val 14286"/>
            </a:avLst>
          </a:prstGeom>
          <a:solidFill>
            <a:srgbClr val="2D8659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23" name="Text 21">
            <a:hlinkClick r:id="rId10"/>
          </p:cNvPr>
          <p:cNvSpPr/>
          <p:nvPr/>
        </p:nvSpPr>
        <p:spPr>
          <a:xfrm>
            <a:off x="4572000" y="4069080"/>
            <a:ext cx="1371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u="sng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IOA Coach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u="sng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(Cogniti)</a:t>
            </a:r>
            <a:endParaRPr lang="en-US" sz="1000" dirty="0"/>
          </a:p>
        </p:txBody>
      </p:sp>
      <p:sp>
        <p:nvSpPr>
          <p:cNvPr id="24" name="Shape 22">
            <a:hlinkClick r:id="rId11"/>
          </p:cNvPr>
          <p:cNvSpPr/>
          <p:nvPr/>
        </p:nvSpPr>
        <p:spPr>
          <a:xfrm>
            <a:off x="6126480" y="4069080"/>
            <a:ext cx="1371600" cy="640080"/>
          </a:xfrm>
          <a:prstGeom prst="roundRect">
            <a:avLst>
              <a:gd name="adj" fmla="val 14286"/>
            </a:avLst>
          </a:prstGeom>
          <a:solidFill>
            <a:srgbClr val="2D8659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25" name="Text 23">
            <a:hlinkClick r:id="rId11"/>
          </p:cNvPr>
          <p:cNvSpPr/>
          <p:nvPr/>
        </p:nvSpPr>
        <p:spPr>
          <a:xfrm>
            <a:off x="6126480" y="4069080"/>
            <a:ext cx="1371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u="sng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1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IOA Guide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u="sng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1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(ChatGPT)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7E8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hlinkClick r:id="rId3" action="ppaction://hlinksldjump"/>
          </p:cNvPr>
          <p:cNvSpPr/>
          <p:nvPr/>
        </p:nvSpPr>
        <p:spPr>
          <a:xfrm>
            <a:off x="7863840" y="137160"/>
            <a:ext cx="502920" cy="347472"/>
          </a:xfrm>
          <a:prstGeom prst="roundRect">
            <a:avLst>
              <a:gd name="adj" fmla="val 15789"/>
            </a:avLst>
          </a:prstGeom>
          <a:solidFill>
            <a:srgbClr val="1A2744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3" name="Text 1">
            <a:hlinkClick r:id="rId3" action="ppaction://hlinksldjump"/>
          </p:cNvPr>
          <p:cNvSpPr/>
          <p:nvPr/>
        </p:nvSpPr>
        <p:spPr>
          <a:xfrm>
            <a:off x="7863840" y="137160"/>
            <a:ext cx="502920" cy="347472"/>
          </a:xfrm>
          <a:prstGeom prst="rect">
            <a:avLst/>
          </a:prstGeom>
          <a:noFill/>
          <a:ln/>
        </p:spPr>
        <p:txBody>
          <a:bodyPr wrap="square" lIns="0" tIns="0" rIns="0" bIns="38100" rtlCol="0" anchor="b"/>
          <a:lstStyle/>
          <a:p>
            <a:pPr marL="0" indent="0" algn="ctr">
              <a:buNone/>
            </a:pPr>
            <a:r>
              <a:rPr lang="en-US" sz="800" u="sng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3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index</a:t>
            </a:r>
            <a:endParaRPr lang="en-US" sz="800" dirty="0"/>
          </a:p>
        </p:txBody>
      </p:sp>
      <p:sp>
        <p:nvSpPr>
          <p:cNvPr id="4" name="Shape 2">
            <a:hlinkClick r:id="rId4" action="ppaction://hlinksldjump"/>
          </p:cNvPr>
          <p:cNvSpPr/>
          <p:nvPr/>
        </p:nvSpPr>
        <p:spPr>
          <a:xfrm>
            <a:off x="8458200" y="137160"/>
            <a:ext cx="502920" cy="347472"/>
          </a:xfrm>
          <a:prstGeom prst="roundRect">
            <a:avLst>
              <a:gd name="adj" fmla="val 15789"/>
            </a:avLst>
          </a:prstGeom>
          <a:solidFill>
            <a:srgbClr val="1A2744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5" name="Text 3">
            <a:hlinkClick r:id="rId4" action="ppaction://hlinksldjump"/>
          </p:cNvPr>
          <p:cNvSpPr/>
          <p:nvPr/>
        </p:nvSpPr>
        <p:spPr>
          <a:xfrm>
            <a:off x="8458200" y="137160"/>
            <a:ext cx="502920" cy="347472"/>
          </a:xfrm>
          <a:prstGeom prst="rect">
            <a:avLst/>
          </a:prstGeom>
          <a:noFill/>
          <a:ln/>
        </p:spPr>
        <p:txBody>
          <a:bodyPr wrap="square" lIns="0" tIns="0" rIns="0" bIns="38100" rtlCol="0" anchor="b"/>
          <a:lstStyle/>
          <a:p>
            <a:pPr marL="0" indent="0" algn="ctr">
              <a:buNone/>
            </a:pPr>
            <a:r>
              <a:rPr lang="en-US" sz="800" u="sng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4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home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0" y="594360"/>
            <a:ext cx="9144000" cy="36576"/>
          </a:xfrm>
          <a:prstGeom prst="rect">
            <a:avLst/>
          </a:prstGeom>
          <a:solidFill>
            <a:srgbClr val="075F6B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7" name="Text 5"/>
          <p:cNvSpPr/>
          <p:nvPr/>
        </p:nvSpPr>
        <p:spPr>
          <a:xfrm>
            <a:off x="457200" y="731520"/>
            <a:ext cx="3200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Student</a:t>
            </a:r>
            <a:endParaRPr lang="en-US" sz="2800" dirty="0"/>
          </a:p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Resources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457200" y="173736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D4EE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customisable templates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D4EE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CloudDeakin</a:t>
            </a:r>
            <a:endParaRPr lang="en-US" sz="1200" dirty="0"/>
          </a:p>
        </p:txBody>
      </p:sp>
      <p:sp>
        <p:nvSpPr>
          <p:cNvPr id="9" name="Shape 7">
            <a:hlinkClick r:id="rId5" action="ppaction://hlinksldjump"/>
          </p:cNvPr>
          <p:cNvSpPr/>
          <p:nvPr/>
        </p:nvSpPr>
        <p:spPr>
          <a:xfrm>
            <a:off x="3931920" y="777240"/>
            <a:ext cx="2468880" cy="438912"/>
          </a:xfrm>
          <a:prstGeom prst="roundRect">
            <a:avLst>
              <a:gd name="adj" fmla="val 16667"/>
            </a:avLst>
          </a:prstGeom>
          <a:solidFill>
            <a:srgbClr val="075F6B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10" name="Text 8">
            <a:hlinkClick r:id="rId5" action="ppaction://hlinksldjump"/>
          </p:cNvPr>
          <p:cNvSpPr/>
          <p:nvPr/>
        </p:nvSpPr>
        <p:spPr>
          <a:xfrm>
            <a:off x="4069080" y="777240"/>
            <a:ext cx="21945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u="sng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5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IOA Overview 1-pager  »</a:t>
            </a:r>
            <a:endParaRPr lang="en-US" sz="1100" dirty="0"/>
          </a:p>
        </p:txBody>
      </p:sp>
      <p:sp>
        <p:nvSpPr>
          <p:cNvPr id="11" name="Shape 9">
            <a:hlinkClick r:id="rId6" action="ppaction://hlinksldjump"/>
          </p:cNvPr>
          <p:cNvSpPr/>
          <p:nvPr/>
        </p:nvSpPr>
        <p:spPr>
          <a:xfrm>
            <a:off x="3931920" y="1325880"/>
            <a:ext cx="2468880" cy="438912"/>
          </a:xfrm>
          <a:prstGeom prst="roundRect">
            <a:avLst>
              <a:gd name="adj" fmla="val 16667"/>
            </a:avLst>
          </a:prstGeom>
          <a:solidFill>
            <a:srgbClr val="075F6B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12" name="Text 10">
            <a:hlinkClick r:id="rId6" action="ppaction://hlinksldjump"/>
          </p:cNvPr>
          <p:cNvSpPr/>
          <p:nvPr/>
        </p:nvSpPr>
        <p:spPr>
          <a:xfrm>
            <a:off x="4069080" y="1325880"/>
            <a:ext cx="21945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u="sng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6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Scenario Brief  »</a:t>
            </a:r>
            <a:endParaRPr lang="en-US" sz="1100" dirty="0"/>
          </a:p>
        </p:txBody>
      </p:sp>
      <p:sp>
        <p:nvSpPr>
          <p:cNvPr id="13" name="Shape 11">
            <a:hlinkClick r:id="rId7" action="ppaction://hlinksldjump"/>
          </p:cNvPr>
          <p:cNvSpPr/>
          <p:nvPr/>
        </p:nvSpPr>
        <p:spPr>
          <a:xfrm>
            <a:off x="3931920" y="1874520"/>
            <a:ext cx="2468880" cy="438912"/>
          </a:xfrm>
          <a:prstGeom prst="roundRect">
            <a:avLst>
              <a:gd name="adj" fmla="val 16667"/>
            </a:avLst>
          </a:prstGeom>
          <a:solidFill>
            <a:srgbClr val="075F6B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14" name="Text 12">
            <a:hlinkClick r:id="rId7" action="ppaction://hlinksldjump"/>
          </p:cNvPr>
          <p:cNvSpPr/>
          <p:nvPr/>
        </p:nvSpPr>
        <p:spPr>
          <a:xfrm>
            <a:off x="4069080" y="1874520"/>
            <a:ext cx="21945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u="sng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7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Assessment Rubric  »</a:t>
            </a:r>
            <a:endParaRPr lang="en-US" sz="1100" dirty="0"/>
          </a:p>
        </p:txBody>
      </p:sp>
      <p:sp>
        <p:nvSpPr>
          <p:cNvPr id="15" name="Shape 13">
            <a:hlinkClick r:id="rId8" action="ppaction://hlinksldjump"/>
          </p:cNvPr>
          <p:cNvSpPr/>
          <p:nvPr/>
        </p:nvSpPr>
        <p:spPr>
          <a:xfrm>
            <a:off x="3931920" y="2423160"/>
            <a:ext cx="2468880" cy="438912"/>
          </a:xfrm>
          <a:prstGeom prst="roundRect">
            <a:avLst>
              <a:gd name="adj" fmla="val 16667"/>
            </a:avLst>
          </a:prstGeom>
          <a:solidFill>
            <a:srgbClr val="075F6B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16" name="Text 14">
            <a:hlinkClick r:id="rId8" action="ppaction://hlinksldjump"/>
          </p:cNvPr>
          <p:cNvSpPr/>
          <p:nvPr/>
        </p:nvSpPr>
        <p:spPr>
          <a:xfrm>
            <a:off x="4069080" y="2423160"/>
            <a:ext cx="21945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u="sng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8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CloudDeakin Rubric  »</a:t>
            </a:r>
            <a:endParaRPr lang="en-US" sz="1100" dirty="0"/>
          </a:p>
        </p:txBody>
      </p:sp>
      <p:sp>
        <p:nvSpPr>
          <p:cNvPr id="17" name="Shape 15">
            <a:hlinkClick r:id="rId9" action="ppaction://hlinksldjump"/>
          </p:cNvPr>
          <p:cNvSpPr/>
          <p:nvPr/>
        </p:nvSpPr>
        <p:spPr>
          <a:xfrm>
            <a:off x="3931920" y="2971800"/>
            <a:ext cx="2468880" cy="438912"/>
          </a:xfrm>
          <a:prstGeom prst="roundRect">
            <a:avLst>
              <a:gd name="adj" fmla="val 16667"/>
            </a:avLst>
          </a:prstGeom>
          <a:solidFill>
            <a:srgbClr val="075F6B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18" name="Text 16">
            <a:hlinkClick r:id="rId9" action="ppaction://hlinksldjump"/>
          </p:cNvPr>
          <p:cNvSpPr/>
          <p:nvPr/>
        </p:nvSpPr>
        <p:spPr>
          <a:xfrm>
            <a:off x="4069080" y="2971800"/>
            <a:ext cx="21945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u="sng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9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What We're Listening For  »</a:t>
            </a:r>
            <a:endParaRPr lang="en-US" sz="1100" dirty="0"/>
          </a:p>
        </p:txBody>
      </p:sp>
      <p:sp>
        <p:nvSpPr>
          <p:cNvPr id="19" name="Shape 17">
            <a:hlinkClick r:id="rId10" action="ppaction://hlinksldjump"/>
          </p:cNvPr>
          <p:cNvSpPr/>
          <p:nvPr/>
        </p:nvSpPr>
        <p:spPr>
          <a:xfrm>
            <a:off x="3931920" y="3520440"/>
            <a:ext cx="2468880" cy="438912"/>
          </a:xfrm>
          <a:prstGeom prst="roundRect">
            <a:avLst>
              <a:gd name="adj" fmla="val 16667"/>
            </a:avLst>
          </a:prstGeom>
          <a:solidFill>
            <a:srgbClr val="075F6B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20" name="Text 18">
            <a:hlinkClick r:id="rId10" action="ppaction://hlinksldjump"/>
          </p:cNvPr>
          <p:cNvSpPr/>
          <p:nvPr/>
        </p:nvSpPr>
        <p:spPr>
          <a:xfrm>
            <a:off x="4069080" y="3520440"/>
            <a:ext cx="21945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u="sng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0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Challenge Prompts  »</a:t>
            </a:r>
            <a:endParaRPr lang="en-US" sz="1100" dirty="0"/>
          </a:p>
        </p:txBody>
      </p:sp>
      <p:sp>
        <p:nvSpPr>
          <p:cNvPr id="21" name="Shape 19">
            <a:hlinkClick r:id="rId11" action="ppaction://hlinksldjump"/>
          </p:cNvPr>
          <p:cNvSpPr/>
          <p:nvPr/>
        </p:nvSpPr>
        <p:spPr>
          <a:xfrm>
            <a:off x="3931920" y="4069080"/>
            <a:ext cx="2468880" cy="438912"/>
          </a:xfrm>
          <a:prstGeom prst="roundRect">
            <a:avLst>
              <a:gd name="adj" fmla="val 16667"/>
            </a:avLst>
          </a:prstGeom>
          <a:solidFill>
            <a:srgbClr val="075F6B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22" name="Text 20">
            <a:hlinkClick r:id="rId11" action="ppaction://hlinksldjump"/>
          </p:cNvPr>
          <p:cNvSpPr/>
          <p:nvPr/>
        </p:nvSpPr>
        <p:spPr>
          <a:xfrm>
            <a:off x="4069080" y="4069080"/>
            <a:ext cx="21945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u="sng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1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Practice Script &amp; Timing  »</a:t>
            </a:r>
            <a:endParaRPr lang="en-US" sz="1100" dirty="0"/>
          </a:p>
        </p:txBody>
      </p:sp>
      <p:sp>
        <p:nvSpPr>
          <p:cNvPr id="23" name="Shape 21">
            <a:hlinkClick r:id="rId12" action="ppaction://hlinksldjump"/>
          </p:cNvPr>
          <p:cNvSpPr/>
          <p:nvPr/>
        </p:nvSpPr>
        <p:spPr>
          <a:xfrm>
            <a:off x="6583680" y="777240"/>
            <a:ext cx="2468880" cy="438912"/>
          </a:xfrm>
          <a:prstGeom prst="roundRect">
            <a:avLst>
              <a:gd name="adj" fmla="val 16667"/>
            </a:avLst>
          </a:prstGeom>
          <a:solidFill>
            <a:srgbClr val="075F6B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24" name="Text 22">
            <a:hlinkClick r:id="rId12" action="ppaction://hlinksldjump"/>
          </p:cNvPr>
          <p:cNvSpPr/>
          <p:nvPr/>
        </p:nvSpPr>
        <p:spPr>
          <a:xfrm>
            <a:off x="6720840" y="777240"/>
            <a:ext cx="21945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u="sng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2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Academic Integrity  »</a:t>
            </a:r>
            <a:endParaRPr lang="en-US" sz="1100" dirty="0"/>
          </a:p>
        </p:txBody>
      </p:sp>
      <p:sp>
        <p:nvSpPr>
          <p:cNvPr id="25" name="Shape 23">
            <a:hlinkClick r:id="rId13" action="ppaction://hlinksldjump"/>
          </p:cNvPr>
          <p:cNvSpPr/>
          <p:nvPr/>
        </p:nvSpPr>
        <p:spPr>
          <a:xfrm>
            <a:off x="6583680" y="1325880"/>
            <a:ext cx="2468880" cy="438912"/>
          </a:xfrm>
          <a:prstGeom prst="roundRect">
            <a:avLst>
              <a:gd name="adj" fmla="val 16667"/>
            </a:avLst>
          </a:prstGeom>
          <a:solidFill>
            <a:srgbClr val="075F6B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26" name="Text 24">
            <a:hlinkClick r:id="rId13" action="ppaction://hlinksldjump"/>
          </p:cNvPr>
          <p:cNvSpPr/>
          <p:nvPr/>
        </p:nvSpPr>
        <p:spPr>
          <a:xfrm>
            <a:off x="6720840" y="1325880"/>
            <a:ext cx="21945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u="sng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3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Booking &amp; Logistics  »</a:t>
            </a:r>
            <a:endParaRPr lang="en-US" sz="1100" dirty="0"/>
          </a:p>
        </p:txBody>
      </p:sp>
      <p:sp>
        <p:nvSpPr>
          <p:cNvPr id="27" name="Shape 25">
            <a:hlinkClick r:id="rId14" action="ppaction://hlinksldjump"/>
          </p:cNvPr>
          <p:cNvSpPr/>
          <p:nvPr/>
        </p:nvSpPr>
        <p:spPr>
          <a:xfrm>
            <a:off x="6583680" y="1874520"/>
            <a:ext cx="2468880" cy="438912"/>
          </a:xfrm>
          <a:prstGeom prst="roundRect">
            <a:avLst>
              <a:gd name="adj" fmla="val 16667"/>
            </a:avLst>
          </a:prstGeom>
          <a:solidFill>
            <a:srgbClr val="075F6B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28" name="Text 26">
            <a:hlinkClick r:id="rId14" action="ppaction://hlinksldjump"/>
          </p:cNvPr>
          <p:cNvSpPr/>
          <p:nvPr/>
        </p:nvSpPr>
        <p:spPr>
          <a:xfrm>
            <a:off x="6720840" y="1874520"/>
            <a:ext cx="21945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u="sng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4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Tech Check (Online)  »</a:t>
            </a:r>
            <a:endParaRPr lang="en-US" sz="1100" dirty="0"/>
          </a:p>
        </p:txBody>
      </p:sp>
      <p:sp>
        <p:nvSpPr>
          <p:cNvPr id="29" name="Shape 27">
            <a:hlinkClick r:id="rId15" action="ppaction://hlinksldjump"/>
          </p:cNvPr>
          <p:cNvSpPr/>
          <p:nvPr/>
        </p:nvSpPr>
        <p:spPr>
          <a:xfrm>
            <a:off x="6583680" y="2423160"/>
            <a:ext cx="2468880" cy="438912"/>
          </a:xfrm>
          <a:prstGeom prst="roundRect">
            <a:avLst>
              <a:gd name="adj" fmla="val 16667"/>
            </a:avLst>
          </a:prstGeom>
          <a:solidFill>
            <a:srgbClr val="075F6B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30" name="Text 28">
            <a:hlinkClick r:id="rId15" action="ppaction://hlinksldjump"/>
          </p:cNvPr>
          <p:cNvSpPr/>
          <p:nvPr/>
        </p:nvSpPr>
        <p:spPr>
          <a:xfrm>
            <a:off x="6720840" y="2423160"/>
            <a:ext cx="21945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u="sng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5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Day-of Checklist  »</a:t>
            </a:r>
            <a:endParaRPr lang="en-US" sz="1100" dirty="0"/>
          </a:p>
        </p:txBody>
      </p:sp>
      <p:sp>
        <p:nvSpPr>
          <p:cNvPr id="31" name="Shape 29">
            <a:hlinkClick r:id="rId16" action="ppaction://hlinksldjump"/>
          </p:cNvPr>
          <p:cNvSpPr/>
          <p:nvPr/>
        </p:nvSpPr>
        <p:spPr>
          <a:xfrm>
            <a:off x="6583680" y="2971800"/>
            <a:ext cx="2468880" cy="438912"/>
          </a:xfrm>
          <a:prstGeom prst="roundRect">
            <a:avLst>
              <a:gd name="adj" fmla="val 16667"/>
            </a:avLst>
          </a:prstGeom>
          <a:solidFill>
            <a:srgbClr val="075F6B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32" name="Text 30">
            <a:hlinkClick r:id="rId16" action="ppaction://hlinksldjump"/>
          </p:cNvPr>
          <p:cNvSpPr/>
          <p:nvPr/>
        </p:nvSpPr>
        <p:spPr>
          <a:xfrm>
            <a:off x="6720840" y="2971800"/>
            <a:ext cx="21945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u="sng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6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After-IOA Debrief  »</a:t>
            </a:r>
            <a:endParaRPr lang="en-US" sz="1100" dirty="0"/>
          </a:p>
        </p:txBody>
      </p:sp>
      <p:sp>
        <p:nvSpPr>
          <p:cNvPr id="33" name="Shape 31">
            <a:hlinkClick r:id="rId17" action="ppaction://hlinksldjump"/>
          </p:cNvPr>
          <p:cNvSpPr/>
          <p:nvPr/>
        </p:nvSpPr>
        <p:spPr>
          <a:xfrm>
            <a:off x="6583680" y="3520440"/>
            <a:ext cx="2468880" cy="438912"/>
          </a:xfrm>
          <a:prstGeom prst="roundRect">
            <a:avLst>
              <a:gd name="adj" fmla="val 16667"/>
            </a:avLst>
          </a:prstGeom>
          <a:solidFill>
            <a:srgbClr val="075F6B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34" name="Text 32">
            <a:hlinkClick r:id="rId17" action="ppaction://hlinksldjump"/>
          </p:cNvPr>
          <p:cNvSpPr/>
          <p:nvPr/>
        </p:nvSpPr>
        <p:spPr>
          <a:xfrm>
            <a:off x="6720840" y="3520440"/>
            <a:ext cx="21945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u="sng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7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One-Page Notes Template  »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7B2D8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hlinkClick r:id="rId3" action="ppaction://hlinksldjump"/>
          </p:cNvPr>
          <p:cNvSpPr/>
          <p:nvPr/>
        </p:nvSpPr>
        <p:spPr>
          <a:xfrm>
            <a:off x="7863840" y="137160"/>
            <a:ext cx="502920" cy="347472"/>
          </a:xfrm>
          <a:prstGeom prst="roundRect">
            <a:avLst>
              <a:gd name="adj" fmla="val 15789"/>
            </a:avLst>
          </a:prstGeom>
          <a:solidFill>
            <a:srgbClr val="1A2744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3" name="Text 1">
            <a:hlinkClick r:id="rId3" action="ppaction://hlinksldjump"/>
          </p:cNvPr>
          <p:cNvSpPr/>
          <p:nvPr/>
        </p:nvSpPr>
        <p:spPr>
          <a:xfrm>
            <a:off x="7863840" y="137160"/>
            <a:ext cx="502920" cy="347472"/>
          </a:xfrm>
          <a:prstGeom prst="rect">
            <a:avLst/>
          </a:prstGeom>
          <a:noFill/>
          <a:ln/>
        </p:spPr>
        <p:txBody>
          <a:bodyPr wrap="square" lIns="0" tIns="0" rIns="0" bIns="38100" rtlCol="0" anchor="b"/>
          <a:lstStyle/>
          <a:p>
            <a:pPr marL="0" indent="0" algn="ctr">
              <a:buNone/>
            </a:pPr>
            <a:r>
              <a:rPr lang="en-US" sz="800" u="sng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3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index</a:t>
            </a:r>
            <a:endParaRPr lang="en-US" sz="800" dirty="0"/>
          </a:p>
        </p:txBody>
      </p:sp>
      <p:sp>
        <p:nvSpPr>
          <p:cNvPr id="4" name="Shape 2">
            <a:hlinkClick r:id="rId4" action="ppaction://hlinksldjump"/>
          </p:cNvPr>
          <p:cNvSpPr/>
          <p:nvPr/>
        </p:nvSpPr>
        <p:spPr>
          <a:xfrm>
            <a:off x="8458200" y="137160"/>
            <a:ext cx="502920" cy="347472"/>
          </a:xfrm>
          <a:prstGeom prst="roundRect">
            <a:avLst>
              <a:gd name="adj" fmla="val 15789"/>
            </a:avLst>
          </a:prstGeom>
          <a:solidFill>
            <a:srgbClr val="1A2744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5" name="Text 3">
            <a:hlinkClick r:id="rId4" action="ppaction://hlinksldjump"/>
          </p:cNvPr>
          <p:cNvSpPr/>
          <p:nvPr/>
        </p:nvSpPr>
        <p:spPr>
          <a:xfrm>
            <a:off x="8458200" y="137160"/>
            <a:ext cx="502920" cy="347472"/>
          </a:xfrm>
          <a:prstGeom prst="rect">
            <a:avLst/>
          </a:prstGeom>
          <a:noFill/>
          <a:ln/>
        </p:spPr>
        <p:txBody>
          <a:bodyPr wrap="square" lIns="0" tIns="0" rIns="0" bIns="38100" rtlCol="0" anchor="b"/>
          <a:lstStyle/>
          <a:p>
            <a:pPr marL="0" indent="0" algn="ctr">
              <a:buNone/>
            </a:pPr>
            <a:r>
              <a:rPr lang="en-US" sz="800" u="sng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4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home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0" y="594360"/>
            <a:ext cx="9144000" cy="36576"/>
          </a:xfrm>
          <a:prstGeom prst="rect">
            <a:avLst/>
          </a:prstGeom>
          <a:solidFill>
            <a:srgbClr val="5A1F68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7" name="Text 5"/>
          <p:cNvSpPr/>
          <p:nvPr/>
        </p:nvSpPr>
        <p:spPr>
          <a:xfrm>
            <a:off x="457200" y="731520"/>
            <a:ext cx="3200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Staff</a:t>
            </a:r>
            <a:endParaRPr lang="en-US" sz="2800" dirty="0"/>
          </a:p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Resources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457200" y="173736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FE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examples and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EFE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worked templates</a:t>
            </a:r>
            <a:endParaRPr lang="en-US" sz="1200" dirty="0"/>
          </a:p>
        </p:txBody>
      </p:sp>
      <p:sp>
        <p:nvSpPr>
          <p:cNvPr id="9" name="Shape 7">
            <a:hlinkClick r:id="rId5" action="ppaction://hlinksldjump"/>
          </p:cNvPr>
          <p:cNvSpPr/>
          <p:nvPr/>
        </p:nvSpPr>
        <p:spPr>
          <a:xfrm>
            <a:off x="3931920" y="777240"/>
            <a:ext cx="4846320" cy="438912"/>
          </a:xfrm>
          <a:prstGeom prst="roundRect">
            <a:avLst>
              <a:gd name="adj" fmla="val 16667"/>
            </a:avLst>
          </a:prstGeom>
          <a:solidFill>
            <a:srgbClr val="5A1F68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10" name="Text 8">
            <a:hlinkClick r:id="rId5" action="ppaction://hlinksldjump"/>
          </p:cNvPr>
          <p:cNvSpPr/>
          <p:nvPr/>
        </p:nvSpPr>
        <p:spPr>
          <a:xfrm>
            <a:off x="4069080" y="777240"/>
            <a:ext cx="4572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u="sng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5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Example IOA Design in Detail  »</a:t>
            </a:r>
            <a:endParaRPr lang="en-US" sz="1100" dirty="0"/>
          </a:p>
        </p:txBody>
      </p:sp>
      <p:sp>
        <p:nvSpPr>
          <p:cNvPr id="11" name="Shape 9">
            <a:hlinkClick r:id="rId6" action="ppaction://hlinksldjump"/>
          </p:cNvPr>
          <p:cNvSpPr/>
          <p:nvPr/>
        </p:nvSpPr>
        <p:spPr>
          <a:xfrm>
            <a:off x="3931920" y="1325880"/>
            <a:ext cx="4846320" cy="438912"/>
          </a:xfrm>
          <a:prstGeom prst="roundRect">
            <a:avLst>
              <a:gd name="adj" fmla="val 16667"/>
            </a:avLst>
          </a:prstGeom>
          <a:solidFill>
            <a:srgbClr val="5A1F68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12" name="Text 10">
            <a:hlinkClick r:id="rId6" action="ppaction://hlinksldjump"/>
          </p:cNvPr>
          <p:cNvSpPr/>
          <p:nvPr/>
        </p:nvSpPr>
        <p:spPr>
          <a:xfrm>
            <a:off x="4069080" y="1325880"/>
            <a:ext cx="4572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u="sng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6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Example Client Consultation Brief  »</a:t>
            </a:r>
            <a:endParaRPr lang="en-US" sz="1100" dirty="0"/>
          </a:p>
        </p:txBody>
      </p:sp>
      <p:sp>
        <p:nvSpPr>
          <p:cNvPr id="13" name="Shape 11">
            <a:hlinkClick r:id="rId7" action="ppaction://hlinksldjump"/>
          </p:cNvPr>
          <p:cNvSpPr/>
          <p:nvPr/>
        </p:nvSpPr>
        <p:spPr>
          <a:xfrm>
            <a:off x="3931920" y="1874520"/>
            <a:ext cx="4846320" cy="438912"/>
          </a:xfrm>
          <a:prstGeom prst="roundRect">
            <a:avLst>
              <a:gd name="adj" fmla="val 16667"/>
            </a:avLst>
          </a:prstGeom>
          <a:solidFill>
            <a:srgbClr val="5A1F68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14" name="Text 12">
            <a:hlinkClick r:id="rId7" action="ppaction://hlinksldjump"/>
          </p:cNvPr>
          <p:cNvSpPr/>
          <p:nvPr/>
        </p:nvSpPr>
        <p:spPr>
          <a:xfrm>
            <a:off x="4069080" y="1874520"/>
            <a:ext cx="4572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u="sng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7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IOA Design Guide (Comprehensive)  »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C97A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hlinkClick r:id="rId3" action="ppaction://hlinksldjump"/>
          </p:cNvPr>
          <p:cNvSpPr/>
          <p:nvPr/>
        </p:nvSpPr>
        <p:spPr>
          <a:xfrm>
            <a:off x="7863840" y="137160"/>
            <a:ext cx="502920" cy="347472"/>
          </a:xfrm>
          <a:prstGeom prst="roundRect">
            <a:avLst>
              <a:gd name="adj" fmla="val 15789"/>
            </a:avLst>
          </a:prstGeom>
          <a:solidFill>
            <a:srgbClr val="1A2744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3" name="Text 1">
            <a:hlinkClick r:id="rId3" action="ppaction://hlinksldjump"/>
          </p:cNvPr>
          <p:cNvSpPr/>
          <p:nvPr/>
        </p:nvSpPr>
        <p:spPr>
          <a:xfrm>
            <a:off x="7863840" y="137160"/>
            <a:ext cx="502920" cy="347472"/>
          </a:xfrm>
          <a:prstGeom prst="rect">
            <a:avLst/>
          </a:prstGeom>
          <a:noFill/>
          <a:ln/>
        </p:spPr>
        <p:txBody>
          <a:bodyPr wrap="square" lIns="0" tIns="0" rIns="0" bIns="38100" rtlCol="0" anchor="b"/>
          <a:lstStyle/>
          <a:p>
            <a:pPr marL="0" indent="0" algn="ctr">
              <a:buNone/>
            </a:pPr>
            <a:r>
              <a:rPr lang="en-US" sz="800" u="sng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3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index</a:t>
            </a:r>
            <a:endParaRPr lang="en-US" sz="800" dirty="0"/>
          </a:p>
        </p:txBody>
      </p:sp>
      <p:sp>
        <p:nvSpPr>
          <p:cNvPr id="4" name="Shape 2">
            <a:hlinkClick r:id="rId4" action="ppaction://hlinksldjump"/>
          </p:cNvPr>
          <p:cNvSpPr/>
          <p:nvPr/>
        </p:nvSpPr>
        <p:spPr>
          <a:xfrm>
            <a:off x="8458200" y="137160"/>
            <a:ext cx="502920" cy="347472"/>
          </a:xfrm>
          <a:prstGeom prst="roundRect">
            <a:avLst>
              <a:gd name="adj" fmla="val 15789"/>
            </a:avLst>
          </a:prstGeom>
          <a:solidFill>
            <a:srgbClr val="1A2744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5" name="Text 3">
            <a:hlinkClick r:id="rId4" action="ppaction://hlinksldjump"/>
          </p:cNvPr>
          <p:cNvSpPr/>
          <p:nvPr/>
        </p:nvSpPr>
        <p:spPr>
          <a:xfrm>
            <a:off x="8458200" y="137160"/>
            <a:ext cx="502920" cy="347472"/>
          </a:xfrm>
          <a:prstGeom prst="rect">
            <a:avLst/>
          </a:prstGeom>
          <a:noFill/>
          <a:ln/>
        </p:spPr>
        <p:txBody>
          <a:bodyPr wrap="square" lIns="0" tIns="0" rIns="0" bIns="38100" rtlCol="0" anchor="b"/>
          <a:lstStyle/>
          <a:p>
            <a:pPr marL="0" indent="0" algn="ctr">
              <a:buNone/>
            </a:pPr>
            <a:r>
              <a:rPr lang="en-US" sz="800" u="sng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4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home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0" y="594360"/>
            <a:ext cx="9144000" cy="36576"/>
          </a:xfrm>
          <a:prstGeom prst="rect">
            <a:avLst/>
          </a:prstGeom>
          <a:solidFill>
            <a:srgbClr val="9E5F10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7" name="Text 5"/>
          <p:cNvSpPr/>
          <p:nvPr/>
        </p:nvSpPr>
        <p:spPr>
          <a:xfrm>
            <a:off x="457200" y="731520"/>
            <a:ext cx="3200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Design &amp;</a:t>
            </a:r>
            <a:endParaRPr lang="en-US" sz="2800" dirty="0"/>
          </a:p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Logistics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457200" y="173736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EF3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Calculators, evidence,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FEF3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design frameworks</a:t>
            </a:r>
            <a:endParaRPr lang="en-US" sz="1200" dirty="0"/>
          </a:p>
        </p:txBody>
      </p:sp>
      <p:sp>
        <p:nvSpPr>
          <p:cNvPr id="9" name="Shape 7">
            <a:hlinkClick r:id="rId5" action="ppaction://hlinksldjump"/>
          </p:cNvPr>
          <p:cNvSpPr/>
          <p:nvPr/>
        </p:nvSpPr>
        <p:spPr>
          <a:xfrm>
            <a:off x="3931920" y="777240"/>
            <a:ext cx="4846320" cy="438912"/>
          </a:xfrm>
          <a:prstGeom prst="roundRect">
            <a:avLst>
              <a:gd name="adj" fmla="val 16667"/>
            </a:avLst>
          </a:prstGeom>
          <a:solidFill>
            <a:srgbClr val="9E5F10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10" name="Text 8">
            <a:hlinkClick r:id="rId5" action="ppaction://hlinksldjump"/>
          </p:cNvPr>
          <p:cNvSpPr/>
          <p:nvPr/>
        </p:nvSpPr>
        <p:spPr>
          <a:xfrm>
            <a:off x="4069080" y="777240"/>
            <a:ext cx="4572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u="sng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5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Logistics Calculator  »</a:t>
            </a:r>
            <a:endParaRPr lang="en-US" sz="1100" dirty="0"/>
          </a:p>
        </p:txBody>
      </p:sp>
      <p:sp>
        <p:nvSpPr>
          <p:cNvPr id="11" name="Shape 9">
            <a:hlinkClick r:id="rId6" action="ppaction://hlinksldjump"/>
          </p:cNvPr>
          <p:cNvSpPr/>
          <p:nvPr/>
        </p:nvSpPr>
        <p:spPr>
          <a:xfrm>
            <a:off x="3931920" y="1325880"/>
            <a:ext cx="4846320" cy="438912"/>
          </a:xfrm>
          <a:prstGeom prst="roundRect">
            <a:avLst>
              <a:gd name="adj" fmla="val 16667"/>
            </a:avLst>
          </a:prstGeom>
          <a:solidFill>
            <a:srgbClr val="9E5F10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12" name="Text 10">
            <a:hlinkClick r:id="rId6" action="ppaction://hlinksldjump"/>
          </p:cNvPr>
          <p:cNvSpPr/>
          <p:nvPr/>
        </p:nvSpPr>
        <p:spPr>
          <a:xfrm>
            <a:off x="4069080" y="1325880"/>
            <a:ext cx="4572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u="sng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6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Evidence Base  »</a:t>
            </a:r>
            <a:endParaRPr lang="en-US" sz="1100" dirty="0"/>
          </a:p>
        </p:txBody>
      </p:sp>
      <p:sp>
        <p:nvSpPr>
          <p:cNvPr id="13" name="Shape 11">
            <a:hlinkClick r:id="rId7" action="ppaction://hlinksldjump"/>
          </p:cNvPr>
          <p:cNvSpPr/>
          <p:nvPr/>
        </p:nvSpPr>
        <p:spPr>
          <a:xfrm>
            <a:off x="3931920" y="1874520"/>
            <a:ext cx="4846320" cy="438912"/>
          </a:xfrm>
          <a:prstGeom prst="roundRect">
            <a:avLst>
              <a:gd name="adj" fmla="val 16667"/>
            </a:avLst>
          </a:prstGeom>
          <a:solidFill>
            <a:srgbClr val="9E5F10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14" name="Text 12">
            <a:hlinkClick r:id="rId7" action="ppaction://hlinksldjump"/>
          </p:cNvPr>
          <p:cNvSpPr/>
          <p:nvPr/>
        </p:nvSpPr>
        <p:spPr>
          <a:xfrm>
            <a:off x="4069080" y="1874520"/>
            <a:ext cx="4572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u="sng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7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Rubric Design Framework  »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8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A27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IOA Overview 1-pager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0" y="594360"/>
            <a:ext cx="9144000" cy="36576"/>
          </a:xfrm>
          <a:prstGeom prst="rect">
            <a:avLst/>
          </a:prstGeom>
          <a:solidFill>
            <a:srgbClr val="0A7E8C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4" name="Shape 2">
            <a:hlinkClick r:id="rId3" action="ppaction://hlinksldjump"/>
          </p:cNvPr>
          <p:cNvSpPr/>
          <p:nvPr/>
        </p:nvSpPr>
        <p:spPr>
          <a:xfrm>
            <a:off x="7863840" y="137160"/>
            <a:ext cx="502920" cy="347472"/>
          </a:xfrm>
          <a:prstGeom prst="roundRect">
            <a:avLst>
              <a:gd name="adj" fmla="val 15789"/>
            </a:avLst>
          </a:prstGeom>
          <a:solidFill>
            <a:srgbClr val="1A2744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5" name="Text 3">
            <a:hlinkClick r:id="rId3" action="ppaction://hlinksldjump"/>
          </p:cNvPr>
          <p:cNvSpPr/>
          <p:nvPr/>
        </p:nvSpPr>
        <p:spPr>
          <a:xfrm>
            <a:off x="7863840" y="137160"/>
            <a:ext cx="502920" cy="347472"/>
          </a:xfrm>
          <a:prstGeom prst="rect">
            <a:avLst/>
          </a:prstGeom>
          <a:noFill/>
          <a:ln/>
        </p:spPr>
        <p:txBody>
          <a:bodyPr wrap="square" lIns="0" tIns="0" rIns="0" bIns="38100" rtlCol="0" anchor="b"/>
          <a:lstStyle/>
          <a:p>
            <a:pPr marL="0" indent="0" algn="ctr">
              <a:buNone/>
            </a:pPr>
            <a:r>
              <a:rPr lang="en-US" sz="800" u="sng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3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index</a:t>
            </a:r>
            <a:endParaRPr lang="en-US" sz="800" dirty="0"/>
          </a:p>
        </p:txBody>
      </p:sp>
      <p:sp>
        <p:nvSpPr>
          <p:cNvPr id="6" name="Shape 4">
            <a:hlinkClick r:id="rId4" action="ppaction://hlinksldjump"/>
          </p:cNvPr>
          <p:cNvSpPr/>
          <p:nvPr/>
        </p:nvSpPr>
        <p:spPr>
          <a:xfrm>
            <a:off x="8458200" y="137160"/>
            <a:ext cx="502920" cy="347472"/>
          </a:xfrm>
          <a:prstGeom prst="roundRect">
            <a:avLst>
              <a:gd name="adj" fmla="val 15789"/>
            </a:avLst>
          </a:prstGeom>
          <a:solidFill>
            <a:srgbClr val="1A2744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7" name="Text 5">
            <a:hlinkClick r:id="rId4" action="ppaction://hlinksldjump"/>
          </p:cNvPr>
          <p:cNvSpPr/>
          <p:nvPr/>
        </p:nvSpPr>
        <p:spPr>
          <a:xfrm>
            <a:off x="8458200" y="137160"/>
            <a:ext cx="502920" cy="347472"/>
          </a:xfrm>
          <a:prstGeom prst="rect">
            <a:avLst/>
          </a:prstGeom>
          <a:noFill/>
          <a:ln/>
        </p:spPr>
        <p:txBody>
          <a:bodyPr wrap="square" lIns="0" tIns="0" rIns="0" bIns="38100" rtlCol="0" anchor="b"/>
          <a:lstStyle/>
          <a:p>
            <a:pPr marL="0" indent="0" algn="ctr">
              <a:buNone/>
            </a:pPr>
            <a:r>
              <a:rPr lang="en-US" sz="800" u="sng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4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home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457200" y="749808"/>
            <a:ext cx="1463040" cy="256032"/>
          </a:xfrm>
          <a:prstGeom prst="roundRect">
            <a:avLst>
              <a:gd name="adj" fmla="val 21429"/>
            </a:avLst>
          </a:prstGeom>
          <a:solidFill>
            <a:srgbClr val="0A7E8C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9" name="Text 7"/>
          <p:cNvSpPr/>
          <p:nvPr/>
        </p:nvSpPr>
        <p:spPr>
          <a:xfrm>
            <a:off x="457200" y="749808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457200" y="1143000"/>
            <a:ext cx="5029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concise one-page introduction to IOAs for students. Explains what an IOA is (and isn't), how it differs from a presentation or traditional exam, and what to expect.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1783080"/>
            <a:ext cx="5029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Purpose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57200" y="2011680"/>
            <a:ext cx="5029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Reduces student anxiety by demystifying the format early. Sets expectations so students understand this is a professional conversation, not a memory test.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57200" y="2834640"/>
            <a:ext cx="5029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Includes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57200" y="3090672"/>
            <a:ext cx="5029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What is an IOA? (definition + professional context)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57200" y="3310128"/>
            <a:ext cx="5029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What IOAs are vs what they are not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57200" y="3529584"/>
            <a:ext cx="5029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How to prepare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57200" y="3749040"/>
            <a:ext cx="5029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What happens on the day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57200" y="3968496"/>
            <a:ext cx="5029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FAQ section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5852160" y="1143000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Suggested timing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5852160" y="1362456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1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852160" y="1691640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Audience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5852160" y="1911096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Students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5852160" y="2240280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to use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5852160" y="2459736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CloudDeakin content page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5852160" y="3291840"/>
            <a:ext cx="2011680" cy="329184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9050">
            <a:solidFill>
              <a:srgbClr val="D94F4F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26" name="Text 24"/>
          <p:cNvSpPr/>
          <p:nvPr/>
        </p:nvSpPr>
        <p:spPr>
          <a:xfrm>
            <a:off x="5852160" y="3291840"/>
            <a:ext cx="2011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D94F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■  Essential</a:t>
            </a:r>
            <a:endParaRPr lang="en-US" sz="1200" dirty="0"/>
          </a:p>
        </p:txBody>
      </p:sp>
      <p:sp>
        <p:nvSpPr>
          <p:cNvPr id="27" name="Shape 25">
            <a:hlinkClick r:id="rId5"/>
          </p:cNvPr>
          <p:cNvSpPr/>
          <p:nvPr/>
        </p:nvSpPr>
        <p:spPr>
          <a:xfrm>
            <a:off x="457200" y="4297680"/>
            <a:ext cx="8229600" cy="502920"/>
          </a:xfrm>
          <a:prstGeom prst="roundRect">
            <a:avLst>
              <a:gd name="adj" fmla="val 14545"/>
            </a:avLst>
          </a:prstGeom>
          <a:solidFill>
            <a:srgbClr val="FFFFFF"/>
          </a:solidFill>
          <a:ln w="19050">
            <a:solidFill>
              <a:srgbClr val="0A7E8C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28" name="Text 26">
            <a:hlinkClick r:id="rId5"/>
          </p:cNvPr>
          <p:cNvSpPr/>
          <p:nvPr/>
        </p:nvSpPr>
        <p:spPr>
          <a:xfrm>
            <a:off x="640080" y="4297680"/>
            <a:ext cx="6400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u="sng" dirty="0">
                <a:solidFill>
                  <a:srgbClr val="0A7E8C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Download: IOA Overview 1-pager (.docx)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7132320" y="4297680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(click to open)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AF8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A27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Scenario Brief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0" y="594360"/>
            <a:ext cx="9144000" cy="36576"/>
          </a:xfrm>
          <a:prstGeom prst="rect">
            <a:avLst/>
          </a:prstGeom>
          <a:solidFill>
            <a:srgbClr val="0A7E8C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4" name="Shape 2">
            <a:hlinkClick r:id="rId3" action="ppaction://hlinksldjump"/>
          </p:cNvPr>
          <p:cNvSpPr/>
          <p:nvPr/>
        </p:nvSpPr>
        <p:spPr>
          <a:xfrm>
            <a:off x="7863840" y="137160"/>
            <a:ext cx="502920" cy="347472"/>
          </a:xfrm>
          <a:prstGeom prst="roundRect">
            <a:avLst>
              <a:gd name="adj" fmla="val 15789"/>
            </a:avLst>
          </a:prstGeom>
          <a:solidFill>
            <a:srgbClr val="1A2744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5" name="Text 3">
            <a:hlinkClick r:id="rId3" action="ppaction://hlinksldjump"/>
          </p:cNvPr>
          <p:cNvSpPr/>
          <p:nvPr/>
        </p:nvSpPr>
        <p:spPr>
          <a:xfrm>
            <a:off x="7863840" y="137160"/>
            <a:ext cx="502920" cy="347472"/>
          </a:xfrm>
          <a:prstGeom prst="rect">
            <a:avLst/>
          </a:prstGeom>
          <a:noFill/>
          <a:ln/>
        </p:spPr>
        <p:txBody>
          <a:bodyPr wrap="square" lIns="0" tIns="0" rIns="0" bIns="38100" rtlCol="0" anchor="b"/>
          <a:lstStyle/>
          <a:p>
            <a:pPr marL="0" indent="0" algn="ctr">
              <a:buNone/>
            </a:pPr>
            <a:r>
              <a:rPr lang="en-US" sz="800" u="sng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3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index</a:t>
            </a:r>
            <a:endParaRPr lang="en-US" sz="800" dirty="0"/>
          </a:p>
        </p:txBody>
      </p:sp>
      <p:sp>
        <p:nvSpPr>
          <p:cNvPr id="6" name="Shape 4">
            <a:hlinkClick r:id="rId4" action="ppaction://hlinksldjump"/>
          </p:cNvPr>
          <p:cNvSpPr/>
          <p:nvPr/>
        </p:nvSpPr>
        <p:spPr>
          <a:xfrm>
            <a:off x="8458200" y="137160"/>
            <a:ext cx="502920" cy="347472"/>
          </a:xfrm>
          <a:prstGeom prst="roundRect">
            <a:avLst>
              <a:gd name="adj" fmla="val 15789"/>
            </a:avLst>
          </a:prstGeom>
          <a:solidFill>
            <a:srgbClr val="1A2744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7" name="Text 5">
            <a:hlinkClick r:id="rId4" action="ppaction://hlinksldjump"/>
          </p:cNvPr>
          <p:cNvSpPr/>
          <p:nvPr/>
        </p:nvSpPr>
        <p:spPr>
          <a:xfrm>
            <a:off x="8458200" y="137160"/>
            <a:ext cx="502920" cy="347472"/>
          </a:xfrm>
          <a:prstGeom prst="rect">
            <a:avLst/>
          </a:prstGeom>
          <a:noFill/>
          <a:ln/>
        </p:spPr>
        <p:txBody>
          <a:bodyPr wrap="square" lIns="0" tIns="0" rIns="0" bIns="38100" rtlCol="0" anchor="b"/>
          <a:lstStyle/>
          <a:p>
            <a:pPr marL="0" indent="0" algn="ctr">
              <a:buNone/>
            </a:pPr>
            <a:r>
              <a:rPr lang="en-US" sz="800" u="sng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4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home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457200" y="749808"/>
            <a:ext cx="1463040" cy="256032"/>
          </a:xfrm>
          <a:prstGeom prst="roundRect">
            <a:avLst>
              <a:gd name="adj" fmla="val 21429"/>
            </a:avLst>
          </a:prstGeom>
          <a:solidFill>
            <a:srgbClr val="0A7E8C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9" name="Text 7"/>
          <p:cNvSpPr/>
          <p:nvPr/>
        </p:nvSpPr>
        <p:spPr>
          <a:xfrm>
            <a:off x="457200" y="749808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457200" y="1143000"/>
            <a:ext cx="5029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professional scenario students will respond to in their IOA. Includes context, roles, constraints, and supporting information.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1783080"/>
            <a:ext cx="5029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Purpose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57200" y="2011680"/>
            <a:ext cx="5029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Gives students the authentic professional context they need to prepare. Scenario disclosure timing (48hrs to full trimester) affects preparation and anxiety levels.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57200" y="2834640"/>
            <a:ext cx="5029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Includes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57200" y="3090672"/>
            <a:ext cx="5029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Client/stakeholder background and context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57200" y="3310128"/>
            <a:ext cx="5029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Student's professional role in the scenario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57200" y="3529584"/>
            <a:ext cx="5029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Key documents or data (if applicable)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57200" y="3749040"/>
            <a:ext cx="5029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Constraints and tensions to navigate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57200" y="3968496"/>
            <a:ext cx="5029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What the student needs to be prepared to discuss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5852160" y="1143000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Suggested timing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5852160" y="1362456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1 or 48hrs before IOA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852160" y="1691640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Audience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5852160" y="1911096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Students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5852160" y="2240280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to use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5852160" y="2459736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CloudDeakin assessment page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5852160" y="3291840"/>
            <a:ext cx="2011680" cy="329184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9050">
            <a:solidFill>
              <a:srgbClr val="D94F4F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26" name="Text 24"/>
          <p:cNvSpPr/>
          <p:nvPr/>
        </p:nvSpPr>
        <p:spPr>
          <a:xfrm>
            <a:off x="5852160" y="3291840"/>
            <a:ext cx="2011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D94F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■  Essential</a:t>
            </a:r>
            <a:endParaRPr lang="en-US" sz="1200" dirty="0"/>
          </a:p>
        </p:txBody>
      </p:sp>
      <p:sp>
        <p:nvSpPr>
          <p:cNvPr id="27" name="Shape 25">
            <a:hlinkClick r:id="rId5"/>
          </p:cNvPr>
          <p:cNvSpPr/>
          <p:nvPr/>
        </p:nvSpPr>
        <p:spPr>
          <a:xfrm>
            <a:off x="457200" y="4297680"/>
            <a:ext cx="8229600" cy="502920"/>
          </a:xfrm>
          <a:prstGeom prst="roundRect">
            <a:avLst>
              <a:gd name="adj" fmla="val 14545"/>
            </a:avLst>
          </a:prstGeom>
          <a:solidFill>
            <a:srgbClr val="FFFFFF"/>
          </a:solidFill>
          <a:ln w="19050">
            <a:solidFill>
              <a:srgbClr val="0A7E8C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28" name="Text 26">
            <a:hlinkClick r:id="rId5"/>
          </p:cNvPr>
          <p:cNvSpPr/>
          <p:nvPr/>
        </p:nvSpPr>
        <p:spPr>
          <a:xfrm>
            <a:off x="640080" y="4297680"/>
            <a:ext cx="6400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u="sng" dirty="0">
                <a:solidFill>
                  <a:srgbClr val="0A7E8C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Download: Example Scenario Brief (.docx)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7132320" y="4297680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(click to open)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AF8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A27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Assessment Rubric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0" y="594360"/>
            <a:ext cx="9144000" cy="36576"/>
          </a:xfrm>
          <a:prstGeom prst="rect">
            <a:avLst/>
          </a:prstGeom>
          <a:solidFill>
            <a:srgbClr val="0A7E8C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4" name="Shape 2">
            <a:hlinkClick r:id="rId3" action="ppaction://hlinksldjump"/>
          </p:cNvPr>
          <p:cNvSpPr/>
          <p:nvPr/>
        </p:nvSpPr>
        <p:spPr>
          <a:xfrm>
            <a:off x="7863840" y="137160"/>
            <a:ext cx="502920" cy="347472"/>
          </a:xfrm>
          <a:prstGeom prst="roundRect">
            <a:avLst>
              <a:gd name="adj" fmla="val 15789"/>
            </a:avLst>
          </a:prstGeom>
          <a:solidFill>
            <a:srgbClr val="1A2744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5" name="Text 3">
            <a:hlinkClick r:id="rId3" action="ppaction://hlinksldjump"/>
          </p:cNvPr>
          <p:cNvSpPr/>
          <p:nvPr/>
        </p:nvSpPr>
        <p:spPr>
          <a:xfrm>
            <a:off x="7863840" y="137160"/>
            <a:ext cx="502920" cy="347472"/>
          </a:xfrm>
          <a:prstGeom prst="rect">
            <a:avLst/>
          </a:prstGeom>
          <a:noFill/>
          <a:ln/>
        </p:spPr>
        <p:txBody>
          <a:bodyPr wrap="square" lIns="0" tIns="0" rIns="0" bIns="38100" rtlCol="0" anchor="b"/>
          <a:lstStyle/>
          <a:p>
            <a:pPr marL="0" indent="0" algn="ctr">
              <a:buNone/>
            </a:pPr>
            <a:r>
              <a:rPr lang="en-US" sz="800" u="sng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3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index</a:t>
            </a:r>
            <a:endParaRPr lang="en-US" sz="800" dirty="0"/>
          </a:p>
        </p:txBody>
      </p:sp>
      <p:sp>
        <p:nvSpPr>
          <p:cNvPr id="6" name="Shape 4">
            <a:hlinkClick r:id="rId4" action="ppaction://hlinksldjump"/>
          </p:cNvPr>
          <p:cNvSpPr/>
          <p:nvPr/>
        </p:nvSpPr>
        <p:spPr>
          <a:xfrm>
            <a:off x="8458200" y="137160"/>
            <a:ext cx="502920" cy="347472"/>
          </a:xfrm>
          <a:prstGeom prst="roundRect">
            <a:avLst>
              <a:gd name="adj" fmla="val 15789"/>
            </a:avLst>
          </a:prstGeom>
          <a:solidFill>
            <a:srgbClr val="1A2744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7" name="Text 5">
            <a:hlinkClick r:id="rId4" action="ppaction://hlinksldjump"/>
          </p:cNvPr>
          <p:cNvSpPr/>
          <p:nvPr/>
        </p:nvSpPr>
        <p:spPr>
          <a:xfrm>
            <a:off x="8458200" y="137160"/>
            <a:ext cx="502920" cy="347472"/>
          </a:xfrm>
          <a:prstGeom prst="rect">
            <a:avLst/>
          </a:prstGeom>
          <a:noFill/>
          <a:ln/>
        </p:spPr>
        <p:txBody>
          <a:bodyPr wrap="square" lIns="0" tIns="0" rIns="0" bIns="38100" rtlCol="0" anchor="b"/>
          <a:lstStyle/>
          <a:p>
            <a:pPr marL="0" indent="0" algn="ctr">
              <a:buNone/>
            </a:pPr>
            <a:r>
              <a:rPr lang="en-US" sz="800" u="sng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4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home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457200" y="749808"/>
            <a:ext cx="1463040" cy="256032"/>
          </a:xfrm>
          <a:prstGeom prst="roundRect">
            <a:avLst>
              <a:gd name="adj" fmla="val 21429"/>
            </a:avLst>
          </a:prstGeom>
          <a:solidFill>
            <a:srgbClr val="0A7E8C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9" name="Text 7"/>
          <p:cNvSpPr/>
          <p:nvPr/>
        </p:nvSpPr>
        <p:spPr>
          <a:xfrm>
            <a:off x="457200" y="749808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457200" y="1143000"/>
            <a:ext cx="5029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marking rubric with criteria and performance descriptors (HD to Fail). Designed around the principle: assess THINKING, not SPEAKING.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1783080"/>
            <a:ext cx="5029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Purpose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57200" y="2011680"/>
            <a:ext cx="5029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Transparency. Students need to know exactly what they'll be assessed on. Also used by assessors for consistent marking.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57200" y="2834640"/>
            <a:ext cx="5029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Includes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57200" y="3090672"/>
            <a:ext cx="5029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3-4 criteria (content accuracy, reasoning, application, adaptability)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57200" y="3310128"/>
            <a:ext cx="5029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Performance descriptors for each grade level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57200" y="3529584"/>
            <a:ext cx="5029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Weighting per criterion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57200" y="3749040"/>
            <a:ext cx="5029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Linked to specific ULOs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5852160" y="1143000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Suggested timing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5852160" y="1362456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1 (or 3 weeks before IOA)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5852160" y="1691640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Audience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5852160" y="1911096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Students + Staff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5852160" y="2240280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to use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5852160" y="2459736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CloudDeakin + Gradebook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5852160" y="3291840"/>
            <a:ext cx="2011680" cy="329184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9050">
            <a:solidFill>
              <a:srgbClr val="D94F4F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25" name="Text 23"/>
          <p:cNvSpPr/>
          <p:nvPr/>
        </p:nvSpPr>
        <p:spPr>
          <a:xfrm>
            <a:off x="5852160" y="3291840"/>
            <a:ext cx="2011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D94F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■  Essential</a:t>
            </a:r>
            <a:endParaRPr lang="en-US" sz="1200" dirty="0"/>
          </a:p>
        </p:txBody>
      </p:sp>
      <p:sp>
        <p:nvSpPr>
          <p:cNvPr id="26" name="Shape 24">
            <a:hlinkClick r:id="rId5"/>
          </p:cNvPr>
          <p:cNvSpPr/>
          <p:nvPr/>
        </p:nvSpPr>
        <p:spPr>
          <a:xfrm>
            <a:off x="457200" y="4297680"/>
            <a:ext cx="8229600" cy="502920"/>
          </a:xfrm>
          <a:prstGeom prst="roundRect">
            <a:avLst>
              <a:gd name="adj" fmla="val 14545"/>
            </a:avLst>
          </a:prstGeom>
          <a:solidFill>
            <a:srgbClr val="FFFFFF"/>
          </a:solidFill>
          <a:ln w="19050">
            <a:solidFill>
              <a:srgbClr val="0A7E8C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27" name="Text 25">
            <a:hlinkClick r:id="rId5"/>
          </p:cNvPr>
          <p:cNvSpPr/>
          <p:nvPr/>
        </p:nvSpPr>
        <p:spPr>
          <a:xfrm>
            <a:off x="640080" y="4297680"/>
            <a:ext cx="6400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u="sng" dirty="0">
                <a:solidFill>
                  <a:srgbClr val="0A7E8C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Download: Example Rubric (.docx)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7132320" y="4297680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(click to open)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AF8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A27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CloudDeakin Rubric Format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0" y="594360"/>
            <a:ext cx="9144000" cy="36576"/>
          </a:xfrm>
          <a:prstGeom prst="rect">
            <a:avLst/>
          </a:prstGeom>
          <a:solidFill>
            <a:srgbClr val="0A7E8C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4" name="Shape 2">
            <a:hlinkClick r:id="rId3" action="ppaction://hlinksldjump"/>
          </p:cNvPr>
          <p:cNvSpPr/>
          <p:nvPr/>
        </p:nvSpPr>
        <p:spPr>
          <a:xfrm>
            <a:off x="7863840" y="137160"/>
            <a:ext cx="502920" cy="347472"/>
          </a:xfrm>
          <a:prstGeom prst="roundRect">
            <a:avLst>
              <a:gd name="adj" fmla="val 15789"/>
            </a:avLst>
          </a:prstGeom>
          <a:solidFill>
            <a:srgbClr val="1A2744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5" name="Text 3">
            <a:hlinkClick r:id="rId3" action="ppaction://hlinksldjump"/>
          </p:cNvPr>
          <p:cNvSpPr/>
          <p:nvPr/>
        </p:nvSpPr>
        <p:spPr>
          <a:xfrm>
            <a:off x="7863840" y="137160"/>
            <a:ext cx="502920" cy="347472"/>
          </a:xfrm>
          <a:prstGeom prst="rect">
            <a:avLst/>
          </a:prstGeom>
          <a:noFill/>
          <a:ln/>
        </p:spPr>
        <p:txBody>
          <a:bodyPr wrap="square" lIns="0" tIns="0" rIns="0" bIns="38100" rtlCol="0" anchor="b"/>
          <a:lstStyle/>
          <a:p>
            <a:pPr marL="0" indent="0" algn="ctr">
              <a:buNone/>
            </a:pPr>
            <a:r>
              <a:rPr lang="en-US" sz="800" u="sng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3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index</a:t>
            </a:r>
            <a:endParaRPr lang="en-US" sz="800" dirty="0"/>
          </a:p>
        </p:txBody>
      </p:sp>
      <p:sp>
        <p:nvSpPr>
          <p:cNvPr id="6" name="Shape 4">
            <a:hlinkClick r:id="rId4" action="ppaction://hlinksldjump"/>
          </p:cNvPr>
          <p:cNvSpPr/>
          <p:nvPr/>
        </p:nvSpPr>
        <p:spPr>
          <a:xfrm>
            <a:off x="8458200" y="137160"/>
            <a:ext cx="502920" cy="347472"/>
          </a:xfrm>
          <a:prstGeom prst="roundRect">
            <a:avLst>
              <a:gd name="adj" fmla="val 15789"/>
            </a:avLst>
          </a:prstGeom>
          <a:solidFill>
            <a:srgbClr val="1A2744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7" name="Text 5">
            <a:hlinkClick r:id="rId4" action="ppaction://hlinksldjump"/>
          </p:cNvPr>
          <p:cNvSpPr/>
          <p:nvPr/>
        </p:nvSpPr>
        <p:spPr>
          <a:xfrm>
            <a:off x="8458200" y="137160"/>
            <a:ext cx="502920" cy="347472"/>
          </a:xfrm>
          <a:prstGeom prst="rect">
            <a:avLst/>
          </a:prstGeom>
          <a:noFill/>
          <a:ln/>
        </p:spPr>
        <p:txBody>
          <a:bodyPr wrap="square" lIns="0" tIns="0" rIns="0" bIns="38100" rtlCol="0" anchor="b"/>
          <a:lstStyle/>
          <a:p>
            <a:pPr marL="0" indent="0" algn="ctr">
              <a:buNone/>
            </a:pPr>
            <a:r>
              <a:rPr lang="en-US" sz="800" u="sng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4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home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457200" y="749808"/>
            <a:ext cx="1463040" cy="256032"/>
          </a:xfrm>
          <a:prstGeom prst="roundRect">
            <a:avLst>
              <a:gd name="adj" fmla="val 21429"/>
            </a:avLst>
          </a:prstGeom>
          <a:solidFill>
            <a:srgbClr val="0A7E8C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9" name="Text 7"/>
          <p:cNvSpPr/>
          <p:nvPr/>
        </p:nvSpPr>
        <p:spPr>
          <a:xfrm>
            <a:off x="457200" y="749808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457200" y="1143000"/>
            <a:ext cx="5029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rubric criteria formatted for direct import into CloudDeakin's gradebook rubric tool. Saves setup time.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1783080"/>
            <a:ext cx="5029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Purpose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57200" y="2011680"/>
            <a:ext cx="5029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Allows assessors to mark directly in the gradebook during or immediately after the IOA. Eliminates double-handling of marks.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57200" y="2834640"/>
            <a:ext cx="5029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Includes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57200" y="3090672"/>
            <a:ext cx="5029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Criteria formatted for CloudDeakin rubric tool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57200" y="3310128"/>
            <a:ext cx="5029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Performance levels matching gradebook scale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57200" y="3529584"/>
            <a:ext cx="5029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Point allocations aligned to unit weighting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852160" y="1143000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Suggested timing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5852160" y="1362456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up before IOA window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5852160" y="1691640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Audience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5852160" y="1911096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Staff (for gradebook setup)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852160" y="2240280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to use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5852160" y="2459736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CloudDeakin Gradebook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5852160" y="3291840"/>
            <a:ext cx="2011680" cy="329184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9050">
            <a:solidFill>
              <a:srgbClr val="C97A1E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24" name="Text 22"/>
          <p:cNvSpPr/>
          <p:nvPr/>
        </p:nvSpPr>
        <p:spPr>
          <a:xfrm>
            <a:off x="5852160" y="3291840"/>
            <a:ext cx="2011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C97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▲  Recommended</a:t>
            </a:r>
            <a:endParaRPr lang="en-US" sz="1200" dirty="0"/>
          </a:p>
        </p:txBody>
      </p:sp>
      <p:sp>
        <p:nvSpPr>
          <p:cNvPr id="25" name="Shape 23">
            <a:hlinkClick r:id="rId5"/>
          </p:cNvPr>
          <p:cNvSpPr/>
          <p:nvPr/>
        </p:nvSpPr>
        <p:spPr>
          <a:xfrm>
            <a:off x="457200" y="4297680"/>
            <a:ext cx="8229600" cy="502920"/>
          </a:xfrm>
          <a:prstGeom prst="roundRect">
            <a:avLst>
              <a:gd name="adj" fmla="val 14545"/>
            </a:avLst>
          </a:prstGeom>
          <a:solidFill>
            <a:srgbClr val="FFFFFF"/>
          </a:solidFill>
          <a:ln w="19050">
            <a:solidFill>
              <a:srgbClr val="0A7E8C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26" name="Text 24">
            <a:hlinkClick r:id="rId5"/>
          </p:cNvPr>
          <p:cNvSpPr/>
          <p:nvPr/>
        </p:nvSpPr>
        <p:spPr>
          <a:xfrm>
            <a:off x="640080" y="4297680"/>
            <a:ext cx="6400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u="sng" dirty="0">
                <a:solidFill>
                  <a:srgbClr val="0A7E8C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Download: CloudDeakin Rubric Format (.docx)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7132320" y="4297680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(click to open)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AF8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A27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"What We're Listening For"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0" y="594360"/>
            <a:ext cx="9144000" cy="36576"/>
          </a:xfrm>
          <a:prstGeom prst="rect">
            <a:avLst/>
          </a:prstGeom>
          <a:solidFill>
            <a:srgbClr val="0A7E8C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4" name="Shape 2">
            <a:hlinkClick r:id="rId3" action="ppaction://hlinksldjump"/>
          </p:cNvPr>
          <p:cNvSpPr/>
          <p:nvPr/>
        </p:nvSpPr>
        <p:spPr>
          <a:xfrm>
            <a:off x="7863840" y="137160"/>
            <a:ext cx="502920" cy="347472"/>
          </a:xfrm>
          <a:prstGeom prst="roundRect">
            <a:avLst>
              <a:gd name="adj" fmla="val 15789"/>
            </a:avLst>
          </a:prstGeom>
          <a:solidFill>
            <a:srgbClr val="1A2744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5" name="Text 3">
            <a:hlinkClick r:id="rId3" action="ppaction://hlinksldjump"/>
          </p:cNvPr>
          <p:cNvSpPr/>
          <p:nvPr/>
        </p:nvSpPr>
        <p:spPr>
          <a:xfrm>
            <a:off x="7863840" y="137160"/>
            <a:ext cx="502920" cy="347472"/>
          </a:xfrm>
          <a:prstGeom prst="rect">
            <a:avLst/>
          </a:prstGeom>
          <a:noFill/>
          <a:ln/>
        </p:spPr>
        <p:txBody>
          <a:bodyPr wrap="square" lIns="0" tIns="0" rIns="0" bIns="38100" rtlCol="0" anchor="b"/>
          <a:lstStyle/>
          <a:p>
            <a:pPr marL="0" indent="0" algn="ctr">
              <a:buNone/>
            </a:pPr>
            <a:r>
              <a:rPr lang="en-US" sz="800" u="sng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3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index</a:t>
            </a:r>
            <a:endParaRPr lang="en-US" sz="800" dirty="0"/>
          </a:p>
        </p:txBody>
      </p:sp>
      <p:sp>
        <p:nvSpPr>
          <p:cNvPr id="6" name="Shape 4">
            <a:hlinkClick r:id="rId4" action="ppaction://hlinksldjump"/>
          </p:cNvPr>
          <p:cNvSpPr/>
          <p:nvPr/>
        </p:nvSpPr>
        <p:spPr>
          <a:xfrm>
            <a:off x="8458200" y="137160"/>
            <a:ext cx="502920" cy="347472"/>
          </a:xfrm>
          <a:prstGeom prst="roundRect">
            <a:avLst>
              <a:gd name="adj" fmla="val 15789"/>
            </a:avLst>
          </a:prstGeom>
          <a:solidFill>
            <a:srgbClr val="1A2744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7" name="Text 5">
            <a:hlinkClick r:id="rId4" action="ppaction://hlinksldjump"/>
          </p:cNvPr>
          <p:cNvSpPr/>
          <p:nvPr/>
        </p:nvSpPr>
        <p:spPr>
          <a:xfrm>
            <a:off x="8458200" y="137160"/>
            <a:ext cx="502920" cy="347472"/>
          </a:xfrm>
          <a:prstGeom prst="rect">
            <a:avLst/>
          </a:prstGeom>
          <a:noFill/>
          <a:ln/>
        </p:spPr>
        <p:txBody>
          <a:bodyPr wrap="square" lIns="0" tIns="0" rIns="0" bIns="38100" rtlCol="0" anchor="b"/>
          <a:lstStyle/>
          <a:p>
            <a:pPr marL="0" indent="0" algn="ctr">
              <a:buNone/>
            </a:pPr>
            <a:r>
              <a:rPr lang="en-US" sz="800" u="sng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4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home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457200" y="749808"/>
            <a:ext cx="1463040" cy="256032"/>
          </a:xfrm>
          <a:prstGeom prst="roundRect">
            <a:avLst>
              <a:gd name="adj" fmla="val 21429"/>
            </a:avLst>
          </a:prstGeom>
          <a:solidFill>
            <a:srgbClr val="0A7E8C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9" name="Text 7"/>
          <p:cNvSpPr/>
          <p:nvPr/>
        </p:nvSpPr>
        <p:spPr>
          <a:xfrm>
            <a:off x="457200" y="749808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457200" y="1143000"/>
            <a:ext cx="5029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plain-English translation of the rubric. Explains in accessible language what assessors are looking for at each level, without academic jargon.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1783080"/>
            <a:ext cx="5029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Purpose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57200" y="2011680"/>
            <a:ext cx="5029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Bridges the gap between formal rubric language and student understanding. Research shows students engage more deeply when they understand criteria in plain terms.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57200" y="2834640"/>
            <a:ext cx="5029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Includes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57200" y="3090672"/>
            <a:ext cx="5029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Each criterion explained in plain English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57200" y="3310128"/>
            <a:ext cx="5029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Examples of what HD vs Pass looks like in practice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57200" y="3529584"/>
            <a:ext cx="5029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Common mistakes to avoid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57200" y="3749040"/>
            <a:ext cx="5029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Tips for demonstrating each criterion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5852160" y="1143000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Suggested timing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5852160" y="1362456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Released with rubric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5852160" y="1691640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Audience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5852160" y="1911096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Students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5852160" y="2240280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to use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5852160" y="2459736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CloudDeakin content page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5852160" y="3291840"/>
            <a:ext cx="2011680" cy="329184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9050">
            <a:solidFill>
              <a:srgbClr val="C97A1E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25" name="Text 23"/>
          <p:cNvSpPr/>
          <p:nvPr/>
        </p:nvSpPr>
        <p:spPr>
          <a:xfrm>
            <a:off x="5852160" y="3291840"/>
            <a:ext cx="2011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C97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▲  Recommended</a:t>
            </a:r>
            <a:endParaRPr lang="en-US" sz="1200" dirty="0"/>
          </a:p>
        </p:txBody>
      </p:sp>
      <p:sp>
        <p:nvSpPr>
          <p:cNvPr id="26" name="Shape 24">
            <a:hlinkClick r:id="rId5"/>
          </p:cNvPr>
          <p:cNvSpPr/>
          <p:nvPr/>
        </p:nvSpPr>
        <p:spPr>
          <a:xfrm>
            <a:off x="457200" y="4297680"/>
            <a:ext cx="8229600" cy="502920"/>
          </a:xfrm>
          <a:prstGeom prst="roundRect">
            <a:avLst>
              <a:gd name="adj" fmla="val 14545"/>
            </a:avLst>
          </a:prstGeom>
          <a:solidFill>
            <a:srgbClr val="FFFFFF"/>
          </a:solidFill>
          <a:ln w="19050">
            <a:solidFill>
              <a:srgbClr val="0A7E8C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27" name="Text 25">
            <a:hlinkClick r:id="rId5"/>
          </p:cNvPr>
          <p:cNvSpPr/>
          <p:nvPr/>
        </p:nvSpPr>
        <p:spPr>
          <a:xfrm>
            <a:off x="640080" y="4297680"/>
            <a:ext cx="6400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u="sng" dirty="0">
                <a:solidFill>
                  <a:srgbClr val="0A7E8C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Download: What We're Listening For (.docx)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7132320" y="4297680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(click to open)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AF8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A27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Challenge / Pivot Prompts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0" y="594360"/>
            <a:ext cx="9144000" cy="36576"/>
          </a:xfrm>
          <a:prstGeom prst="rect">
            <a:avLst/>
          </a:prstGeom>
          <a:solidFill>
            <a:srgbClr val="0A7E8C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4" name="Shape 2">
            <a:hlinkClick r:id="rId3" action="ppaction://hlinksldjump"/>
          </p:cNvPr>
          <p:cNvSpPr/>
          <p:nvPr/>
        </p:nvSpPr>
        <p:spPr>
          <a:xfrm>
            <a:off x="7863840" y="137160"/>
            <a:ext cx="502920" cy="347472"/>
          </a:xfrm>
          <a:prstGeom prst="roundRect">
            <a:avLst>
              <a:gd name="adj" fmla="val 15789"/>
            </a:avLst>
          </a:prstGeom>
          <a:solidFill>
            <a:srgbClr val="1A2744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5" name="Text 3">
            <a:hlinkClick r:id="rId3" action="ppaction://hlinksldjump"/>
          </p:cNvPr>
          <p:cNvSpPr/>
          <p:nvPr/>
        </p:nvSpPr>
        <p:spPr>
          <a:xfrm>
            <a:off x="7863840" y="137160"/>
            <a:ext cx="502920" cy="347472"/>
          </a:xfrm>
          <a:prstGeom prst="rect">
            <a:avLst/>
          </a:prstGeom>
          <a:noFill/>
          <a:ln/>
        </p:spPr>
        <p:txBody>
          <a:bodyPr wrap="square" lIns="0" tIns="0" rIns="0" bIns="38100" rtlCol="0" anchor="b"/>
          <a:lstStyle/>
          <a:p>
            <a:pPr marL="0" indent="0" algn="ctr">
              <a:buNone/>
            </a:pPr>
            <a:r>
              <a:rPr lang="en-US" sz="800" u="sng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3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index</a:t>
            </a:r>
            <a:endParaRPr lang="en-US" sz="800" dirty="0"/>
          </a:p>
        </p:txBody>
      </p:sp>
      <p:sp>
        <p:nvSpPr>
          <p:cNvPr id="6" name="Shape 4">
            <a:hlinkClick r:id="rId4" action="ppaction://hlinksldjump"/>
          </p:cNvPr>
          <p:cNvSpPr/>
          <p:nvPr/>
        </p:nvSpPr>
        <p:spPr>
          <a:xfrm>
            <a:off x="8458200" y="137160"/>
            <a:ext cx="502920" cy="347472"/>
          </a:xfrm>
          <a:prstGeom prst="roundRect">
            <a:avLst>
              <a:gd name="adj" fmla="val 15789"/>
            </a:avLst>
          </a:prstGeom>
          <a:solidFill>
            <a:srgbClr val="1A2744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7" name="Text 5">
            <a:hlinkClick r:id="rId4" action="ppaction://hlinksldjump"/>
          </p:cNvPr>
          <p:cNvSpPr/>
          <p:nvPr/>
        </p:nvSpPr>
        <p:spPr>
          <a:xfrm>
            <a:off x="8458200" y="137160"/>
            <a:ext cx="502920" cy="347472"/>
          </a:xfrm>
          <a:prstGeom prst="rect">
            <a:avLst/>
          </a:prstGeom>
          <a:noFill/>
          <a:ln/>
        </p:spPr>
        <p:txBody>
          <a:bodyPr wrap="square" lIns="0" tIns="0" rIns="0" bIns="38100" rtlCol="0" anchor="b"/>
          <a:lstStyle/>
          <a:p>
            <a:pPr marL="0" indent="0" algn="ctr">
              <a:buNone/>
            </a:pPr>
            <a:r>
              <a:rPr lang="en-US" sz="800" u="sng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4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home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457200" y="749808"/>
            <a:ext cx="1463040" cy="256032"/>
          </a:xfrm>
          <a:prstGeom prst="roundRect">
            <a:avLst>
              <a:gd name="adj" fmla="val 21429"/>
            </a:avLst>
          </a:prstGeom>
          <a:solidFill>
            <a:srgbClr val="0A7E8C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9" name="Text 7"/>
          <p:cNvSpPr/>
          <p:nvPr/>
        </p:nvSpPr>
        <p:spPr>
          <a:xfrm>
            <a:off x="457200" y="749808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457200" y="1143000"/>
            <a:ext cx="5029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follow-up questions and challenges assessors may use to probe deeper understanding. Shared with students to reduce anxiety.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1783080"/>
            <a:ext cx="5029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Purpose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57200" y="2011680"/>
            <a:ext cx="5029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Prepares students for the dynamic nature of IOAs. If they've seen the types of pivots (not the actual ones), they perform better and feel less anxious.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57200" y="2834640"/>
            <a:ext cx="5029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Includes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57200" y="3090672"/>
            <a:ext cx="5029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8+ example pivot prompts per scenario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57200" y="3310128"/>
            <a:ext cx="5029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Categories: clarify, challenge, extend, apply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57200" y="3529584"/>
            <a:ext cx="5029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Note: actual prompts may differ from examples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852160" y="1143000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Suggested timing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5852160" y="1362456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Weeks 8-10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5852160" y="1691640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Audience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5852160" y="1911096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Students (practice versions)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852160" y="2240280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to use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5852160" y="2459736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CloudDeakin + tutorial activities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5852160" y="3291840"/>
            <a:ext cx="2011680" cy="329184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9050">
            <a:solidFill>
              <a:srgbClr val="C97A1E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24" name="Text 22"/>
          <p:cNvSpPr/>
          <p:nvPr/>
        </p:nvSpPr>
        <p:spPr>
          <a:xfrm>
            <a:off x="5852160" y="3291840"/>
            <a:ext cx="2011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C97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▲  Recommended</a:t>
            </a:r>
            <a:endParaRPr lang="en-US" sz="1200" dirty="0"/>
          </a:p>
        </p:txBody>
      </p:sp>
      <p:sp>
        <p:nvSpPr>
          <p:cNvPr id="25" name="Shape 23">
            <a:hlinkClick r:id="rId5"/>
          </p:cNvPr>
          <p:cNvSpPr/>
          <p:nvPr/>
        </p:nvSpPr>
        <p:spPr>
          <a:xfrm>
            <a:off x="457200" y="4297680"/>
            <a:ext cx="8229600" cy="502920"/>
          </a:xfrm>
          <a:prstGeom prst="roundRect">
            <a:avLst>
              <a:gd name="adj" fmla="val 14545"/>
            </a:avLst>
          </a:prstGeom>
          <a:solidFill>
            <a:srgbClr val="FFFFFF"/>
          </a:solidFill>
          <a:ln w="19050">
            <a:solidFill>
              <a:srgbClr val="0A7E8C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26" name="Text 24">
            <a:hlinkClick r:id="rId5"/>
          </p:cNvPr>
          <p:cNvSpPr/>
          <p:nvPr/>
        </p:nvSpPr>
        <p:spPr>
          <a:xfrm>
            <a:off x="640080" y="4297680"/>
            <a:ext cx="6400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u="sng" dirty="0">
                <a:solidFill>
                  <a:srgbClr val="0A7E8C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Download: Challenge Prompts (.docx)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7132320" y="4297680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(click to open)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AF8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A27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Practice Script &amp; Timing Plan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0" y="594360"/>
            <a:ext cx="9144000" cy="36576"/>
          </a:xfrm>
          <a:prstGeom prst="rect">
            <a:avLst/>
          </a:prstGeom>
          <a:solidFill>
            <a:srgbClr val="0A7E8C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4" name="Shape 2">
            <a:hlinkClick r:id="rId3" action="ppaction://hlinksldjump"/>
          </p:cNvPr>
          <p:cNvSpPr/>
          <p:nvPr/>
        </p:nvSpPr>
        <p:spPr>
          <a:xfrm>
            <a:off x="7863840" y="137160"/>
            <a:ext cx="502920" cy="347472"/>
          </a:xfrm>
          <a:prstGeom prst="roundRect">
            <a:avLst>
              <a:gd name="adj" fmla="val 15789"/>
            </a:avLst>
          </a:prstGeom>
          <a:solidFill>
            <a:srgbClr val="1A2744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5" name="Text 3">
            <a:hlinkClick r:id="rId3" action="ppaction://hlinksldjump"/>
          </p:cNvPr>
          <p:cNvSpPr/>
          <p:nvPr/>
        </p:nvSpPr>
        <p:spPr>
          <a:xfrm>
            <a:off x="7863840" y="137160"/>
            <a:ext cx="502920" cy="347472"/>
          </a:xfrm>
          <a:prstGeom prst="rect">
            <a:avLst/>
          </a:prstGeom>
          <a:noFill/>
          <a:ln/>
        </p:spPr>
        <p:txBody>
          <a:bodyPr wrap="square" lIns="0" tIns="0" rIns="0" bIns="38100" rtlCol="0" anchor="b"/>
          <a:lstStyle/>
          <a:p>
            <a:pPr marL="0" indent="0" algn="ctr">
              <a:buNone/>
            </a:pPr>
            <a:r>
              <a:rPr lang="en-US" sz="800" u="sng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3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index</a:t>
            </a:r>
            <a:endParaRPr lang="en-US" sz="800" dirty="0"/>
          </a:p>
        </p:txBody>
      </p:sp>
      <p:sp>
        <p:nvSpPr>
          <p:cNvPr id="6" name="Shape 4">
            <a:hlinkClick r:id="rId4" action="ppaction://hlinksldjump"/>
          </p:cNvPr>
          <p:cNvSpPr/>
          <p:nvPr/>
        </p:nvSpPr>
        <p:spPr>
          <a:xfrm>
            <a:off x="8458200" y="137160"/>
            <a:ext cx="502920" cy="347472"/>
          </a:xfrm>
          <a:prstGeom prst="roundRect">
            <a:avLst>
              <a:gd name="adj" fmla="val 15789"/>
            </a:avLst>
          </a:prstGeom>
          <a:solidFill>
            <a:srgbClr val="1A2744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7" name="Text 5">
            <a:hlinkClick r:id="rId4" action="ppaction://hlinksldjump"/>
          </p:cNvPr>
          <p:cNvSpPr/>
          <p:nvPr/>
        </p:nvSpPr>
        <p:spPr>
          <a:xfrm>
            <a:off x="8458200" y="137160"/>
            <a:ext cx="502920" cy="347472"/>
          </a:xfrm>
          <a:prstGeom prst="rect">
            <a:avLst/>
          </a:prstGeom>
          <a:noFill/>
          <a:ln/>
        </p:spPr>
        <p:txBody>
          <a:bodyPr wrap="square" lIns="0" tIns="0" rIns="0" bIns="38100" rtlCol="0" anchor="b"/>
          <a:lstStyle/>
          <a:p>
            <a:pPr marL="0" indent="0" algn="ctr">
              <a:buNone/>
            </a:pPr>
            <a:r>
              <a:rPr lang="en-US" sz="800" u="sng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4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home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457200" y="749808"/>
            <a:ext cx="1463040" cy="256032"/>
          </a:xfrm>
          <a:prstGeom prst="roundRect">
            <a:avLst>
              <a:gd name="adj" fmla="val 21429"/>
            </a:avLst>
          </a:prstGeom>
          <a:solidFill>
            <a:srgbClr val="0A7E8C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9" name="Text 7"/>
          <p:cNvSpPr/>
          <p:nvPr/>
        </p:nvSpPr>
        <p:spPr>
          <a:xfrm>
            <a:off x="457200" y="749808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457200" y="1143000"/>
            <a:ext cx="5029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structured guide for students to practise IOAs with peers. Includes timing breakdown and role-play instructions.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1783080"/>
            <a:ext cx="5029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Purpose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57200" y="2011680"/>
            <a:ext cx="5029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Students who practise perform significantly better and report lower anxiety. This makes practice self-directed.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57200" y="2834640"/>
            <a:ext cx="5029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Includes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57200" y="3090672"/>
            <a:ext cx="5029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Minute-by-minute timing breakdown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57200" y="3310128"/>
            <a:ext cx="5029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Role-play partner instructions (play assessor role)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57200" y="3529584"/>
            <a:ext cx="5029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Self-reflection questions after practice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57200" y="3749040"/>
            <a:ext cx="5029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Tips for managing time and nerves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5852160" y="1143000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Suggested timing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5852160" y="1362456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Weeks 6-8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5852160" y="1691640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Audience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5852160" y="1911096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Students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5852160" y="2240280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to use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5852160" y="2459736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CloudDeakin + tutorials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5852160" y="3291840"/>
            <a:ext cx="2011680" cy="329184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9050">
            <a:solidFill>
              <a:srgbClr val="C97A1E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25" name="Text 23"/>
          <p:cNvSpPr/>
          <p:nvPr/>
        </p:nvSpPr>
        <p:spPr>
          <a:xfrm>
            <a:off x="5852160" y="3291840"/>
            <a:ext cx="2011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C97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▲  Recommended</a:t>
            </a:r>
            <a:endParaRPr lang="en-US" sz="1200" dirty="0"/>
          </a:p>
        </p:txBody>
      </p:sp>
      <p:sp>
        <p:nvSpPr>
          <p:cNvPr id="26" name="Shape 24">
            <a:hlinkClick r:id="rId5"/>
          </p:cNvPr>
          <p:cNvSpPr/>
          <p:nvPr/>
        </p:nvSpPr>
        <p:spPr>
          <a:xfrm>
            <a:off x="457200" y="4297680"/>
            <a:ext cx="8229600" cy="502920"/>
          </a:xfrm>
          <a:prstGeom prst="roundRect">
            <a:avLst>
              <a:gd name="adj" fmla="val 14545"/>
            </a:avLst>
          </a:prstGeom>
          <a:solidFill>
            <a:srgbClr val="FFFFFF"/>
          </a:solidFill>
          <a:ln w="19050">
            <a:solidFill>
              <a:srgbClr val="0A7E8C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27" name="Text 25">
            <a:hlinkClick r:id="rId5"/>
          </p:cNvPr>
          <p:cNvSpPr/>
          <p:nvPr/>
        </p:nvSpPr>
        <p:spPr>
          <a:xfrm>
            <a:off x="640080" y="4297680"/>
            <a:ext cx="6400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u="sng" dirty="0">
                <a:solidFill>
                  <a:srgbClr val="0A7E8C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Download: Practice Script &amp; Timing (.docx)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7132320" y="4297680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(click to open)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AF8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A27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Academic Integrity Policy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0" y="594360"/>
            <a:ext cx="9144000" cy="36576"/>
          </a:xfrm>
          <a:prstGeom prst="rect">
            <a:avLst/>
          </a:prstGeom>
          <a:solidFill>
            <a:srgbClr val="0A7E8C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4" name="Shape 2">
            <a:hlinkClick r:id="rId3" action="ppaction://hlinksldjump"/>
          </p:cNvPr>
          <p:cNvSpPr/>
          <p:nvPr/>
        </p:nvSpPr>
        <p:spPr>
          <a:xfrm>
            <a:off x="7863840" y="137160"/>
            <a:ext cx="502920" cy="347472"/>
          </a:xfrm>
          <a:prstGeom prst="roundRect">
            <a:avLst>
              <a:gd name="adj" fmla="val 15789"/>
            </a:avLst>
          </a:prstGeom>
          <a:solidFill>
            <a:srgbClr val="1A2744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5" name="Text 3">
            <a:hlinkClick r:id="rId3" action="ppaction://hlinksldjump"/>
          </p:cNvPr>
          <p:cNvSpPr/>
          <p:nvPr/>
        </p:nvSpPr>
        <p:spPr>
          <a:xfrm>
            <a:off x="7863840" y="137160"/>
            <a:ext cx="502920" cy="347472"/>
          </a:xfrm>
          <a:prstGeom prst="rect">
            <a:avLst/>
          </a:prstGeom>
          <a:noFill/>
          <a:ln/>
        </p:spPr>
        <p:txBody>
          <a:bodyPr wrap="square" lIns="0" tIns="0" rIns="0" bIns="38100" rtlCol="0" anchor="b"/>
          <a:lstStyle/>
          <a:p>
            <a:pPr marL="0" indent="0" algn="ctr">
              <a:buNone/>
            </a:pPr>
            <a:r>
              <a:rPr lang="en-US" sz="800" u="sng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3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index</a:t>
            </a:r>
            <a:endParaRPr lang="en-US" sz="800" dirty="0"/>
          </a:p>
        </p:txBody>
      </p:sp>
      <p:sp>
        <p:nvSpPr>
          <p:cNvPr id="6" name="Shape 4">
            <a:hlinkClick r:id="rId4" action="ppaction://hlinksldjump"/>
          </p:cNvPr>
          <p:cNvSpPr/>
          <p:nvPr/>
        </p:nvSpPr>
        <p:spPr>
          <a:xfrm>
            <a:off x="8458200" y="137160"/>
            <a:ext cx="502920" cy="347472"/>
          </a:xfrm>
          <a:prstGeom prst="roundRect">
            <a:avLst>
              <a:gd name="adj" fmla="val 15789"/>
            </a:avLst>
          </a:prstGeom>
          <a:solidFill>
            <a:srgbClr val="1A2744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7" name="Text 5">
            <a:hlinkClick r:id="rId4" action="ppaction://hlinksldjump"/>
          </p:cNvPr>
          <p:cNvSpPr/>
          <p:nvPr/>
        </p:nvSpPr>
        <p:spPr>
          <a:xfrm>
            <a:off x="8458200" y="137160"/>
            <a:ext cx="502920" cy="347472"/>
          </a:xfrm>
          <a:prstGeom prst="rect">
            <a:avLst/>
          </a:prstGeom>
          <a:noFill/>
          <a:ln/>
        </p:spPr>
        <p:txBody>
          <a:bodyPr wrap="square" lIns="0" tIns="0" rIns="0" bIns="38100" rtlCol="0" anchor="b"/>
          <a:lstStyle/>
          <a:p>
            <a:pPr marL="0" indent="0" algn="ctr">
              <a:buNone/>
            </a:pPr>
            <a:r>
              <a:rPr lang="en-US" sz="800" u="sng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4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home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457200" y="749808"/>
            <a:ext cx="1463040" cy="256032"/>
          </a:xfrm>
          <a:prstGeom prst="roundRect">
            <a:avLst>
              <a:gd name="adj" fmla="val 21429"/>
            </a:avLst>
          </a:prstGeom>
          <a:solidFill>
            <a:srgbClr val="0A7E8C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9" name="Text 7"/>
          <p:cNvSpPr/>
          <p:nvPr/>
        </p:nvSpPr>
        <p:spPr>
          <a:xfrm>
            <a:off x="457200" y="749808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457200" y="1143000"/>
            <a:ext cx="5029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Clear guidance on what is and isn't permitted in IOA preparation and delivery. Addresses AI tools, collaboration, and notes policy.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1783080"/>
            <a:ext cx="5029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Purpose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57200" y="2011680"/>
            <a:ext cx="5029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IOAs are inherently integrity-proof (you can't outsource live thinking), but students still need clarity on preparation rules and what they can bring.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57200" y="2834640"/>
            <a:ext cx="5029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Includes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57200" y="3090672"/>
            <a:ext cx="5029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What's permitted: notes, preparation, study groups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57200" y="3310128"/>
            <a:ext cx="5029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What's not permitted: earpieces, scripted answers, impersonation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57200" y="3529584"/>
            <a:ext cx="5029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AI in preparation: allowed for study, not for scripts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57200" y="3749040"/>
            <a:ext cx="5029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One-page notes policy (if applicable)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57200" y="3968496"/>
            <a:ext cx="5029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Consequences for integrity breaches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5852160" y="1143000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Suggested timing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5852160" y="1362456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1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852160" y="1691640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Audience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5852160" y="1911096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Students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5852160" y="2240280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to use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5852160" y="2459736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CloudDeakin + Unit Guide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5852160" y="3291840"/>
            <a:ext cx="2011680" cy="329184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9050">
            <a:solidFill>
              <a:srgbClr val="D94F4F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26" name="Text 24"/>
          <p:cNvSpPr/>
          <p:nvPr/>
        </p:nvSpPr>
        <p:spPr>
          <a:xfrm>
            <a:off x="5852160" y="3291840"/>
            <a:ext cx="2011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D94F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■  Essential</a:t>
            </a:r>
            <a:endParaRPr lang="en-US" sz="1200" dirty="0"/>
          </a:p>
        </p:txBody>
      </p:sp>
      <p:sp>
        <p:nvSpPr>
          <p:cNvPr id="27" name="Shape 25">
            <a:hlinkClick r:id="rId5"/>
          </p:cNvPr>
          <p:cNvSpPr/>
          <p:nvPr/>
        </p:nvSpPr>
        <p:spPr>
          <a:xfrm>
            <a:off x="457200" y="4297680"/>
            <a:ext cx="8229600" cy="502920"/>
          </a:xfrm>
          <a:prstGeom prst="roundRect">
            <a:avLst>
              <a:gd name="adj" fmla="val 14545"/>
            </a:avLst>
          </a:prstGeom>
          <a:solidFill>
            <a:srgbClr val="FFFFFF"/>
          </a:solidFill>
          <a:ln w="19050">
            <a:solidFill>
              <a:srgbClr val="0A7E8C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28" name="Text 26">
            <a:hlinkClick r:id="rId5"/>
          </p:cNvPr>
          <p:cNvSpPr/>
          <p:nvPr/>
        </p:nvSpPr>
        <p:spPr>
          <a:xfrm>
            <a:off x="640080" y="4297680"/>
            <a:ext cx="6400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u="sng" dirty="0">
                <a:solidFill>
                  <a:srgbClr val="0A7E8C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Download: Academic Integrity Policy (.docx)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7132320" y="4297680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(click to open)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AF8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A27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Booking &amp; Logistics Guide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0" y="594360"/>
            <a:ext cx="9144000" cy="36576"/>
          </a:xfrm>
          <a:prstGeom prst="rect">
            <a:avLst/>
          </a:prstGeom>
          <a:solidFill>
            <a:srgbClr val="0A7E8C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4" name="Shape 2">
            <a:hlinkClick r:id="rId3" action="ppaction://hlinksldjump"/>
          </p:cNvPr>
          <p:cNvSpPr/>
          <p:nvPr/>
        </p:nvSpPr>
        <p:spPr>
          <a:xfrm>
            <a:off x="7863840" y="137160"/>
            <a:ext cx="502920" cy="347472"/>
          </a:xfrm>
          <a:prstGeom prst="roundRect">
            <a:avLst>
              <a:gd name="adj" fmla="val 15789"/>
            </a:avLst>
          </a:prstGeom>
          <a:solidFill>
            <a:srgbClr val="1A2744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5" name="Text 3">
            <a:hlinkClick r:id="rId3" action="ppaction://hlinksldjump"/>
          </p:cNvPr>
          <p:cNvSpPr/>
          <p:nvPr/>
        </p:nvSpPr>
        <p:spPr>
          <a:xfrm>
            <a:off x="7863840" y="137160"/>
            <a:ext cx="502920" cy="347472"/>
          </a:xfrm>
          <a:prstGeom prst="rect">
            <a:avLst/>
          </a:prstGeom>
          <a:noFill/>
          <a:ln/>
        </p:spPr>
        <p:txBody>
          <a:bodyPr wrap="square" lIns="0" tIns="0" rIns="0" bIns="38100" rtlCol="0" anchor="b"/>
          <a:lstStyle/>
          <a:p>
            <a:pPr marL="0" indent="0" algn="ctr">
              <a:buNone/>
            </a:pPr>
            <a:r>
              <a:rPr lang="en-US" sz="800" u="sng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3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index</a:t>
            </a:r>
            <a:endParaRPr lang="en-US" sz="800" dirty="0"/>
          </a:p>
        </p:txBody>
      </p:sp>
      <p:sp>
        <p:nvSpPr>
          <p:cNvPr id="6" name="Shape 4">
            <a:hlinkClick r:id="rId4" action="ppaction://hlinksldjump"/>
          </p:cNvPr>
          <p:cNvSpPr/>
          <p:nvPr/>
        </p:nvSpPr>
        <p:spPr>
          <a:xfrm>
            <a:off x="8458200" y="137160"/>
            <a:ext cx="502920" cy="347472"/>
          </a:xfrm>
          <a:prstGeom prst="roundRect">
            <a:avLst>
              <a:gd name="adj" fmla="val 15789"/>
            </a:avLst>
          </a:prstGeom>
          <a:solidFill>
            <a:srgbClr val="1A2744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7" name="Text 5">
            <a:hlinkClick r:id="rId4" action="ppaction://hlinksldjump"/>
          </p:cNvPr>
          <p:cNvSpPr/>
          <p:nvPr/>
        </p:nvSpPr>
        <p:spPr>
          <a:xfrm>
            <a:off x="8458200" y="137160"/>
            <a:ext cx="502920" cy="347472"/>
          </a:xfrm>
          <a:prstGeom prst="rect">
            <a:avLst/>
          </a:prstGeom>
          <a:noFill/>
          <a:ln/>
        </p:spPr>
        <p:txBody>
          <a:bodyPr wrap="square" lIns="0" tIns="0" rIns="0" bIns="38100" rtlCol="0" anchor="b"/>
          <a:lstStyle/>
          <a:p>
            <a:pPr marL="0" indent="0" algn="ctr">
              <a:buNone/>
            </a:pPr>
            <a:r>
              <a:rPr lang="en-US" sz="800" u="sng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4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home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457200" y="749808"/>
            <a:ext cx="1463040" cy="256032"/>
          </a:xfrm>
          <a:prstGeom prst="roundRect">
            <a:avLst>
              <a:gd name="adj" fmla="val 21429"/>
            </a:avLst>
          </a:prstGeom>
          <a:solidFill>
            <a:srgbClr val="0A7E8C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9" name="Text 7"/>
          <p:cNvSpPr/>
          <p:nvPr/>
        </p:nvSpPr>
        <p:spPr>
          <a:xfrm>
            <a:off x="457200" y="749808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457200" y="1143000"/>
            <a:ext cx="5029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Step-by-step instructions for students to book their IOA slot, prepare the technology (if online), and know what to bring on the day.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1783080"/>
            <a:ext cx="5029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Purpose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57200" y="2011680"/>
            <a:ext cx="5029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Removes logistical anxiety. Students who know the practical details perform better — they can focus on content, not process.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57200" y="2834640"/>
            <a:ext cx="5029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Includes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57200" y="3090672"/>
            <a:ext cx="5029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How to book a slot (SOTS, SignUpGenius, etc.)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57200" y="3310128"/>
            <a:ext cx="5029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How to reschedule or apply for extensions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57200" y="3529584"/>
            <a:ext cx="5029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What to bring (ID, notes, water)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57200" y="3749040"/>
            <a:ext cx="5029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Where to go / how to join (online)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57200" y="3968496"/>
            <a:ext cx="5029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What happens if you miss your slot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5852160" y="1143000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Suggested timing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5852160" y="1362456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1 (booking info) / Week 8 (logistics)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852160" y="1691640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Audience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5852160" y="1911096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Students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5852160" y="2240280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to use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5852160" y="2459736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CloudDeakin + Unit Guide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5852160" y="3291840"/>
            <a:ext cx="2011680" cy="329184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9050">
            <a:solidFill>
              <a:srgbClr val="D94F4F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26" name="Text 24"/>
          <p:cNvSpPr/>
          <p:nvPr/>
        </p:nvSpPr>
        <p:spPr>
          <a:xfrm>
            <a:off x="5852160" y="3291840"/>
            <a:ext cx="2011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D94F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■  Essential</a:t>
            </a:r>
            <a:endParaRPr lang="en-US" sz="1200" dirty="0"/>
          </a:p>
        </p:txBody>
      </p:sp>
      <p:sp>
        <p:nvSpPr>
          <p:cNvPr id="27" name="Shape 25">
            <a:hlinkClick r:id="rId5"/>
          </p:cNvPr>
          <p:cNvSpPr/>
          <p:nvPr/>
        </p:nvSpPr>
        <p:spPr>
          <a:xfrm>
            <a:off x="457200" y="4297680"/>
            <a:ext cx="8229600" cy="502920"/>
          </a:xfrm>
          <a:prstGeom prst="roundRect">
            <a:avLst>
              <a:gd name="adj" fmla="val 14545"/>
            </a:avLst>
          </a:prstGeom>
          <a:solidFill>
            <a:srgbClr val="FFFFFF"/>
          </a:solidFill>
          <a:ln w="19050">
            <a:solidFill>
              <a:srgbClr val="0A7E8C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28" name="Text 26">
            <a:hlinkClick r:id="rId5"/>
          </p:cNvPr>
          <p:cNvSpPr/>
          <p:nvPr/>
        </p:nvSpPr>
        <p:spPr>
          <a:xfrm>
            <a:off x="640080" y="4297680"/>
            <a:ext cx="6400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u="sng" dirty="0">
                <a:solidFill>
                  <a:srgbClr val="0A7E8C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Download: Booking &amp; Logistics Guide (.docx)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7132320" y="4297680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(click to open)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AF8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A27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Tech Check (Online IOAs)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0" y="594360"/>
            <a:ext cx="9144000" cy="36576"/>
          </a:xfrm>
          <a:prstGeom prst="rect">
            <a:avLst/>
          </a:prstGeom>
          <a:solidFill>
            <a:srgbClr val="0A7E8C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4" name="Shape 2">
            <a:hlinkClick r:id="rId3" action="ppaction://hlinksldjump"/>
          </p:cNvPr>
          <p:cNvSpPr/>
          <p:nvPr/>
        </p:nvSpPr>
        <p:spPr>
          <a:xfrm>
            <a:off x="7863840" y="137160"/>
            <a:ext cx="502920" cy="347472"/>
          </a:xfrm>
          <a:prstGeom prst="roundRect">
            <a:avLst>
              <a:gd name="adj" fmla="val 15789"/>
            </a:avLst>
          </a:prstGeom>
          <a:solidFill>
            <a:srgbClr val="1A2744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5" name="Text 3">
            <a:hlinkClick r:id="rId3" action="ppaction://hlinksldjump"/>
          </p:cNvPr>
          <p:cNvSpPr/>
          <p:nvPr/>
        </p:nvSpPr>
        <p:spPr>
          <a:xfrm>
            <a:off x="7863840" y="137160"/>
            <a:ext cx="502920" cy="347472"/>
          </a:xfrm>
          <a:prstGeom prst="rect">
            <a:avLst/>
          </a:prstGeom>
          <a:noFill/>
          <a:ln/>
        </p:spPr>
        <p:txBody>
          <a:bodyPr wrap="square" lIns="0" tIns="0" rIns="0" bIns="38100" rtlCol="0" anchor="b"/>
          <a:lstStyle/>
          <a:p>
            <a:pPr marL="0" indent="0" algn="ctr">
              <a:buNone/>
            </a:pPr>
            <a:r>
              <a:rPr lang="en-US" sz="800" u="sng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3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index</a:t>
            </a:r>
            <a:endParaRPr lang="en-US" sz="800" dirty="0"/>
          </a:p>
        </p:txBody>
      </p:sp>
      <p:sp>
        <p:nvSpPr>
          <p:cNvPr id="6" name="Shape 4">
            <a:hlinkClick r:id="rId4" action="ppaction://hlinksldjump"/>
          </p:cNvPr>
          <p:cNvSpPr/>
          <p:nvPr/>
        </p:nvSpPr>
        <p:spPr>
          <a:xfrm>
            <a:off x="8458200" y="137160"/>
            <a:ext cx="502920" cy="347472"/>
          </a:xfrm>
          <a:prstGeom prst="roundRect">
            <a:avLst>
              <a:gd name="adj" fmla="val 15789"/>
            </a:avLst>
          </a:prstGeom>
          <a:solidFill>
            <a:srgbClr val="1A2744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7" name="Text 5">
            <a:hlinkClick r:id="rId4" action="ppaction://hlinksldjump"/>
          </p:cNvPr>
          <p:cNvSpPr/>
          <p:nvPr/>
        </p:nvSpPr>
        <p:spPr>
          <a:xfrm>
            <a:off x="8458200" y="137160"/>
            <a:ext cx="502920" cy="347472"/>
          </a:xfrm>
          <a:prstGeom prst="rect">
            <a:avLst/>
          </a:prstGeom>
          <a:noFill/>
          <a:ln/>
        </p:spPr>
        <p:txBody>
          <a:bodyPr wrap="square" lIns="0" tIns="0" rIns="0" bIns="38100" rtlCol="0" anchor="b"/>
          <a:lstStyle/>
          <a:p>
            <a:pPr marL="0" indent="0" algn="ctr">
              <a:buNone/>
            </a:pPr>
            <a:r>
              <a:rPr lang="en-US" sz="800" u="sng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4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home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457200" y="749808"/>
            <a:ext cx="1463040" cy="256032"/>
          </a:xfrm>
          <a:prstGeom prst="roundRect">
            <a:avLst>
              <a:gd name="adj" fmla="val 21429"/>
            </a:avLst>
          </a:prstGeom>
          <a:solidFill>
            <a:srgbClr val="0A7E8C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9" name="Text 7"/>
          <p:cNvSpPr/>
          <p:nvPr/>
        </p:nvSpPr>
        <p:spPr>
          <a:xfrm>
            <a:off x="457200" y="749808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457200" y="1143000"/>
            <a:ext cx="5029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requirements and troubleshooting guide for students doing their IOA online via Teams or Zoom.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1783080"/>
            <a:ext cx="5029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Purpose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57200" y="2011680"/>
            <a:ext cx="5029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issues during a timed assessment are stressful and unfair. A pre-check eliminates most problems.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57200" y="2834640"/>
            <a:ext cx="5029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Includes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57200" y="3090672"/>
            <a:ext cx="5029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Device and internet requirements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57200" y="3310128"/>
            <a:ext cx="5029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Camera and microphone setup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57200" y="3529584"/>
            <a:ext cx="5029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Teams/Zoom connection test steps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57200" y="3749040"/>
            <a:ext cx="5029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Backup plan if connection fails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57200" y="3968496"/>
            <a:ext cx="5029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Who to contact for tech support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5852160" y="1143000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Suggested timing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5852160" y="1362456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week before IOA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852160" y="1691640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Audience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5852160" y="1911096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Students (online only)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5852160" y="2240280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to use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5852160" y="2459736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CloudDeakin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5852160" y="3291840"/>
            <a:ext cx="2011680" cy="329184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9050">
            <a:solidFill>
              <a:srgbClr val="C97A1E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26" name="Text 24"/>
          <p:cNvSpPr/>
          <p:nvPr/>
        </p:nvSpPr>
        <p:spPr>
          <a:xfrm>
            <a:off x="5852160" y="3291840"/>
            <a:ext cx="2011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C97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▲  Recommended</a:t>
            </a:r>
            <a:endParaRPr lang="en-US" sz="1200" dirty="0"/>
          </a:p>
        </p:txBody>
      </p:sp>
      <p:sp>
        <p:nvSpPr>
          <p:cNvPr id="27" name="Shape 25">
            <a:hlinkClick r:id="rId5"/>
          </p:cNvPr>
          <p:cNvSpPr/>
          <p:nvPr/>
        </p:nvSpPr>
        <p:spPr>
          <a:xfrm>
            <a:off x="457200" y="4297680"/>
            <a:ext cx="8229600" cy="502920"/>
          </a:xfrm>
          <a:prstGeom prst="roundRect">
            <a:avLst>
              <a:gd name="adj" fmla="val 14545"/>
            </a:avLst>
          </a:prstGeom>
          <a:solidFill>
            <a:srgbClr val="FFFFFF"/>
          </a:solidFill>
          <a:ln w="19050">
            <a:solidFill>
              <a:srgbClr val="0A7E8C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28" name="Text 26">
            <a:hlinkClick r:id="rId5"/>
          </p:cNvPr>
          <p:cNvSpPr/>
          <p:nvPr/>
        </p:nvSpPr>
        <p:spPr>
          <a:xfrm>
            <a:off x="640080" y="4297680"/>
            <a:ext cx="6400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u="sng" dirty="0">
                <a:solidFill>
                  <a:srgbClr val="0A7E8C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Download: Tech Check (.docx)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7132320" y="4297680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(click to open)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AF8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A27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Day-of Checklist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0" y="594360"/>
            <a:ext cx="9144000" cy="36576"/>
          </a:xfrm>
          <a:prstGeom prst="rect">
            <a:avLst/>
          </a:prstGeom>
          <a:solidFill>
            <a:srgbClr val="0A7E8C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4" name="Shape 2">
            <a:hlinkClick r:id="rId3" action="ppaction://hlinksldjump"/>
          </p:cNvPr>
          <p:cNvSpPr/>
          <p:nvPr/>
        </p:nvSpPr>
        <p:spPr>
          <a:xfrm>
            <a:off x="7863840" y="137160"/>
            <a:ext cx="502920" cy="347472"/>
          </a:xfrm>
          <a:prstGeom prst="roundRect">
            <a:avLst>
              <a:gd name="adj" fmla="val 15789"/>
            </a:avLst>
          </a:prstGeom>
          <a:solidFill>
            <a:srgbClr val="1A2744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5" name="Text 3">
            <a:hlinkClick r:id="rId3" action="ppaction://hlinksldjump"/>
          </p:cNvPr>
          <p:cNvSpPr/>
          <p:nvPr/>
        </p:nvSpPr>
        <p:spPr>
          <a:xfrm>
            <a:off x="7863840" y="137160"/>
            <a:ext cx="502920" cy="347472"/>
          </a:xfrm>
          <a:prstGeom prst="rect">
            <a:avLst/>
          </a:prstGeom>
          <a:noFill/>
          <a:ln/>
        </p:spPr>
        <p:txBody>
          <a:bodyPr wrap="square" lIns="0" tIns="0" rIns="0" bIns="38100" rtlCol="0" anchor="b"/>
          <a:lstStyle/>
          <a:p>
            <a:pPr marL="0" indent="0" algn="ctr">
              <a:buNone/>
            </a:pPr>
            <a:r>
              <a:rPr lang="en-US" sz="800" u="sng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3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index</a:t>
            </a:r>
            <a:endParaRPr lang="en-US" sz="800" dirty="0"/>
          </a:p>
        </p:txBody>
      </p:sp>
      <p:sp>
        <p:nvSpPr>
          <p:cNvPr id="6" name="Shape 4">
            <a:hlinkClick r:id="rId4" action="ppaction://hlinksldjump"/>
          </p:cNvPr>
          <p:cNvSpPr/>
          <p:nvPr/>
        </p:nvSpPr>
        <p:spPr>
          <a:xfrm>
            <a:off x="8458200" y="137160"/>
            <a:ext cx="502920" cy="347472"/>
          </a:xfrm>
          <a:prstGeom prst="roundRect">
            <a:avLst>
              <a:gd name="adj" fmla="val 15789"/>
            </a:avLst>
          </a:prstGeom>
          <a:solidFill>
            <a:srgbClr val="1A2744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7" name="Text 5">
            <a:hlinkClick r:id="rId4" action="ppaction://hlinksldjump"/>
          </p:cNvPr>
          <p:cNvSpPr/>
          <p:nvPr/>
        </p:nvSpPr>
        <p:spPr>
          <a:xfrm>
            <a:off x="8458200" y="137160"/>
            <a:ext cx="502920" cy="347472"/>
          </a:xfrm>
          <a:prstGeom prst="rect">
            <a:avLst/>
          </a:prstGeom>
          <a:noFill/>
          <a:ln/>
        </p:spPr>
        <p:txBody>
          <a:bodyPr wrap="square" lIns="0" tIns="0" rIns="0" bIns="38100" rtlCol="0" anchor="b"/>
          <a:lstStyle/>
          <a:p>
            <a:pPr marL="0" indent="0" algn="ctr">
              <a:buNone/>
            </a:pPr>
            <a:r>
              <a:rPr lang="en-US" sz="800" u="sng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4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home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457200" y="749808"/>
            <a:ext cx="1463040" cy="256032"/>
          </a:xfrm>
          <a:prstGeom prst="roundRect">
            <a:avLst>
              <a:gd name="adj" fmla="val 21429"/>
            </a:avLst>
          </a:prstGeom>
          <a:solidFill>
            <a:srgbClr val="0A7E8C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9" name="Text 7"/>
          <p:cNvSpPr/>
          <p:nvPr/>
        </p:nvSpPr>
        <p:spPr>
          <a:xfrm>
            <a:off x="457200" y="749808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457200" y="1143000"/>
            <a:ext cx="5029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print-friendly checklist students can use on the day of their IOA to make sure they haven't forgotten anything.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1783080"/>
            <a:ext cx="5029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Purpose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57200" y="2011680"/>
            <a:ext cx="5029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Reduces last-minute panic. Gives students a sense of control and preparedness.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57200" y="2834640"/>
            <a:ext cx="5029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Includes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57200" y="3090672"/>
            <a:ext cx="5029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Before you leave: ID, notes, water, device charged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57200" y="3310128"/>
            <a:ext cx="5029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15 min before: arrive, find room, tech check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57200" y="3529584"/>
            <a:ext cx="5029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During: listen carefully, ask to clarify, use notes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57200" y="3749040"/>
            <a:ext cx="5029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After: debrief, collect feedback, reflect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5852160" y="1143000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Suggested timing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5852160" y="1362456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week before IOA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5852160" y="1691640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Audience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5852160" y="1911096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Students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5852160" y="2240280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to use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5852160" y="2459736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CloudDeakin (print-friendly)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5852160" y="3291840"/>
            <a:ext cx="2011680" cy="329184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9050">
            <a:solidFill>
              <a:srgbClr val="0A7E8C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25" name="Text 23"/>
          <p:cNvSpPr/>
          <p:nvPr/>
        </p:nvSpPr>
        <p:spPr>
          <a:xfrm>
            <a:off x="5852160" y="3291840"/>
            <a:ext cx="2011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A7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Optional</a:t>
            </a:r>
            <a:endParaRPr lang="en-US" sz="1200" dirty="0"/>
          </a:p>
        </p:txBody>
      </p:sp>
      <p:sp>
        <p:nvSpPr>
          <p:cNvPr id="26" name="Shape 24">
            <a:hlinkClick r:id="rId5"/>
          </p:cNvPr>
          <p:cNvSpPr/>
          <p:nvPr/>
        </p:nvSpPr>
        <p:spPr>
          <a:xfrm>
            <a:off x="457200" y="4297680"/>
            <a:ext cx="8229600" cy="502920"/>
          </a:xfrm>
          <a:prstGeom prst="roundRect">
            <a:avLst>
              <a:gd name="adj" fmla="val 14545"/>
            </a:avLst>
          </a:prstGeom>
          <a:solidFill>
            <a:srgbClr val="FFFFFF"/>
          </a:solidFill>
          <a:ln w="19050">
            <a:solidFill>
              <a:srgbClr val="0A7E8C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27" name="Text 25">
            <a:hlinkClick r:id="rId5"/>
          </p:cNvPr>
          <p:cNvSpPr/>
          <p:nvPr/>
        </p:nvSpPr>
        <p:spPr>
          <a:xfrm>
            <a:off x="640080" y="4297680"/>
            <a:ext cx="6400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u="sng" dirty="0">
                <a:solidFill>
                  <a:srgbClr val="0A7E8C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Download: Day-of Checklist (.docx)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7132320" y="4297680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(click to open)</a:t>
            </a:r>
            <a:endParaRPr lang="en-US" sz="1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AF8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A27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After-IOA Debrief Sheet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0" y="594360"/>
            <a:ext cx="9144000" cy="36576"/>
          </a:xfrm>
          <a:prstGeom prst="rect">
            <a:avLst/>
          </a:prstGeom>
          <a:solidFill>
            <a:srgbClr val="0A7E8C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4" name="Shape 2">
            <a:hlinkClick r:id="rId3" action="ppaction://hlinksldjump"/>
          </p:cNvPr>
          <p:cNvSpPr/>
          <p:nvPr/>
        </p:nvSpPr>
        <p:spPr>
          <a:xfrm>
            <a:off x="7863840" y="137160"/>
            <a:ext cx="502920" cy="347472"/>
          </a:xfrm>
          <a:prstGeom prst="roundRect">
            <a:avLst>
              <a:gd name="adj" fmla="val 15789"/>
            </a:avLst>
          </a:prstGeom>
          <a:solidFill>
            <a:srgbClr val="1A2744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5" name="Text 3">
            <a:hlinkClick r:id="rId3" action="ppaction://hlinksldjump"/>
          </p:cNvPr>
          <p:cNvSpPr/>
          <p:nvPr/>
        </p:nvSpPr>
        <p:spPr>
          <a:xfrm>
            <a:off x="7863840" y="137160"/>
            <a:ext cx="502920" cy="347472"/>
          </a:xfrm>
          <a:prstGeom prst="rect">
            <a:avLst/>
          </a:prstGeom>
          <a:noFill/>
          <a:ln/>
        </p:spPr>
        <p:txBody>
          <a:bodyPr wrap="square" lIns="0" tIns="0" rIns="0" bIns="38100" rtlCol="0" anchor="b"/>
          <a:lstStyle/>
          <a:p>
            <a:pPr marL="0" indent="0" algn="ctr">
              <a:buNone/>
            </a:pPr>
            <a:r>
              <a:rPr lang="en-US" sz="800" u="sng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3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index</a:t>
            </a:r>
            <a:endParaRPr lang="en-US" sz="800" dirty="0"/>
          </a:p>
        </p:txBody>
      </p:sp>
      <p:sp>
        <p:nvSpPr>
          <p:cNvPr id="6" name="Shape 4">
            <a:hlinkClick r:id="rId4" action="ppaction://hlinksldjump"/>
          </p:cNvPr>
          <p:cNvSpPr/>
          <p:nvPr/>
        </p:nvSpPr>
        <p:spPr>
          <a:xfrm>
            <a:off x="8458200" y="137160"/>
            <a:ext cx="502920" cy="347472"/>
          </a:xfrm>
          <a:prstGeom prst="roundRect">
            <a:avLst>
              <a:gd name="adj" fmla="val 15789"/>
            </a:avLst>
          </a:prstGeom>
          <a:solidFill>
            <a:srgbClr val="1A2744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7" name="Text 5">
            <a:hlinkClick r:id="rId4" action="ppaction://hlinksldjump"/>
          </p:cNvPr>
          <p:cNvSpPr/>
          <p:nvPr/>
        </p:nvSpPr>
        <p:spPr>
          <a:xfrm>
            <a:off x="8458200" y="137160"/>
            <a:ext cx="502920" cy="347472"/>
          </a:xfrm>
          <a:prstGeom prst="rect">
            <a:avLst/>
          </a:prstGeom>
          <a:noFill/>
          <a:ln/>
        </p:spPr>
        <p:txBody>
          <a:bodyPr wrap="square" lIns="0" tIns="0" rIns="0" bIns="38100" rtlCol="0" anchor="b"/>
          <a:lstStyle/>
          <a:p>
            <a:pPr marL="0" indent="0" algn="ctr">
              <a:buNone/>
            </a:pPr>
            <a:r>
              <a:rPr lang="en-US" sz="800" u="sng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4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home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457200" y="749808"/>
            <a:ext cx="1463040" cy="256032"/>
          </a:xfrm>
          <a:prstGeom prst="roundRect">
            <a:avLst>
              <a:gd name="adj" fmla="val 21429"/>
            </a:avLst>
          </a:prstGeom>
          <a:solidFill>
            <a:srgbClr val="0A7E8C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9" name="Text 7"/>
          <p:cNvSpPr/>
          <p:nvPr/>
        </p:nvSpPr>
        <p:spPr>
          <a:xfrm>
            <a:off x="457200" y="749808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457200" y="1143000"/>
            <a:ext cx="5029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structured self-reflection template for students to complete after their IOA. Captures learning insights while fresh.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1783080"/>
            <a:ext cx="5029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Purpose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57200" y="2011680"/>
            <a:ext cx="5029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Converts the assessment experience into a learning moment. Students who reflect on their performance improve in subsequent assessments.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57200" y="2834640"/>
            <a:ext cx="5029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Includes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57200" y="3090672"/>
            <a:ext cx="5029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What went well? (specific examples)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57200" y="3310128"/>
            <a:ext cx="5029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What would you do differently?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57200" y="3529584"/>
            <a:ext cx="5029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What feedback did the assessor give?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57200" y="3749040"/>
            <a:ext cx="5029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What will you focus on next?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57200" y="3968496"/>
            <a:ext cx="5029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Confidence self-rating (before vs after)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5852160" y="1143000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Suggested timing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5852160" y="1362456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Immediately post-IOA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852160" y="1691640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Audience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5852160" y="1911096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Students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5852160" y="2240280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to use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5852160" y="2459736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CloudDeakin or printed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5852160" y="3291840"/>
            <a:ext cx="2011680" cy="329184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9050">
            <a:solidFill>
              <a:srgbClr val="0A7E8C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26" name="Text 24"/>
          <p:cNvSpPr/>
          <p:nvPr/>
        </p:nvSpPr>
        <p:spPr>
          <a:xfrm>
            <a:off x="5852160" y="3291840"/>
            <a:ext cx="2011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A7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Optional</a:t>
            </a:r>
            <a:endParaRPr lang="en-US" sz="1200" dirty="0"/>
          </a:p>
        </p:txBody>
      </p:sp>
      <p:sp>
        <p:nvSpPr>
          <p:cNvPr id="27" name="Shape 25">
            <a:hlinkClick r:id="rId5"/>
          </p:cNvPr>
          <p:cNvSpPr/>
          <p:nvPr/>
        </p:nvSpPr>
        <p:spPr>
          <a:xfrm>
            <a:off x="457200" y="4297680"/>
            <a:ext cx="8229600" cy="502920"/>
          </a:xfrm>
          <a:prstGeom prst="roundRect">
            <a:avLst>
              <a:gd name="adj" fmla="val 14545"/>
            </a:avLst>
          </a:prstGeom>
          <a:solidFill>
            <a:srgbClr val="FFFFFF"/>
          </a:solidFill>
          <a:ln w="19050">
            <a:solidFill>
              <a:srgbClr val="0A7E8C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28" name="Text 26">
            <a:hlinkClick r:id="rId5"/>
          </p:cNvPr>
          <p:cNvSpPr/>
          <p:nvPr/>
        </p:nvSpPr>
        <p:spPr>
          <a:xfrm>
            <a:off x="640080" y="4297680"/>
            <a:ext cx="6400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u="sng" dirty="0">
                <a:solidFill>
                  <a:srgbClr val="0A7E8C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Download: After-IOA Debrief (.docx)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7132320" y="4297680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(click to open)</a:t>
            </a:r>
            <a:endParaRPr lang="en-US" sz="1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AF8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A27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One-Page Notes Template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0" y="594360"/>
            <a:ext cx="9144000" cy="36576"/>
          </a:xfrm>
          <a:prstGeom prst="rect">
            <a:avLst/>
          </a:prstGeom>
          <a:solidFill>
            <a:srgbClr val="0A7E8C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4" name="Shape 2">
            <a:hlinkClick r:id="rId3" action="ppaction://hlinksldjump"/>
          </p:cNvPr>
          <p:cNvSpPr/>
          <p:nvPr/>
        </p:nvSpPr>
        <p:spPr>
          <a:xfrm>
            <a:off x="7863840" y="137160"/>
            <a:ext cx="502920" cy="347472"/>
          </a:xfrm>
          <a:prstGeom prst="roundRect">
            <a:avLst>
              <a:gd name="adj" fmla="val 15789"/>
            </a:avLst>
          </a:prstGeom>
          <a:solidFill>
            <a:srgbClr val="1A2744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5" name="Text 3">
            <a:hlinkClick r:id="rId3" action="ppaction://hlinksldjump"/>
          </p:cNvPr>
          <p:cNvSpPr/>
          <p:nvPr/>
        </p:nvSpPr>
        <p:spPr>
          <a:xfrm>
            <a:off x="7863840" y="137160"/>
            <a:ext cx="502920" cy="347472"/>
          </a:xfrm>
          <a:prstGeom prst="rect">
            <a:avLst/>
          </a:prstGeom>
          <a:noFill/>
          <a:ln/>
        </p:spPr>
        <p:txBody>
          <a:bodyPr wrap="square" lIns="0" tIns="0" rIns="0" bIns="38100" rtlCol="0" anchor="b"/>
          <a:lstStyle/>
          <a:p>
            <a:pPr marL="0" indent="0" algn="ctr">
              <a:buNone/>
            </a:pPr>
            <a:r>
              <a:rPr lang="en-US" sz="800" u="sng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3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index</a:t>
            </a:r>
            <a:endParaRPr lang="en-US" sz="800" dirty="0"/>
          </a:p>
        </p:txBody>
      </p:sp>
      <p:sp>
        <p:nvSpPr>
          <p:cNvPr id="6" name="Shape 4">
            <a:hlinkClick r:id="rId4" action="ppaction://hlinksldjump"/>
          </p:cNvPr>
          <p:cNvSpPr/>
          <p:nvPr/>
        </p:nvSpPr>
        <p:spPr>
          <a:xfrm>
            <a:off x="8458200" y="137160"/>
            <a:ext cx="502920" cy="347472"/>
          </a:xfrm>
          <a:prstGeom prst="roundRect">
            <a:avLst>
              <a:gd name="adj" fmla="val 15789"/>
            </a:avLst>
          </a:prstGeom>
          <a:solidFill>
            <a:srgbClr val="1A2744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7" name="Text 5">
            <a:hlinkClick r:id="rId4" action="ppaction://hlinksldjump"/>
          </p:cNvPr>
          <p:cNvSpPr/>
          <p:nvPr/>
        </p:nvSpPr>
        <p:spPr>
          <a:xfrm>
            <a:off x="8458200" y="137160"/>
            <a:ext cx="502920" cy="347472"/>
          </a:xfrm>
          <a:prstGeom prst="rect">
            <a:avLst/>
          </a:prstGeom>
          <a:noFill/>
          <a:ln/>
        </p:spPr>
        <p:txBody>
          <a:bodyPr wrap="square" lIns="0" tIns="0" rIns="0" bIns="38100" rtlCol="0" anchor="b"/>
          <a:lstStyle/>
          <a:p>
            <a:pPr marL="0" indent="0" algn="ctr">
              <a:buNone/>
            </a:pPr>
            <a:r>
              <a:rPr lang="en-US" sz="800" u="sng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4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home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457200" y="749808"/>
            <a:ext cx="1463040" cy="256032"/>
          </a:xfrm>
          <a:prstGeom prst="roundRect">
            <a:avLst>
              <a:gd name="adj" fmla="val 21429"/>
            </a:avLst>
          </a:prstGeom>
          <a:solidFill>
            <a:srgbClr val="0A7E8C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9" name="Text 7"/>
          <p:cNvSpPr/>
          <p:nvPr/>
        </p:nvSpPr>
        <p:spPr>
          <a:xfrm>
            <a:off x="457200" y="749808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457200" y="1143000"/>
            <a:ext cx="5029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structured template for the one page of notes students are permitted to bring into their IOA (where applicable).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1783080"/>
            <a:ext cx="5029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Purpose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57200" y="2011680"/>
            <a:ext cx="5029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Having a structure for notes helps students prepare more effectively. The constraint (one page) forces prioritisation.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57200" y="2834640"/>
            <a:ext cx="5029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Includes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57200" y="3090672"/>
            <a:ext cx="5029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Key concepts section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57200" y="3310128"/>
            <a:ext cx="5029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Scenario-specific preparation notes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57200" y="3529584"/>
            <a:ext cx="5029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Quick-reference formulas or frameworks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57200" y="3749040"/>
            <a:ext cx="5029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Personal reminders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57200" y="3968496"/>
            <a:ext cx="5029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Space is deliberately limited to one A4 page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5852160" y="1143000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Suggested timing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5852160" y="1362456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Weeks 8-10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852160" y="1691640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Audience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5852160" y="1911096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Students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5852160" y="2240280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to use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5852160" y="2459736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CloudDeakin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5852160" y="3291840"/>
            <a:ext cx="2011680" cy="329184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9050">
            <a:solidFill>
              <a:srgbClr val="0A7E8C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26" name="Text 24"/>
          <p:cNvSpPr/>
          <p:nvPr/>
        </p:nvSpPr>
        <p:spPr>
          <a:xfrm>
            <a:off x="5852160" y="3291840"/>
            <a:ext cx="2011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A7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Optional</a:t>
            </a:r>
            <a:endParaRPr lang="en-US" sz="1200" dirty="0"/>
          </a:p>
        </p:txBody>
      </p:sp>
      <p:sp>
        <p:nvSpPr>
          <p:cNvPr id="27" name="Shape 25">
            <a:hlinkClick r:id="rId5"/>
          </p:cNvPr>
          <p:cNvSpPr/>
          <p:nvPr/>
        </p:nvSpPr>
        <p:spPr>
          <a:xfrm>
            <a:off x="457200" y="4297680"/>
            <a:ext cx="8229600" cy="502920"/>
          </a:xfrm>
          <a:prstGeom prst="roundRect">
            <a:avLst>
              <a:gd name="adj" fmla="val 14545"/>
            </a:avLst>
          </a:prstGeom>
          <a:solidFill>
            <a:srgbClr val="FFFFFF"/>
          </a:solidFill>
          <a:ln w="19050">
            <a:solidFill>
              <a:srgbClr val="0A7E8C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28" name="Text 26">
            <a:hlinkClick r:id="rId5"/>
          </p:cNvPr>
          <p:cNvSpPr/>
          <p:nvPr/>
        </p:nvSpPr>
        <p:spPr>
          <a:xfrm>
            <a:off x="640080" y="4297680"/>
            <a:ext cx="6400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u="sng" dirty="0">
                <a:solidFill>
                  <a:srgbClr val="0A7E8C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Download: One-Page Notes Template (.docx)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7132320" y="4297680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(click to open)</a:t>
            </a:r>
            <a:endParaRPr lang="en-US" sz="1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AF8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A27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Example IOA Design in Detail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0" y="594360"/>
            <a:ext cx="9144000" cy="36576"/>
          </a:xfrm>
          <a:prstGeom prst="rect">
            <a:avLst/>
          </a:prstGeom>
          <a:solidFill>
            <a:srgbClr val="7B2D8B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4" name="Shape 2">
            <a:hlinkClick r:id="rId3" action="ppaction://hlinksldjump"/>
          </p:cNvPr>
          <p:cNvSpPr/>
          <p:nvPr/>
        </p:nvSpPr>
        <p:spPr>
          <a:xfrm>
            <a:off x="7863840" y="137160"/>
            <a:ext cx="502920" cy="347472"/>
          </a:xfrm>
          <a:prstGeom prst="roundRect">
            <a:avLst>
              <a:gd name="adj" fmla="val 15789"/>
            </a:avLst>
          </a:prstGeom>
          <a:solidFill>
            <a:srgbClr val="1A2744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5" name="Text 3">
            <a:hlinkClick r:id="rId3" action="ppaction://hlinksldjump"/>
          </p:cNvPr>
          <p:cNvSpPr/>
          <p:nvPr/>
        </p:nvSpPr>
        <p:spPr>
          <a:xfrm>
            <a:off x="7863840" y="137160"/>
            <a:ext cx="502920" cy="347472"/>
          </a:xfrm>
          <a:prstGeom prst="rect">
            <a:avLst/>
          </a:prstGeom>
          <a:noFill/>
          <a:ln/>
        </p:spPr>
        <p:txBody>
          <a:bodyPr wrap="square" lIns="0" tIns="0" rIns="0" bIns="38100" rtlCol="0" anchor="b"/>
          <a:lstStyle/>
          <a:p>
            <a:pPr marL="0" indent="0" algn="ctr">
              <a:buNone/>
            </a:pPr>
            <a:r>
              <a:rPr lang="en-US" sz="800" u="sng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3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index</a:t>
            </a:r>
            <a:endParaRPr lang="en-US" sz="800" dirty="0"/>
          </a:p>
        </p:txBody>
      </p:sp>
      <p:sp>
        <p:nvSpPr>
          <p:cNvPr id="6" name="Shape 4">
            <a:hlinkClick r:id="rId4" action="ppaction://hlinksldjump"/>
          </p:cNvPr>
          <p:cNvSpPr/>
          <p:nvPr/>
        </p:nvSpPr>
        <p:spPr>
          <a:xfrm>
            <a:off x="8458200" y="137160"/>
            <a:ext cx="502920" cy="347472"/>
          </a:xfrm>
          <a:prstGeom prst="roundRect">
            <a:avLst>
              <a:gd name="adj" fmla="val 15789"/>
            </a:avLst>
          </a:prstGeom>
          <a:solidFill>
            <a:srgbClr val="1A2744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7" name="Text 5">
            <a:hlinkClick r:id="rId4" action="ppaction://hlinksldjump"/>
          </p:cNvPr>
          <p:cNvSpPr/>
          <p:nvPr/>
        </p:nvSpPr>
        <p:spPr>
          <a:xfrm>
            <a:off x="8458200" y="137160"/>
            <a:ext cx="502920" cy="347472"/>
          </a:xfrm>
          <a:prstGeom prst="rect">
            <a:avLst/>
          </a:prstGeom>
          <a:noFill/>
          <a:ln/>
        </p:spPr>
        <p:txBody>
          <a:bodyPr wrap="square" lIns="0" tIns="0" rIns="0" bIns="38100" rtlCol="0" anchor="b"/>
          <a:lstStyle/>
          <a:p>
            <a:pPr marL="0" indent="0" algn="ctr">
              <a:buNone/>
            </a:pPr>
            <a:r>
              <a:rPr lang="en-US" sz="800" u="sng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4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home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457200" y="749808"/>
            <a:ext cx="1463040" cy="256032"/>
          </a:xfrm>
          <a:prstGeom prst="roundRect">
            <a:avLst>
              <a:gd name="adj" fmla="val 21429"/>
            </a:avLst>
          </a:prstGeom>
          <a:solidFill>
            <a:srgbClr val="7B2D8B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9" name="Text 7"/>
          <p:cNvSpPr/>
          <p:nvPr/>
        </p:nvSpPr>
        <p:spPr>
          <a:xfrm>
            <a:off x="457200" y="749808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STAFF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457200" y="1143000"/>
            <a:ext cx="5029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complete worked example of an IOA design for SRM161 Construction Business Practice. Shows every design decision with rationale.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1783080"/>
            <a:ext cx="5029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Purpose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57200" y="2011680"/>
            <a:ext cx="5029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Seeing a fully worked example is the fastest way to understand how all the pieces fit together. Use as a starting point for your own design.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57200" y="2834640"/>
            <a:ext cx="5029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Includes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57200" y="3090672"/>
            <a:ext cx="5029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Full Sotiriadou framework walkthrough (7 steps)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57200" y="3310128"/>
            <a:ext cx="5029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ULO-CLO mapping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57200" y="3529584"/>
            <a:ext cx="5029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Two complete scenario briefs with context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57200" y="3749040"/>
            <a:ext cx="5029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Rubric with HD-Fail descriptors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57200" y="3968496"/>
            <a:ext cx="5029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Logistics calculations for 120 students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57200" y="4187952"/>
            <a:ext cx="5029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Daily schedule with timed slots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57200" y="4407408"/>
            <a:ext cx="5029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Scaffolding release timeline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852160" y="1143000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Suggested timing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5852160" y="1362456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During design phase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5852160" y="1691640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Audience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5852160" y="1911096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Staff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5852160" y="2240280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to use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5852160" y="2459736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 document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5852160" y="3291840"/>
            <a:ext cx="2011680" cy="329184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9050">
            <a:solidFill>
              <a:srgbClr val="C97A1E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28" name="Text 26"/>
          <p:cNvSpPr/>
          <p:nvPr/>
        </p:nvSpPr>
        <p:spPr>
          <a:xfrm>
            <a:off x="5852160" y="3291840"/>
            <a:ext cx="2011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C97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▲  Recommended</a:t>
            </a:r>
            <a:endParaRPr lang="en-US" sz="1200" dirty="0"/>
          </a:p>
        </p:txBody>
      </p:sp>
      <p:sp>
        <p:nvSpPr>
          <p:cNvPr id="29" name="Shape 27">
            <a:hlinkClick r:id="rId5"/>
          </p:cNvPr>
          <p:cNvSpPr/>
          <p:nvPr/>
        </p:nvSpPr>
        <p:spPr>
          <a:xfrm>
            <a:off x="457200" y="4297680"/>
            <a:ext cx="8229600" cy="502920"/>
          </a:xfrm>
          <a:prstGeom prst="roundRect">
            <a:avLst>
              <a:gd name="adj" fmla="val 14545"/>
            </a:avLst>
          </a:prstGeom>
          <a:solidFill>
            <a:srgbClr val="FFFFFF"/>
          </a:solidFill>
          <a:ln w="19050">
            <a:solidFill>
              <a:srgbClr val="7B2D8B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30" name="Text 28">
            <a:hlinkClick r:id="rId5"/>
          </p:cNvPr>
          <p:cNvSpPr/>
          <p:nvPr/>
        </p:nvSpPr>
        <p:spPr>
          <a:xfrm>
            <a:off x="640080" y="4297680"/>
            <a:ext cx="6400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u="sng" dirty="0">
                <a:solidFill>
                  <a:srgbClr val="7B2D8B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Download: Worked Example (.docx)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7132320" y="4297680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(click to open)</a:t>
            </a:r>
            <a:endParaRPr lang="en-US" sz="10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AF8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A27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Example Client Consultation Brief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0" y="594360"/>
            <a:ext cx="9144000" cy="36576"/>
          </a:xfrm>
          <a:prstGeom prst="rect">
            <a:avLst/>
          </a:prstGeom>
          <a:solidFill>
            <a:srgbClr val="7B2D8B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4" name="Shape 2">
            <a:hlinkClick r:id="rId3" action="ppaction://hlinksldjump"/>
          </p:cNvPr>
          <p:cNvSpPr/>
          <p:nvPr/>
        </p:nvSpPr>
        <p:spPr>
          <a:xfrm>
            <a:off x="7863840" y="137160"/>
            <a:ext cx="502920" cy="347472"/>
          </a:xfrm>
          <a:prstGeom prst="roundRect">
            <a:avLst>
              <a:gd name="adj" fmla="val 15789"/>
            </a:avLst>
          </a:prstGeom>
          <a:solidFill>
            <a:srgbClr val="1A2744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5" name="Text 3">
            <a:hlinkClick r:id="rId3" action="ppaction://hlinksldjump"/>
          </p:cNvPr>
          <p:cNvSpPr/>
          <p:nvPr/>
        </p:nvSpPr>
        <p:spPr>
          <a:xfrm>
            <a:off x="7863840" y="137160"/>
            <a:ext cx="502920" cy="347472"/>
          </a:xfrm>
          <a:prstGeom prst="rect">
            <a:avLst/>
          </a:prstGeom>
          <a:noFill/>
          <a:ln/>
        </p:spPr>
        <p:txBody>
          <a:bodyPr wrap="square" lIns="0" tIns="0" rIns="0" bIns="38100" rtlCol="0" anchor="b"/>
          <a:lstStyle/>
          <a:p>
            <a:pPr marL="0" indent="0" algn="ctr">
              <a:buNone/>
            </a:pPr>
            <a:r>
              <a:rPr lang="en-US" sz="800" u="sng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3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index</a:t>
            </a:r>
            <a:endParaRPr lang="en-US" sz="800" dirty="0"/>
          </a:p>
        </p:txBody>
      </p:sp>
      <p:sp>
        <p:nvSpPr>
          <p:cNvPr id="6" name="Shape 4">
            <a:hlinkClick r:id="rId4" action="ppaction://hlinksldjump"/>
          </p:cNvPr>
          <p:cNvSpPr/>
          <p:nvPr/>
        </p:nvSpPr>
        <p:spPr>
          <a:xfrm>
            <a:off x="8458200" y="137160"/>
            <a:ext cx="502920" cy="347472"/>
          </a:xfrm>
          <a:prstGeom prst="roundRect">
            <a:avLst>
              <a:gd name="adj" fmla="val 15789"/>
            </a:avLst>
          </a:prstGeom>
          <a:solidFill>
            <a:srgbClr val="1A2744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7" name="Text 5">
            <a:hlinkClick r:id="rId4" action="ppaction://hlinksldjump"/>
          </p:cNvPr>
          <p:cNvSpPr/>
          <p:nvPr/>
        </p:nvSpPr>
        <p:spPr>
          <a:xfrm>
            <a:off x="8458200" y="137160"/>
            <a:ext cx="502920" cy="347472"/>
          </a:xfrm>
          <a:prstGeom prst="rect">
            <a:avLst/>
          </a:prstGeom>
          <a:noFill/>
          <a:ln/>
        </p:spPr>
        <p:txBody>
          <a:bodyPr wrap="square" lIns="0" tIns="0" rIns="0" bIns="38100" rtlCol="0" anchor="b"/>
          <a:lstStyle/>
          <a:p>
            <a:pPr marL="0" indent="0" algn="ctr">
              <a:buNone/>
            </a:pPr>
            <a:r>
              <a:rPr lang="en-US" sz="800" u="sng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4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home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457200" y="749808"/>
            <a:ext cx="1463040" cy="256032"/>
          </a:xfrm>
          <a:prstGeom prst="roundRect">
            <a:avLst>
              <a:gd name="adj" fmla="val 21429"/>
            </a:avLst>
          </a:prstGeom>
          <a:solidFill>
            <a:srgbClr val="7B2D8B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9" name="Text 7"/>
          <p:cNvSpPr/>
          <p:nvPr/>
        </p:nvSpPr>
        <p:spPr>
          <a:xfrm>
            <a:off x="457200" y="749808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STAFF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457200" y="1143000"/>
            <a:ext cx="5029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PowerPoint-based brief showing how to set up a client consultation IOA format, including assessor role instructions.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1783080"/>
            <a:ext cx="5029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Purpose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57200" y="2011680"/>
            <a:ext cx="5029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consultation format is the most common IOA type. This example shows how to brief both students and assessors on their roles.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57200" y="2834640"/>
            <a:ext cx="5029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Includes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57200" y="3090672"/>
            <a:ext cx="5029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Client role description for assessor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57200" y="3310128"/>
            <a:ext cx="5029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Key information to reveal during conversation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57200" y="3529584"/>
            <a:ext cx="5029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Challenge/pivot points mapped to rubric criteria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57200" y="3749040"/>
            <a:ext cx="5029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Timing guide for the consultation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5852160" y="1143000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Suggested timing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5852160" y="1362456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During design phase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5852160" y="1691640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Audience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5852160" y="1911096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Staff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5852160" y="2240280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to use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5852160" y="2459736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 document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5852160" y="3291840"/>
            <a:ext cx="2011680" cy="329184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9050">
            <a:solidFill>
              <a:srgbClr val="0A7E8C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25" name="Text 23"/>
          <p:cNvSpPr/>
          <p:nvPr/>
        </p:nvSpPr>
        <p:spPr>
          <a:xfrm>
            <a:off x="5852160" y="3291840"/>
            <a:ext cx="2011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A7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Optional</a:t>
            </a:r>
            <a:endParaRPr lang="en-US" sz="1200" dirty="0"/>
          </a:p>
        </p:txBody>
      </p:sp>
      <p:sp>
        <p:nvSpPr>
          <p:cNvPr id="26" name="Shape 24">
            <a:hlinkClick r:id="rId5"/>
          </p:cNvPr>
          <p:cNvSpPr/>
          <p:nvPr/>
        </p:nvSpPr>
        <p:spPr>
          <a:xfrm>
            <a:off x="457200" y="4297680"/>
            <a:ext cx="8229600" cy="502920"/>
          </a:xfrm>
          <a:prstGeom prst="roundRect">
            <a:avLst>
              <a:gd name="adj" fmla="val 14545"/>
            </a:avLst>
          </a:prstGeom>
          <a:solidFill>
            <a:srgbClr val="FFFFFF"/>
          </a:solidFill>
          <a:ln w="19050">
            <a:solidFill>
              <a:srgbClr val="7B2D8B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27" name="Text 25">
            <a:hlinkClick r:id="rId5"/>
          </p:cNvPr>
          <p:cNvSpPr/>
          <p:nvPr/>
        </p:nvSpPr>
        <p:spPr>
          <a:xfrm>
            <a:off x="640080" y="4297680"/>
            <a:ext cx="6400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u="sng" dirty="0">
                <a:solidFill>
                  <a:srgbClr val="7B2D8B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Download: Client Consultation Brief (.pptx)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7132320" y="4297680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(click to open)</a:t>
            </a:r>
            <a:endParaRPr lang="en-US" sz="10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AF8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A27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IOA Design Guide (Web)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0" y="594360"/>
            <a:ext cx="9144000" cy="36576"/>
          </a:xfrm>
          <a:prstGeom prst="rect">
            <a:avLst/>
          </a:prstGeom>
          <a:solidFill>
            <a:srgbClr val="7B2D8B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4" name="Shape 2">
            <a:hlinkClick r:id="rId3" action="ppaction://hlinksldjump"/>
          </p:cNvPr>
          <p:cNvSpPr/>
          <p:nvPr/>
        </p:nvSpPr>
        <p:spPr>
          <a:xfrm>
            <a:off x="7863840" y="137160"/>
            <a:ext cx="502920" cy="347472"/>
          </a:xfrm>
          <a:prstGeom prst="roundRect">
            <a:avLst>
              <a:gd name="adj" fmla="val 15789"/>
            </a:avLst>
          </a:prstGeom>
          <a:solidFill>
            <a:srgbClr val="1A2744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5" name="Text 3">
            <a:hlinkClick r:id="rId3" action="ppaction://hlinksldjump"/>
          </p:cNvPr>
          <p:cNvSpPr/>
          <p:nvPr/>
        </p:nvSpPr>
        <p:spPr>
          <a:xfrm>
            <a:off x="7863840" y="137160"/>
            <a:ext cx="502920" cy="347472"/>
          </a:xfrm>
          <a:prstGeom prst="rect">
            <a:avLst/>
          </a:prstGeom>
          <a:noFill/>
          <a:ln/>
        </p:spPr>
        <p:txBody>
          <a:bodyPr wrap="square" lIns="0" tIns="0" rIns="0" bIns="38100" rtlCol="0" anchor="b"/>
          <a:lstStyle/>
          <a:p>
            <a:pPr marL="0" indent="0" algn="ctr">
              <a:buNone/>
            </a:pPr>
            <a:r>
              <a:rPr lang="en-US" sz="800" u="sng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3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index</a:t>
            </a:r>
            <a:endParaRPr lang="en-US" sz="800" dirty="0"/>
          </a:p>
        </p:txBody>
      </p:sp>
      <p:sp>
        <p:nvSpPr>
          <p:cNvPr id="6" name="Shape 4">
            <a:hlinkClick r:id="rId4" action="ppaction://hlinksldjump"/>
          </p:cNvPr>
          <p:cNvSpPr/>
          <p:nvPr/>
        </p:nvSpPr>
        <p:spPr>
          <a:xfrm>
            <a:off x="8458200" y="137160"/>
            <a:ext cx="502920" cy="347472"/>
          </a:xfrm>
          <a:prstGeom prst="roundRect">
            <a:avLst>
              <a:gd name="adj" fmla="val 15789"/>
            </a:avLst>
          </a:prstGeom>
          <a:solidFill>
            <a:srgbClr val="1A2744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7" name="Text 5">
            <a:hlinkClick r:id="rId4" action="ppaction://hlinksldjump"/>
          </p:cNvPr>
          <p:cNvSpPr/>
          <p:nvPr/>
        </p:nvSpPr>
        <p:spPr>
          <a:xfrm>
            <a:off x="8458200" y="137160"/>
            <a:ext cx="502920" cy="347472"/>
          </a:xfrm>
          <a:prstGeom prst="rect">
            <a:avLst/>
          </a:prstGeom>
          <a:noFill/>
          <a:ln/>
        </p:spPr>
        <p:txBody>
          <a:bodyPr wrap="square" lIns="0" tIns="0" rIns="0" bIns="38100" rtlCol="0" anchor="b"/>
          <a:lstStyle/>
          <a:p>
            <a:pPr marL="0" indent="0" algn="ctr">
              <a:buNone/>
            </a:pPr>
            <a:r>
              <a:rPr lang="en-US" sz="800" u="sng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4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home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457200" y="749808"/>
            <a:ext cx="1463040" cy="256032"/>
          </a:xfrm>
          <a:prstGeom prst="roundRect">
            <a:avLst>
              <a:gd name="adj" fmla="val 21429"/>
            </a:avLst>
          </a:prstGeom>
          <a:solidFill>
            <a:srgbClr val="7B2D8B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9" name="Text 7"/>
          <p:cNvSpPr/>
          <p:nvPr/>
        </p:nvSpPr>
        <p:spPr>
          <a:xfrm>
            <a:off x="457200" y="749808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STAFF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457200" y="1143000"/>
            <a:ext cx="5029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full interactive web-based design guide with fillable fields, logistics calculator, and links to all resources.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1783080"/>
            <a:ext cx="5029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Purpose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57200" y="2011680"/>
            <a:ext cx="5029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Walk through the entire IOA design process step by step. Captures your inputs and exports a design plan you can share with your teaching team.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57200" y="2834640"/>
            <a:ext cx="5029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Includes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57200" y="3090672"/>
            <a:ext cx="5029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Fit diagnostic (is IOA right for my unit?)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57200" y="3310128"/>
            <a:ext cx="5029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Sotiriadou 7-step design framework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57200" y="3529584"/>
            <a:ext cx="5029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Rubric design with worked examples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57200" y="3749040"/>
            <a:ext cx="5029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Live logistics calculator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57200" y="3968496"/>
            <a:ext cx="5029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Scaffolding release schedule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57200" y="4187952"/>
            <a:ext cx="5029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Export to text/clipboard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5852160" y="1143000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Suggested timing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5852160" y="1362456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During design phase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5852160" y="1691640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Audience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5852160" y="1911096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Staff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5852160" y="2240280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to use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5852160" y="2459736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browser / D2L / SharePoint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5852160" y="3291840"/>
            <a:ext cx="2011680" cy="329184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9050">
            <a:solidFill>
              <a:srgbClr val="C97A1E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27" name="Text 25"/>
          <p:cNvSpPr/>
          <p:nvPr/>
        </p:nvSpPr>
        <p:spPr>
          <a:xfrm>
            <a:off x="5852160" y="3291840"/>
            <a:ext cx="2011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C97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▲  Recommended</a:t>
            </a:r>
            <a:endParaRPr lang="en-US" sz="12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AF8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hlinkClick r:id="rId3" action="ppaction://hlinksldjump"/>
          </p:cNvPr>
          <p:cNvSpPr/>
          <p:nvPr/>
        </p:nvSpPr>
        <p:spPr>
          <a:xfrm>
            <a:off x="7863840" y="137160"/>
            <a:ext cx="502920" cy="347472"/>
          </a:xfrm>
          <a:prstGeom prst="roundRect">
            <a:avLst>
              <a:gd name="adj" fmla="val 15789"/>
            </a:avLst>
          </a:prstGeom>
          <a:solidFill>
            <a:srgbClr val="1A2744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3" name="Text 1">
            <a:hlinkClick r:id="rId3" action="ppaction://hlinksldjump"/>
          </p:cNvPr>
          <p:cNvSpPr/>
          <p:nvPr/>
        </p:nvSpPr>
        <p:spPr>
          <a:xfrm>
            <a:off x="7863840" y="137160"/>
            <a:ext cx="502920" cy="347472"/>
          </a:xfrm>
          <a:prstGeom prst="rect">
            <a:avLst/>
          </a:prstGeom>
          <a:noFill/>
          <a:ln/>
        </p:spPr>
        <p:txBody>
          <a:bodyPr wrap="square" lIns="0" tIns="0" rIns="0" bIns="38100" rtlCol="0" anchor="b"/>
          <a:lstStyle/>
          <a:p>
            <a:pPr marL="0" indent="0" algn="ctr">
              <a:buNone/>
            </a:pPr>
            <a:r>
              <a:rPr lang="en-US" sz="800" u="sng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3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index</a:t>
            </a:r>
            <a:endParaRPr lang="en-US" sz="800" dirty="0"/>
          </a:p>
        </p:txBody>
      </p:sp>
      <p:sp>
        <p:nvSpPr>
          <p:cNvPr id="4" name="Shape 2">
            <a:hlinkClick r:id="rId4" action="ppaction://hlinksldjump"/>
          </p:cNvPr>
          <p:cNvSpPr/>
          <p:nvPr/>
        </p:nvSpPr>
        <p:spPr>
          <a:xfrm>
            <a:off x="8458200" y="137160"/>
            <a:ext cx="502920" cy="347472"/>
          </a:xfrm>
          <a:prstGeom prst="roundRect">
            <a:avLst>
              <a:gd name="adj" fmla="val 15789"/>
            </a:avLst>
          </a:prstGeom>
          <a:solidFill>
            <a:srgbClr val="1A2744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5" name="Text 3">
            <a:hlinkClick r:id="rId4" action="ppaction://hlinksldjump"/>
          </p:cNvPr>
          <p:cNvSpPr/>
          <p:nvPr/>
        </p:nvSpPr>
        <p:spPr>
          <a:xfrm>
            <a:off x="8458200" y="137160"/>
            <a:ext cx="502920" cy="347472"/>
          </a:xfrm>
          <a:prstGeom prst="rect">
            <a:avLst/>
          </a:prstGeom>
          <a:noFill/>
          <a:ln/>
        </p:spPr>
        <p:txBody>
          <a:bodyPr wrap="square" lIns="0" tIns="0" rIns="0" bIns="38100" rtlCol="0" anchor="b"/>
          <a:lstStyle/>
          <a:p>
            <a:pPr marL="0" indent="0" algn="ctr">
              <a:buNone/>
            </a:pPr>
            <a:r>
              <a:rPr lang="en-US" sz="800" u="sng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4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home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0" y="594360"/>
            <a:ext cx="9144000" cy="36576"/>
          </a:xfrm>
          <a:prstGeom prst="rect">
            <a:avLst/>
          </a:prstGeom>
          <a:solidFill>
            <a:srgbClr val="C97A1E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7" name="Shape 5"/>
          <p:cNvSpPr/>
          <p:nvPr/>
        </p:nvSpPr>
        <p:spPr>
          <a:xfrm>
            <a:off x="457200" y="749808"/>
            <a:ext cx="1463040" cy="256032"/>
          </a:xfrm>
          <a:prstGeom prst="roundRect">
            <a:avLst>
              <a:gd name="adj" fmla="val 21429"/>
            </a:avLst>
          </a:prstGeom>
          <a:solidFill>
            <a:srgbClr val="C97A1E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8" name="Text 6"/>
          <p:cNvSpPr/>
          <p:nvPr/>
        </p:nvSpPr>
        <p:spPr>
          <a:xfrm>
            <a:off x="457200" y="749808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457200" y="137160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A27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Logistics Calculator</a:t>
            </a:r>
            <a:endParaRPr lang="en-US" sz="2800" dirty="0"/>
          </a:p>
        </p:txBody>
      </p:sp>
      <p:graphicFrame>
        <p:nvGraphicFramePr>
          <p:cNvPr id="2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43000"/>
          <a:ext cx="4114800" cy="914400"/>
        </p:xfrm>
        <a:graphic>
          <a:graphicData uri="http://schemas.openxmlformats.org/drawingml/2006/table">
            <a:tbl>
              <a:tblPr/>
              <a:tblGrid>
                <a:gridCol w="2743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Activity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F5F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5F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5F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5F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97A1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Time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F5F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5F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5F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5F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97A1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Student enters, ID check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F5F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5F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5F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5F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 min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F5F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5F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5F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5F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IOA conversation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F5F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5F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5F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5F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0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10-15 min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F5F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5F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5F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5F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0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Verbal feedback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F5F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5F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5F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5F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 min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F5F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5F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5F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5F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Student exits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F5F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5F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5F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5F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0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min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F5F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5F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5F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5F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0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Assessor completes rating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F5F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5F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5F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5F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 min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F5F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5F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5F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5F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Buffer / reset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F5F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5F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5F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5F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0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 min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F5F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5F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5F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5F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0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9E5F1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 per slot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F5F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5F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5F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5F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3E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9E5F1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23-28 min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F5F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5F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5F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5F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3E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graphicFrame>
        <p:nvGraphicFramePr>
          <p:cNvPr id="47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3291840"/>
          <a:ext cx="8229600" cy="914400"/>
        </p:xfrm>
        <a:graphic>
          <a:graphicData uri="http://schemas.openxmlformats.org/drawingml/2006/table">
            <a:tbl>
              <a:tblPr/>
              <a:tblGrid>
                <a:gridCol w="1371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1148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IOA duration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F5F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5F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5F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5F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97A1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Slot time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F5F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5F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5F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5F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97A1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 day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F5F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5F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5F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5F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97A1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For 120 students (4 assessors)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F5F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5F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5F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5F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97A1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 min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F5F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5F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5F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5F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23 min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F5F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5F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5F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5F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16-18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F5F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5F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5F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5F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 days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F5F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5F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5F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5F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 min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F5F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5F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5F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5F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0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 min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F5F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5F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5F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5F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0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14-16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F5F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5F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5F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5F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0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2-2.5 days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F5F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5F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5F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5F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0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 min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F5F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5F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5F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5F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28 min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F5F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5F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5F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5F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12-14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F5F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5F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5F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5F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2.5-3 days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F5F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5F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5F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5F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 min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F5F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5F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5F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5F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0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33 min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F5F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5F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5F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5F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0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10-12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F5F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5F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5F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5F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0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3-4 days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F5F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5F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5F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5F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0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2" name="Text 8"/>
          <p:cNvSpPr/>
          <p:nvPr/>
        </p:nvSpPr>
        <p:spPr>
          <a:xfrm>
            <a:off x="5029200" y="11430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Duration Equivalence</a:t>
            </a:r>
            <a:endParaRPr lang="en-US" sz="1400" dirty="0"/>
          </a:p>
        </p:txBody>
      </p:sp>
      <p:graphicFrame>
        <p:nvGraphicFramePr>
          <p:cNvPr id="70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0" y="1463040"/>
          <a:ext cx="3657600" cy="914400"/>
        </p:xfrm>
        <a:graphic>
          <a:graphicData uri="http://schemas.openxmlformats.org/drawingml/2006/table">
            <a:tbl>
              <a:tblPr/>
              <a:tblGrid>
                <a:gridCol w="2011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Written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F5F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5F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5F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5F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7E8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IOA duration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F5F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5F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5F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5F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7E8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~1,000 words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F5F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5F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5F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5F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 min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F5F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5F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5F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5F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~1,500 words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F5F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5F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5F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5F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10-12 min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F5F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5F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5F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5F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~3,000-4,000 words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F5F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5F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5F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5F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 min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F5F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5F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5F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5F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~4,500+ / capstone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F5F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5F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5F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5F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20+ min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F5F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5F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5F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5F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4" name="Text 9"/>
          <p:cNvSpPr/>
          <p:nvPr/>
        </p:nvSpPr>
        <p:spPr>
          <a:xfrm>
            <a:off x="5029200" y="2697480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Sources: Dean 2025; Foley et al. 2024; Colvin &amp; Gaffey 2024</a:t>
            </a:r>
            <a:endParaRPr lang="en-US" sz="9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AF8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hlinkClick r:id="rId3" action="ppaction://hlinksldjump"/>
          </p:cNvPr>
          <p:cNvSpPr/>
          <p:nvPr/>
        </p:nvSpPr>
        <p:spPr>
          <a:xfrm>
            <a:off x="7863840" y="137160"/>
            <a:ext cx="502920" cy="347472"/>
          </a:xfrm>
          <a:prstGeom prst="roundRect">
            <a:avLst>
              <a:gd name="adj" fmla="val 15789"/>
            </a:avLst>
          </a:prstGeom>
          <a:solidFill>
            <a:srgbClr val="1A2744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3" name="Text 1">
            <a:hlinkClick r:id="rId3" action="ppaction://hlinksldjump"/>
          </p:cNvPr>
          <p:cNvSpPr/>
          <p:nvPr/>
        </p:nvSpPr>
        <p:spPr>
          <a:xfrm>
            <a:off x="7863840" y="137160"/>
            <a:ext cx="502920" cy="347472"/>
          </a:xfrm>
          <a:prstGeom prst="rect">
            <a:avLst/>
          </a:prstGeom>
          <a:noFill/>
          <a:ln/>
        </p:spPr>
        <p:txBody>
          <a:bodyPr wrap="square" lIns="0" tIns="0" rIns="0" bIns="38100" rtlCol="0" anchor="b"/>
          <a:lstStyle/>
          <a:p>
            <a:pPr marL="0" indent="0" algn="ctr">
              <a:buNone/>
            </a:pPr>
            <a:r>
              <a:rPr lang="en-US" sz="800" u="sng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3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index</a:t>
            </a:r>
            <a:endParaRPr lang="en-US" sz="800" dirty="0"/>
          </a:p>
        </p:txBody>
      </p:sp>
      <p:sp>
        <p:nvSpPr>
          <p:cNvPr id="4" name="Shape 2">
            <a:hlinkClick r:id="rId4" action="ppaction://hlinksldjump"/>
          </p:cNvPr>
          <p:cNvSpPr/>
          <p:nvPr/>
        </p:nvSpPr>
        <p:spPr>
          <a:xfrm>
            <a:off x="8458200" y="137160"/>
            <a:ext cx="502920" cy="347472"/>
          </a:xfrm>
          <a:prstGeom prst="roundRect">
            <a:avLst>
              <a:gd name="adj" fmla="val 15789"/>
            </a:avLst>
          </a:prstGeom>
          <a:solidFill>
            <a:srgbClr val="1A2744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5" name="Text 3">
            <a:hlinkClick r:id="rId4" action="ppaction://hlinksldjump"/>
          </p:cNvPr>
          <p:cNvSpPr/>
          <p:nvPr/>
        </p:nvSpPr>
        <p:spPr>
          <a:xfrm>
            <a:off x="8458200" y="137160"/>
            <a:ext cx="502920" cy="347472"/>
          </a:xfrm>
          <a:prstGeom prst="rect">
            <a:avLst/>
          </a:prstGeom>
          <a:noFill/>
          <a:ln/>
        </p:spPr>
        <p:txBody>
          <a:bodyPr wrap="square" lIns="0" tIns="0" rIns="0" bIns="38100" rtlCol="0" anchor="b"/>
          <a:lstStyle/>
          <a:p>
            <a:pPr marL="0" indent="0" algn="ctr">
              <a:buNone/>
            </a:pPr>
            <a:r>
              <a:rPr lang="en-US" sz="800" u="sng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4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home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0" y="594360"/>
            <a:ext cx="9144000" cy="36576"/>
          </a:xfrm>
          <a:prstGeom prst="rect">
            <a:avLst/>
          </a:prstGeom>
          <a:solidFill>
            <a:srgbClr val="C97A1E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7" name="Shape 5"/>
          <p:cNvSpPr/>
          <p:nvPr/>
        </p:nvSpPr>
        <p:spPr>
          <a:xfrm>
            <a:off x="457200" y="749808"/>
            <a:ext cx="1463040" cy="256032"/>
          </a:xfrm>
          <a:prstGeom prst="roundRect">
            <a:avLst>
              <a:gd name="adj" fmla="val 21429"/>
            </a:avLst>
          </a:prstGeom>
          <a:solidFill>
            <a:srgbClr val="C97A1E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8" name="Text 6"/>
          <p:cNvSpPr/>
          <p:nvPr/>
        </p:nvSpPr>
        <p:spPr>
          <a:xfrm>
            <a:off x="457200" y="749808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457200" y="137160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A27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Evidence Base</a:t>
            </a:r>
            <a:endParaRPr lang="en-US" sz="2800" dirty="0"/>
          </a:p>
        </p:txBody>
      </p:sp>
      <p:sp>
        <p:nvSpPr>
          <p:cNvPr id="10" name="Shape 8"/>
          <p:cNvSpPr/>
          <p:nvPr/>
        </p:nvSpPr>
        <p:spPr>
          <a:xfrm>
            <a:off x="457200" y="1143000"/>
            <a:ext cx="1645920" cy="438912"/>
          </a:xfrm>
          <a:prstGeom prst="roundRect">
            <a:avLst>
              <a:gd name="adj" fmla="val 12500"/>
            </a:avLst>
          </a:prstGeom>
          <a:solidFill>
            <a:srgbClr val="0A7E8C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11" name="Text 9"/>
          <p:cNvSpPr/>
          <p:nvPr/>
        </p:nvSpPr>
        <p:spPr>
          <a:xfrm>
            <a:off x="457200" y="1143000"/>
            <a:ext cx="1645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~4,000 words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2286000" y="1143000"/>
            <a:ext cx="47548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10-min IOA generates equivalent of ~4,000 written words of assessable content.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7132320" y="1143000"/>
            <a:ext cx="1645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Colvin &amp; Gaffey 2024; Sotiriadou &amp; Logan-Fleming 2025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457200" y="1691640"/>
            <a:ext cx="1645920" cy="438912"/>
          </a:xfrm>
          <a:prstGeom prst="roundRect">
            <a:avLst>
              <a:gd name="adj" fmla="val 12500"/>
            </a:avLst>
          </a:prstGeom>
          <a:solidFill>
            <a:srgbClr val="0A7E8C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15" name="Text 13"/>
          <p:cNvSpPr/>
          <p:nvPr/>
        </p:nvSpPr>
        <p:spPr>
          <a:xfrm>
            <a:off x="457200" y="1691640"/>
            <a:ext cx="1645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60% less marking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2286000" y="1691640"/>
            <a:ext cx="47548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 to 60% reduction in total marking time — assessment and feedback happen simultaneously.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7132320" y="1691640"/>
            <a:ext cx="1645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Shaeri et al.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457200" y="2240280"/>
            <a:ext cx="1645920" cy="438912"/>
          </a:xfrm>
          <a:prstGeom prst="roundRect">
            <a:avLst>
              <a:gd name="adj" fmla="val 12500"/>
            </a:avLst>
          </a:prstGeom>
          <a:solidFill>
            <a:srgbClr val="0A7E8C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19" name="Text 17"/>
          <p:cNvSpPr/>
          <p:nvPr/>
        </p:nvSpPr>
        <p:spPr>
          <a:xfrm>
            <a:off x="457200" y="2240280"/>
            <a:ext cx="1645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+19% attendance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2286000" y="2240280"/>
            <a:ext cx="47548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Units using IOAs saw 19% improvement in student engagement and attendance.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7132320" y="2240280"/>
            <a:ext cx="1645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Shaeri et al.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457200" y="2788920"/>
            <a:ext cx="1645920" cy="438912"/>
          </a:xfrm>
          <a:prstGeom prst="roundRect">
            <a:avLst>
              <a:gd name="adj" fmla="val 12500"/>
            </a:avLst>
          </a:prstGeom>
          <a:solidFill>
            <a:srgbClr val="0A7E8C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23" name="Text 21"/>
          <p:cNvSpPr/>
          <p:nvPr/>
        </p:nvSpPr>
        <p:spPr>
          <a:xfrm>
            <a:off x="457200" y="2788920"/>
            <a:ext cx="1645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 equity gaps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2286000" y="2788920"/>
            <a:ext cx="47548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significant differences across gender, language background, or socioeconomic status.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7132320" y="2788920"/>
            <a:ext cx="1645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Davey et al. 2025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457200" y="3337560"/>
            <a:ext cx="1645920" cy="438912"/>
          </a:xfrm>
          <a:prstGeom prst="roundRect">
            <a:avLst>
              <a:gd name="adj" fmla="val 12500"/>
            </a:avLst>
          </a:prstGeom>
          <a:solidFill>
            <a:srgbClr val="0A7E8C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27" name="Text 25"/>
          <p:cNvSpPr/>
          <p:nvPr/>
        </p:nvSpPr>
        <p:spPr>
          <a:xfrm>
            <a:off x="457200" y="3337560"/>
            <a:ext cx="1645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800+ students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2286000" y="3337560"/>
            <a:ext cx="47548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Scaled successfully with parallel scheduling and trained sessional markers.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7132320" y="3337560"/>
            <a:ext cx="1645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Griffith University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457200" y="3886200"/>
            <a:ext cx="1645920" cy="438912"/>
          </a:xfrm>
          <a:prstGeom prst="roundRect">
            <a:avLst>
              <a:gd name="adj" fmla="val 12500"/>
            </a:avLst>
          </a:prstGeom>
          <a:solidFill>
            <a:srgbClr val="0A7E8C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31" name="Text 29"/>
          <p:cNvSpPr/>
          <p:nvPr/>
        </p:nvSpPr>
        <p:spPr>
          <a:xfrm>
            <a:off x="457200" y="3886200"/>
            <a:ext cx="1645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Integrity-proof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2286000" y="3886200"/>
            <a:ext cx="47548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tools, contract cheating, and plagiarism are not viable strategies for live conversations.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7132320" y="3886200"/>
            <a:ext cx="1645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Ward 2024; Sotiriadou 2020</a:t>
            </a:r>
            <a:endParaRPr lang="en-US" sz="9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AF8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A27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Rubric Design Framework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0" y="594360"/>
            <a:ext cx="9144000" cy="36576"/>
          </a:xfrm>
          <a:prstGeom prst="rect">
            <a:avLst/>
          </a:prstGeom>
          <a:solidFill>
            <a:srgbClr val="C97A1E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4" name="Shape 2">
            <a:hlinkClick r:id="rId3" action="ppaction://hlinksldjump"/>
          </p:cNvPr>
          <p:cNvSpPr/>
          <p:nvPr/>
        </p:nvSpPr>
        <p:spPr>
          <a:xfrm>
            <a:off x="7863840" y="137160"/>
            <a:ext cx="502920" cy="347472"/>
          </a:xfrm>
          <a:prstGeom prst="roundRect">
            <a:avLst>
              <a:gd name="adj" fmla="val 15789"/>
            </a:avLst>
          </a:prstGeom>
          <a:solidFill>
            <a:srgbClr val="1A2744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5" name="Text 3">
            <a:hlinkClick r:id="rId3" action="ppaction://hlinksldjump"/>
          </p:cNvPr>
          <p:cNvSpPr/>
          <p:nvPr/>
        </p:nvSpPr>
        <p:spPr>
          <a:xfrm>
            <a:off x="7863840" y="137160"/>
            <a:ext cx="502920" cy="347472"/>
          </a:xfrm>
          <a:prstGeom prst="rect">
            <a:avLst/>
          </a:prstGeom>
          <a:noFill/>
          <a:ln/>
        </p:spPr>
        <p:txBody>
          <a:bodyPr wrap="square" lIns="0" tIns="0" rIns="0" bIns="38100" rtlCol="0" anchor="b"/>
          <a:lstStyle/>
          <a:p>
            <a:pPr marL="0" indent="0" algn="ctr">
              <a:buNone/>
            </a:pPr>
            <a:r>
              <a:rPr lang="en-US" sz="800" u="sng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3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index</a:t>
            </a:r>
            <a:endParaRPr lang="en-US" sz="800" dirty="0"/>
          </a:p>
        </p:txBody>
      </p:sp>
      <p:sp>
        <p:nvSpPr>
          <p:cNvPr id="6" name="Shape 4">
            <a:hlinkClick r:id="rId4" action="ppaction://hlinksldjump"/>
          </p:cNvPr>
          <p:cNvSpPr/>
          <p:nvPr/>
        </p:nvSpPr>
        <p:spPr>
          <a:xfrm>
            <a:off x="8458200" y="137160"/>
            <a:ext cx="502920" cy="347472"/>
          </a:xfrm>
          <a:prstGeom prst="roundRect">
            <a:avLst>
              <a:gd name="adj" fmla="val 15789"/>
            </a:avLst>
          </a:prstGeom>
          <a:solidFill>
            <a:srgbClr val="1A2744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7" name="Text 5">
            <a:hlinkClick r:id="rId4" action="ppaction://hlinksldjump"/>
          </p:cNvPr>
          <p:cNvSpPr/>
          <p:nvPr/>
        </p:nvSpPr>
        <p:spPr>
          <a:xfrm>
            <a:off x="8458200" y="137160"/>
            <a:ext cx="502920" cy="347472"/>
          </a:xfrm>
          <a:prstGeom prst="rect">
            <a:avLst/>
          </a:prstGeom>
          <a:noFill/>
          <a:ln/>
        </p:spPr>
        <p:txBody>
          <a:bodyPr wrap="square" lIns="0" tIns="0" rIns="0" bIns="38100" rtlCol="0" anchor="b"/>
          <a:lstStyle/>
          <a:p>
            <a:pPr marL="0" indent="0" algn="ctr">
              <a:buNone/>
            </a:pPr>
            <a:r>
              <a:rPr lang="en-US" sz="800" u="sng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4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home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457200" y="749808"/>
            <a:ext cx="1463040" cy="256032"/>
          </a:xfrm>
          <a:prstGeom prst="roundRect">
            <a:avLst>
              <a:gd name="adj" fmla="val 21429"/>
            </a:avLst>
          </a:prstGeom>
          <a:solidFill>
            <a:srgbClr val="C97A1E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9" name="Text 7"/>
          <p:cNvSpPr/>
          <p:nvPr/>
        </p:nvSpPr>
        <p:spPr>
          <a:xfrm>
            <a:off x="457200" y="749808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457200" y="1143000"/>
            <a:ext cx="5029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step-by-step process for designing IOA rubrics that assess thinking depth, not speaking fluency.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1783080"/>
            <a:ext cx="5029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Purpose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57200" y="2011680"/>
            <a:ext cx="5029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rubric is the most important design element. A well-designed rubric makes marking faster, more consistent, and fairer. The 6-question process ensures your rubric is feedback-ready.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57200" y="2834640"/>
            <a:ext cx="5029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Includes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57200" y="3090672"/>
            <a:ext cx="5029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Key principle: Assess THINKING, not SPEAKING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57200" y="3310128"/>
            <a:ext cx="5029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6-question design process (HD → Fail → fill between)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57200" y="3529584"/>
            <a:ext cx="5029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Common criteria: content accuracy, reasoning depth, application, adaptability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57200" y="3749040"/>
            <a:ext cx="5029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When to include professional communication (only if explicit LO)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57200" y="3968496"/>
            <a:ext cx="5029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Bloom's x SOLO matrix for choosing verbs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57200" y="4187952"/>
            <a:ext cx="5029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3-4 criteria maximum (each distinguishable at pass/fail boundary)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5852160" y="1143000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Suggested timing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5852160" y="1362456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During design phase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5852160" y="1691640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Audience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5852160" y="1911096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Staff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5852160" y="2240280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to use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5852160" y="2459736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 document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5852160" y="3291840"/>
            <a:ext cx="2011680" cy="329184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9050">
            <a:solidFill>
              <a:srgbClr val="D94F4F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27" name="Text 25"/>
          <p:cNvSpPr/>
          <p:nvPr/>
        </p:nvSpPr>
        <p:spPr>
          <a:xfrm>
            <a:off x="5852160" y="3291840"/>
            <a:ext cx="2011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D94F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■  Essential</a:t>
            </a:r>
            <a:endParaRPr lang="en-US" sz="1200" dirty="0"/>
          </a:p>
        </p:txBody>
      </p:sp>
      <p:sp>
        <p:nvSpPr>
          <p:cNvPr id="28" name="Shape 26">
            <a:hlinkClick r:id="rId5"/>
          </p:cNvPr>
          <p:cNvSpPr/>
          <p:nvPr/>
        </p:nvSpPr>
        <p:spPr>
          <a:xfrm>
            <a:off x="457200" y="4297680"/>
            <a:ext cx="8229600" cy="502920"/>
          </a:xfrm>
          <a:prstGeom prst="roundRect">
            <a:avLst>
              <a:gd name="adj" fmla="val 14545"/>
            </a:avLst>
          </a:prstGeom>
          <a:solidFill>
            <a:srgbClr val="FFFFFF"/>
          </a:solidFill>
          <a:ln w="19050">
            <a:solidFill>
              <a:srgbClr val="C97A1E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29" name="Text 27">
            <a:hlinkClick r:id="rId5"/>
          </p:cNvPr>
          <p:cNvSpPr/>
          <p:nvPr/>
        </p:nvSpPr>
        <p:spPr>
          <a:xfrm>
            <a:off x="640080" y="4297680"/>
            <a:ext cx="6400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u="sng" dirty="0">
                <a:solidFill>
                  <a:srgbClr val="C97A1E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Download: Example Rubric (.docx)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7132320" y="4297680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(click to open)</a:t>
            </a:r>
            <a:endParaRPr lang="en-US" sz="10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5F0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hlinkClick r:id="rId3" action="ppaction://hlinksldjump"/>
          </p:cNvPr>
          <p:cNvSpPr/>
          <p:nvPr/>
        </p:nvSpPr>
        <p:spPr>
          <a:xfrm>
            <a:off x="7863840" y="137160"/>
            <a:ext cx="502920" cy="347472"/>
          </a:xfrm>
          <a:prstGeom prst="roundRect">
            <a:avLst>
              <a:gd name="adj" fmla="val 15789"/>
            </a:avLst>
          </a:prstGeom>
          <a:solidFill>
            <a:srgbClr val="1A2744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3" name="Text 1">
            <a:hlinkClick r:id="rId3" action="ppaction://hlinksldjump"/>
          </p:cNvPr>
          <p:cNvSpPr/>
          <p:nvPr/>
        </p:nvSpPr>
        <p:spPr>
          <a:xfrm>
            <a:off x="7863840" y="137160"/>
            <a:ext cx="502920" cy="347472"/>
          </a:xfrm>
          <a:prstGeom prst="rect">
            <a:avLst/>
          </a:prstGeom>
          <a:noFill/>
          <a:ln/>
        </p:spPr>
        <p:txBody>
          <a:bodyPr wrap="square" lIns="0" tIns="0" rIns="0" bIns="38100" rtlCol="0" anchor="b"/>
          <a:lstStyle/>
          <a:p>
            <a:pPr marL="0" indent="0" algn="ctr">
              <a:buNone/>
            </a:pPr>
            <a:r>
              <a:rPr lang="en-US" sz="800" u="sng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3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index</a:t>
            </a:r>
            <a:endParaRPr lang="en-US" sz="800" dirty="0"/>
          </a:p>
        </p:txBody>
      </p:sp>
      <p:sp>
        <p:nvSpPr>
          <p:cNvPr id="4" name="Shape 2">
            <a:hlinkClick r:id="rId4" action="ppaction://hlinksldjump"/>
          </p:cNvPr>
          <p:cNvSpPr/>
          <p:nvPr/>
        </p:nvSpPr>
        <p:spPr>
          <a:xfrm>
            <a:off x="8458200" y="137160"/>
            <a:ext cx="502920" cy="347472"/>
          </a:xfrm>
          <a:prstGeom prst="roundRect">
            <a:avLst>
              <a:gd name="adj" fmla="val 15789"/>
            </a:avLst>
          </a:prstGeom>
          <a:solidFill>
            <a:srgbClr val="1A2744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5" name="Text 3">
            <a:hlinkClick r:id="rId4" action="ppaction://hlinksldjump"/>
          </p:cNvPr>
          <p:cNvSpPr/>
          <p:nvPr/>
        </p:nvSpPr>
        <p:spPr>
          <a:xfrm>
            <a:off x="8458200" y="137160"/>
            <a:ext cx="502920" cy="347472"/>
          </a:xfrm>
          <a:prstGeom prst="rect">
            <a:avLst/>
          </a:prstGeom>
          <a:noFill/>
          <a:ln/>
        </p:spPr>
        <p:txBody>
          <a:bodyPr wrap="square" lIns="0" tIns="0" rIns="0" bIns="38100" rtlCol="0" anchor="b"/>
          <a:lstStyle/>
          <a:p>
            <a:pPr marL="0" indent="0" algn="ctr">
              <a:buNone/>
            </a:pPr>
            <a:r>
              <a:rPr lang="en-US" sz="800" u="sng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4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home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457200" y="13716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A27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Sources &amp; Links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0" y="594360"/>
            <a:ext cx="9144000" cy="36576"/>
          </a:xfrm>
          <a:prstGeom prst="rect">
            <a:avLst/>
          </a:prstGeom>
          <a:solidFill>
            <a:srgbClr val="1A2744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8" name="Text 6"/>
          <p:cNvSpPr/>
          <p:nvPr/>
        </p:nvSpPr>
        <p:spPr>
          <a:xfrm>
            <a:off x="457200" y="8229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Sotiriadou, P. et al. (2020). The role of authentic assessment to preserve academic integrity. Studies in Higher Education, 45(11).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57200" y="11887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Sotiriadou, P. &amp; Logan-Fleming, D. (2025). Harnessing the potential of interactive oral assessments. Springer.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57200" y="15544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Colvin, E. &amp; Gaffey, J. (2024). Implementing interactive oral assessment in criminal justice. J. Criminal Justice Education, 35(3).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57200" y="19202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Davey, S.K. et al. (2025). Utilising one-on-one interactive oral assessments. Assessment &amp; Evaluation in HE.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57200" y="22860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Ward, S. (2024). Interactive oral assessment case studies. Innovations in Education, 61(5).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57200" y="26517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Dean, B. (2025). Oral assessment design. Literature review.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7200" y="30175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Foley, B. et al. (2024). Scaling oral assessment. Conference proceedings.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57200" y="35661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resources:</a:t>
            </a:r>
            <a:endParaRPr lang="en-US" sz="1300" dirty="0"/>
          </a:p>
        </p:txBody>
      </p:sp>
      <p:sp>
        <p:nvSpPr>
          <p:cNvPr id="16" name="Text 14">
            <a:hlinkClick r:id="rId5"/>
          </p:cNvPr>
          <p:cNvSpPr/>
          <p:nvPr/>
        </p:nvSpPr>
        <p:spPr>
          <a:xfrm>
            <a:off x="640080" y="384048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u="sng" dirty="0">
                <a:solidFill>
                  <a:srgbClr val="0A7E8C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SEBE Interactive Assessment Playbook</a:t>
            </a:r>
            <a:endParaRPr lang="en-US" sz="1100" dirty="0"/>
          </a:p>
        </p:txBody>
      </p:sp>
      <p:sp>
        <p:nvSpPr>
          <p:cNvPr id="17" name="Text 15">
            <a:hlinkClick r:id="rId6"/>
          </p:cNvPr>
          <p:cNvSpPr/>
          <p:nvPr/>
        </p:nvSpPr>
        <p:spPr>
          <a:xfrm>
            <a:off x="640080" y="411480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u="sng" dirty="0">
                <a:solidFill>
                  <a:srgbClr val="0A7E8C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SEBE IOA FAQ</a:t>
            </a:r>
            <a:endParaRPr lang="en-US" sz="1100" dirty="0"/>
          </a:p>
        </p:txBody>
      </p:sp>
      <p:sp>
        <p:nvSpPr>
          <p:cNvPr id="18" name="Text 16">
            <a:hlinkClick r:id="rId7"/>
          </p:cNvPr>
          <p:cNvSpPr/>
          <p:nvPr/>
        </p:nvSpPr>
        <p:spPr>
          <a:xfrm>
            <a:off x="640080" y="438912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u="sng" dirty="0">
                <a:solidFill>
                  <a:srgbClr val="0A7E8C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7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IOA Interactive Guide (comprehensive)</a:t>
            </a:r>
            <a:endParaRPr lang="en-US" sz="1100" dirty="0"/>
          </a:p>
        </p:txBody>
      </p:sp>
      <p:sp>
        <p:nvSpPr>
          <p:cNvPr id="19" name="Text 17">
            <a:hlinkClick r:id="rId8"/>
          </p:cNvPr>
          <p:cNvSpPr/>
          <p:nvPr/>
        </p:nvSpPr>
        <p:spPr>
          <a:xfrm>
            <a:off x="640080" y="466344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u="sng" dirty="0">
                <a:solidFill>
                  <a:srgbClr val="0A7E8C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8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IOA Interactive Guide (basic)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5029200" y="35661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design coaches:</a:t>
            </a:r>
            <a:endParaRPr lang="en-US" sz="1300" dirty="0"/>
          </a:p>
        </p:txBody>
      </p:sp>
      <p:sp>
        <p:nvSpPr>
          <p:cNvPr id="21" name="Text 19">
            <a:hlinkClick r:id="rId9"/>
          </p:cNvPr>
          <p:cNvSpPr/>
          <p:nvPr/>
        </p:nvSpPr>
        <p:spPr>
          <a:xfrm>
            <a:off x="5212080" y="384048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u="sng" dirty="0">
                <a:solidFill>
                  <a:srgbClr val="2D8659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9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IOA Design Coach (Cogniti)</a:t>
            </a:r>
            <a:endParaRPr lang="en-US" sz="1100" dirty="0"/>
          </a:p>
        </p:txBody>
      </p:sp>
      <p:sp>
        <p:nvSpPr>
          <p:cNvPr id="22" name="Text 20">
            <a:hlinkClick r:id="rId10"/>
          </p:cNvPr>
          <p:cNvSpPr/>
          <p:nvPr/>
        </p:nvSpPr>
        <p:spPr>
          <a:xfrm>
            <a:off x="5212080" y="411480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u="sng" dirty="0">
                <a:solidFill>
                  <a:srgbClr val="2D8659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IOA Design Guide (ChatGPT)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2766</Words>
  <Application>Microsoft Macintosh PowerPoint</Application>
  <PresentationFormat>On-screen Show (16:9)</PresentationFormat>
  <Paragraphs>577</Paragraphs>
  <Slides>26</Slides>
  <Notes>26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30" baseType="lpstr">
      <vt:lpstr>Arial</vt:lpstr>
      <vt:lpstr>Calibri</vt:lpstr>
      <vt:lpstr>Georgia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IOA Resource Cards</dc:title>
  <dc:subject>PptxGenJS Presentation</dc:subject>
  <dc:creator>IOA Project Team</dc:creator>
  <cp:lastModifiedBy>Elizabeth Black</cp:lastModifiedBy>
  <cp:revision>1</cp:revision>
  <dcterms:created xsi:type="dcterms:W3CDTF">2026-02-11T03:05:15Z</dcterms:created>
  <dcterms:modified xsi:type="dcterms:W3CDTF">2026-02-11T04:09:53Z</dcterms:modified>
</cp:coreProperties>
</file>