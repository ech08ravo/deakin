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Aptos SemiBold" panose="020B0004020202020204" pitchFamily="34" charset="0"/>
      <p:regular r:id="rId13"/>
      <p:bold r:id="rId14"/>
      <p:italic r:id="rId15"/>
      <p:boldItalic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497"/>
    <p:restoredTop sz="94610"/>
  </p:normalViewPr>
  <p:slideViewPr>
    <p:cSldViewPr snapToGrid="0" snapToObjects="1">
      <p:cViewPr varScale="1">
        <p:scale>
          <a:sx n="78" d="100"/>
          <a:sy n="78" d="100"/>
        </p:scale>
        <p:origin x="184" y="9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03866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sv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844993"/>
            <a:ext cx="7556421" cy="1860233"/>
          </a:xfrm>
          <a:prstGeom prst="rect">
            <a:avLst/>
          </a:prstGeom>
          <a:noFill/>
          <a:ln/>
        </p:spPr>
        <p:txBody>
          <a:bodyPr wrap="square" lIns="0" tIns="0" rIns="0" bIns="0" rtlCol="0" anchor="t"/>
          <a:lstStyle/>
          <a:p>
            <a:pPr marL="0" indent="0" algn="l">
              <a:lnSpc>
                <a:spcPts val="4850"/>
              </a:lnSpc>
              <a:buNone/>
            </a:pPr>
            <a:r>
              <a:rPr lang="en-US" sz="3900" b="1" dirty="0">
                <a:solidFill>
                  <a:srgbClr val="030303"/>
                </a:solidFill>
                <a:latin typeface="Aptos SemiBold" panose="020B0004020202020204" pitchFamily="34" charset="0"/>
                <a:ea typeface="DM Sans Semi Bold" pitchFamily="34" charset="-122"/>
                <a:cs typeface="DM Sans Semi Bold" pitchFamily="34" charset="-120"/>
              </a:rPr>
              <a:t>Business Structure Analysis with Interactive Oral Assessment</a:t>
            </a:r>
            <a:endParaRPr lang="en-US" sz="3900" dirty="0"/>
          </a:p>
        </p:txBody>
      </p:sp>
      <p:sp>
        <p:nvSpPr>
          <p:cNvPr id="4" name="Text 1"/>
          <p:cNvSpPr/>
          <p:nvPr/>
        </p:nvSpPr>
        <p:spPr>
          <a:xfrm>
            <a:off x="6280190" y="4002881"/>
            <a:ext cx="7556421" cy="2381726"/>
          </a:xfrm>
          <a:prstGeom prst="rect">
            <a:avLst/>
          </a:prstGeom>
          <a:noFill/>
          <a:ln/>
        </p:spPr>
        <p:txBody>
          <a:bodyPr wrap="square" lIns="0" tIns="0" rIns="0" bIns="0" rtlCol="0" anchor="t"/>
          <a:lstStyle/>
          <a:p>
            <a:pPr marL="0" indent="0" algn="l">
              <a:lnSpc>
                <a:spcPts val="3100"/>
              </a:lnSpc>
              <a:buNone/>
            </a:pPr>
            <a:r>
              <a:rPr lang="en-US" sz="1950" dirty="0">
                <a:solidFill>
                  <a:srgbClr val="464646"/>
                </a:solidFill>
                <a:latin typeface="Calibri Light" panose="020F0302020204030204" pitchFamily="34" charset="0"/>
                <a:ea typeface="Inter Medium" pitchFamily="34" charset="-122"/>
                <a:cs typeface="Calibri Light" panose="020F0302020204030204" pitchFamily="34" charset="0"/>
              </a:rPr>
              <a:t>This is a comprehensive guide for implementing construction industry business structure analysis enhanced with Interactive Oral Assessment (IOA). The framework balances analytical rigour with professional communication skills, ensuring authentic assessment of both technical knowledge and client consultation capabilities essential for graduate success.</a:t>
            </a:r>
            <a:endParaRPr lang="en-US" sz="1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982980"/>
            <a:ext cx="11212949" cy="496133"/>
          </a:xfrm>
          <a:prstGeom prst="rect">
            <a:avLst/>
          </a:prstGeom>
          <a:noFill/>
          <a:ln/>
        </p:spPr>
        <p:txBody>
          <a:bodyPr wrap="none" lIns="0" tIns="0" rIns="0" bIns="0" rtlCol="0" anchor="t"/>
          <a:lstStyle/>
          <a:p>
            <a:pPr marL="0" indent="0" algn="l">
              <a:lnSpc>
                <a:spcPts val="3900"/>
              </a:lnSpc>
              <a:buNone/>
            </a:pPr>
            <a:r>
              <a:rPr lang="en-US" sz="3100" b="1" dirty="0">
                <a:solidFill>
                  <a:srgbClr val="030303"/>
                </a:solidFill>
                <a:latin typeface="Aptos SemiBold" panose="020B0004020202020204" pitchFamily="34" charset="0"/>
                <a:ea typeface="DM Sans Semi Bold" pitchFamily="34" charset="-122"/>
                <a:cs typeface="DM Sans Semi Bold" pitchFamily="34" charset="-120"/>
              </a:rPr>
              <a:t>A Five-Stage Framework for Professional Business Analysis</a:t>
            </a:r>
            <a:endParaRPr lang="en-US" sz="3100" dirty="0"/>
          </a:p>
        </p:txBody>
      </p:sp>
      <p:sp>
        <p:nvSpPr>
          <p:cNvPr id="3" name="Text 1"/>
          <p:cNvSpPr/>
          <p:nvPr/>
        </p:nvSpPr>
        <p:spPr>
          <a:xfrm>
            <a:off x="793790" y="1796653"/>
            <a:ext cx="13042821" cy="508159"/>
          </a:xfrm>
          <a:prstGeom prst="rect">
            <a:avLst/>
          </a:prstGeom>
          <a:noFill/>
          <a:ln/>
        </p:spPr>
        <p:txBody>
          <a:bodyPr wrap="square" lIns="0" tIns="0" rIns="0" bIns="0" rtlCol="0" anchor="t"/>
          <a:lstStyle/>
          <a:p>
            <a:pPr marL="0" indent="0" algn="l">
              <a:lnSpc>
                <a:spcPts val="2000"/>
              </a:lnSpc>
              <a:buNone/>
            </a:pPr>
            <a:r>
              <a:rPr lang="en-US" dirty="0">
                <a:solidFill>
                  <a:srgbClr val="464646"/>
                </a:solidFill>
                <a:latin typeface="Calibri Light" panose="020F0302020204030204" pitchFamily="34" charset="0"/>
                <a:ea typeface="Inter Medium" pitchFamily="34" charset="-122"/>
                <a:cs typeface="Calibri Light" panose="020F0302020204030204" pitchFamily="34" charset="0"/>
              </a:rPr>
              <a:t>Our innovative approach integrates traditional written analysis with authentic oral assessment to mirror real construction industry consulting practice, preparing students for the complex decision-making environments they will encounter as professionals.</a:t>
            </a:r>
            <a:endParaRPr lang="en-US" dirty="0"/>
          </a:p>
        </p:txBody>
      </p:sp>
      <p:pic>
        <p:nvPicPr>
          <p:cNvPr id="4" name="Image 0" descr="preencoded.png"/>
          <p:cNvPicPr>
            <a:picLocks noChangeAspect="1"/>
          </p:cNvPicPr>
          <p:nvPr/>
        </p:nvPicPr>
        <p:blipFill>
          <a:blip r:embed="rId3"/>
          <a:stretch>
            <a:fillRect/>
          </a:stretch>
        </p:blipFill>
        <p:spPr>
          <a:xfrm>
            <a:off x="793790" y="2483406"/>
            <a:ext cx="793790" cy="952619"/>
          </a:xfrm>
          <a:prstGeom prst="rect">
            <a:avLst/>
          </a:prstGeom>
        </p:spPr>
      </p:pic>
      <p:sp>
        <p:nvSpPr>
          <p:cNvPr id="5" name="Text 2"/>
          <p:cNvSpPr/>
          <p:nvPr/>
        </p:nvSpPr>
        <p:spPr>
          <a:xfrm>
            <a:off x="1746290" y="2642116"/>
            <a:ext cx="1990130" cy="248007"/>
          </a:xfrm>
          <a:prstGeom prst="rect">
            <a:avLst/>
          </a:prstGeom>
          <a:noFill/>
          <a:ln/>
        </p:spPr>
        <p:txBody>
          <a:bodyPr wrap="none" lIns="0" tIns="0" rIns="0" bIns="0" rtlCol="0" anchor="t"/>
          <a:lstStyle/>
          <a:p>
            <a:pPr marL="0" indent="0" algn="l">
              <a:lnSpc>
                <a:spcPts val="1950"/>
              </a:lnSpc>
              <a:buNone/>
            </a:pPr>
            <a:r>
              <a:rPr lang="en-US" sz="2400" b="1" dirty="0">
                <a:solidFill>
                  <a:srgbClr val="464646"/>
                </a:solidFill>
                <a:latin typeface="Aptos SemiBold" panose="020B0004020202020204" pitchFamily="34" charset="0"/>
                <a:ea typeface="DM Sans Semi Bold" pitchFamily="34" charset="-122"/>
                <a:cs typeface="DM Sans Semi Bold" pitchFamily="34" charset="-120"/>
              </a:rPr>
              <a:t>Authentic Scenarios </a:t>
            </a:r>
            <a:endParaRPr lang="en-US" sz="2400" dirty="0"/>
          </a:p>
        </p:txBody>
      </p:sp>
      <p:sp>
        <p:nvSpPr>
          <p:cNvPr id="6" name="Text 3"/>
          <p:cNvSpPr/>
          <p:nvPr/>
        </p:nvSpPr>
        <p:spPr>
          <a:xfrm>
            <a:off x="1746290" y="2985373"/>
            <a:ext cx="12090321" cy="254079"/>
          </a:xfrm>
          <a:prstGeom prst="rect">
            <a:avLst/>
          </a:prstGeom>
          <a:noFill/>
          <a:ln/>
        </p:spPr>
        <p:txBody>
          <a:bodyPr wrap="none" lIns="0" tIns="0" rIns="0" bIns="0" rtlCol="0" anchor="t"/>
          <a:lstStyle/>
          <a:p>
            <a:pPr marL="0" indent="0" algn="l">
              <a:lnSpc>
                <a:spcPts val="2000"/>
              </a:lnSpc>
              <a:buNone/>
            </a:pPr>
            <a:r>
              <a:rPr lang="en-US" dirty="0">
                <a:solidFill>
                  <a:srgbClr val="464646"/>
                </a:solidFill>
                <a:latin typeface="Calibri Light" panose="020F0302020204030204" pitchFamily="34" charset="0"/>
                <a:ea typeface="Inter Medium" pitchFamily="34" charset="-122"/>
                <a:cs typeface="Calibri Light" panose="020F0302020204030204" pitchFamily="34" charset="0"/>
              </a:rPr>
              <a:t>Prepare advice for two realistic construction industry challenges featuring complex business decisions</a:t>
            </a:r>
            <a:endParaRPr lang="en-US" dirty="0"/>
          </a:p>
        </p:txBody>
      </p:sp>
      <p:pic>
        <p:nvPicPr>
          <p:cNvPr id="7" name="Image 1" descr="preencoded.png"/>
          <p:cNvPicPr>
            <a:picLocks noChangeAspect="1"/>
          </p:cNvPicPr>
          <p:nvPr/>
        </p:nvPicPr>
        <p:blipFill>
          <a:blip r:embed="rId4"/>
          <a:stretch>
            <a:fillRect/>
          </a:stretch>
        </p:blipFill>
        <p:spPr>
          <a:xfrm>
            <a:off x="793790" y="3436025"/>
            <a:ext cx="793790" cy="952619"/>
          </a:xfrm>
          <a:prstGeom prst="rect">
            <a:avLst/>
          </a:prstGeom>
        </p:spPr>
      </p:pic>
      <p:sp>
        <p:nvSpPr>
          <p:cNvPr id="8" name="Text 4"/>
          <p:cNvSpPr/>
          <p:nvPr/>
        </p:nvSpPr>
        <p:spPr>
          <a:xfrm>
            <a:off x="1746290" y="3594735"/>
            <a:ext cx="1984653" cy="248007"/>
          </a:xfrm>
          <a:prstGeom prst="rect">
            <a:avLst/>
          </a:prstGeom>
          <a:noFill/>
          <a:ln/>
        </p:spPr>
        <p:txBody>
          <a:bodyPr wrap="none" lIns="0" tIns="0" rIns="0" bIns="0" rtlCol="0" anchor="t"/>
          <a:lstStyle/>
          <a:p>
            <a:pPr marL="0" indent="0" algn="l">
              <a:lnSpc>
                <a:spcPts val="1950"/>
              </a:lnSpc>
              <a:buNone/>
            </a:pPr>
            <a:r>
              <a:rPr lang="en-US" sz="2400" b="1" dirty="0">
                <a:solidFill>
                  <a:srgbClr val="464646"/>
                </a:solidFill>
                <a:latin typeface="Aptos SemiBold" panose="020B0004020202020204" pitchFamily="34" charset="0"/>
                <a:ea typeface="DM Sans Semi Bold" pitchFamily="34" charset="-122"/>
                <a:cs typeface="DM Sans Semi Bold" pitchFamily="34" charset="-120"/>
              </a:rPr>
              <a:t>Detailed Analysis</a:t>
            </a:r>
            <a:endParaRPr lang="en-US" sz="2400" dirty="0"/>
          </a:p>
        </p:txBody>
      </p:sp>
      <p:sp>
        <p:nvSpPr>
          <p:cNvPr id="9" name="Text 5"/>
          <p:cNvSpPr/>
          <p:nvPr/>
        </p:nvSpPr>
        <p:spPr>
          <a:xfrm>
            <a:off x="1746290" y="3937992"/>
            <a:ext cx="12090321" cy="254079"/>
          </a:xfrm>
          <a:prstGeom prst="rect">
            <a:avLst/>
          </a:prstGeom>
          <a:noFill/>
          <a:ln/>
        </p:spPr>
        <p:txBody>
          <a:bodyPr wrap="none" lIns="0" tIns="0" rIns="0" bIns="0" rtlCol="0" anchor="t"/>
          <a:lstStyle/>
          <a:p>
            <a:pPr marL="0" indent="0" algn="l">
              <a:lnSpc>
                <a:spcPts val="2000"/>
              </a:lnSpc>
              <a:buNone/>
            </a:pPr>
            <a:r>
              <a:rPr lang="en-US" dirty="0">
                <a:solidFill>
                  <a:srgbClr val="464646"/>
                </a:solidFill>
                <a:latin typeface="Calibri Light" panose="020F0302020204030204" pitchFamily="34" charset="0"/>
                <a:ea typeface="Inter Medium" pitchFamily="34" charset="-122"/>
                <a:cs typeface="Calibri Light" panose="020F0302020204030204" pitchFamily="34" charset="0"/>
              </a:rPr>
              <a:t>Complete a comprehensive business structure evaluation and contract law application within the construction management context</a:t>
            </a:r>
            <a:endParaRPr lang="en-US" dirty="0"/>
          </a:p>
        </p:txBody>
      </p:sp>
      <p:pic>
        <p:nvPicPr>
          <p:cNvPr id="10" name="Image 2" descr="preencoded.png"/>
          <p:cNvPicPr>
            <a:picLocks noChangeAspect="1"/>
          </p:cNvPicPr>
          <p:nvPr/>
        </p:nvPicPr>
        <p:blipFill>
          <a:blip r:embed="rId5"/>
          <a:stretch>
            <a:fillRect/>
          </a:stretch>
        </p:blipFill>
        <p:spPr>
          <a:xfrm>
            <a:off x="793790" y="4388644"/>
            <a:ext cx="793790" cy="952619"/>
          </a:xfrm>
          <a:prstGeom prst="rect">
            <a:avLst/>
          </a:prstGeom>
        </p:spPr>
      </p:pic>
      <p:sp>
        <p:nvSpPr>
          <p:cNvPr id="11" name="Text 6"/>
          <p:cNvSpPr/>
          <p:nvPr/>
        </p:nvSpPr>
        <p:spPr>
          <a:xfrm>
            <a:off x="1746290" y="4547354"/>
            <a:ext cx="2390061" cy="248007"/>
          </a:xfrm>
          <a:prstGeom prst="rect">
            <a:avLst/>
          </a:prstGeom>
          <a:noFill/>
          <a:ln/>
        </p:spPr>
        <p:txBody>
          <a:bodyPr wrap="none" lIns="0" tIns="0" rIns="0" bIns="0" rtlCol="0" anchor="t"/>
          <a:lstStyle/>
          <a:p>
            <a:pPr marL="0" indent="0" algn="l">
              <a:lnSpc>
                <a:spcPts val="1950"/>
              </a:lnSpc>
              <a:buNone/>
            </a:pPr>
            <a:r>
              <a:rPr lang="en-US" sz="2400" b="1" dirty="0">
                <a:solidFill>
                  <a:srgbClr val="464646"/>
                </a:solidFill>
                <a:latin typeface="Aptos SemiBold" panose="020B0004020202020204" pitchFamily="34" charset="0"/>
                <a:ea typeface="DM Sans Semi Bold" pitchFamily="34" charset="-122"/>
                <a:cs typeface="DM Sans Semi Bold" pitchFamily="34" charset="-120"/>
              </a:rPr>
              <a:t>Preparation and practice</a:t>
            </a:r>
            <a:endParaRPr lang="en-US" sz="2400" dirty="0"/>
          </a:p>
        </p:txBody>
      </p:sp>
      <p:sp>
        <p:nvSpPr>
          <p:cNvPr id="12" name="Text 7"/>
          <p:cNvSpPr/>
          <p:nvPr/>
        </p:nvSpPr>
        <p:spPr>
          <a:xfrm>
            <a:off x="1746290" y="4890611"/>
            <a:ext cx="12090321" cy="254079"/>
          </a:xfrm>
          <a:prstGeom prst="rect">
            <a:avLst/>
          </a:prstGeom>
          <a:noFill/>
          <a:ln/>
        </p:spPr>
        <p:txBody>
          <a:bodyPr wrap="none" lIns="0" tIns="0" rIns="0" bIns="0" rtlCol="0" anchor="t"/>
          <a:lstStyle/>
          <a:p>
            <a:pPr marL="0" indent="0" algn="l">
              <a:lnSpc>
                <a:spcPts val="2000"/>
              </a:lnSpc>
              <a:buNone/>
            </a:pPr>
            <a:r>
              <a:rPr lang="en-US" dirty="0">
                <a:solidFill>
                  <a:srgbClr val="464646"/>
                </a:solidFill>
                <a:latin typeface="Calibri Light" panose="020F0302020204030204" pitchFamily="34" charset="0"/>
                <a:ea typeface="Inter Medium" pitchFamily="34" charset="-122"/>
                <a:cs typeface="Calibri Light" panose="020F0302020204030204" pitchFamily="34" charset="0"/>
              </a:rPr>
              <a:t>Develop professional consultation skills and scenario familiarisation through structured practice</a:t>
            </a:r>
            <a:endParaRPr lang="en-US" dirty="0"/>
          </a:p>
        </p:txBody>
      </p:sp>
      <p:pic>
        <p:nvPicPr>
          <p:cNvPr id="13" name="Image 3" descr="preencoded.png"/>
          <p:cNvPicPr>
            <a:picLocks noChangeAspect="1"/>
          </p:cNvPicPr>
          <p:nvPr/>
        </p:nvPicPr>
        <p:blipFill>
          <a:blip r:embed="rId6"/>
          <a:stretch>
            <a:fillRect/>
          </a:stretch>
        </p:blipFill>
        <p:spPr>
          <a:xfrm>
            <a:off x="793790" y="5341263"/>
            <a:ext cx="793790" cy="952619"/>
          </a:xfrm>
          <a:prstGeom prst="rect">
            <a:avLst/>
          </a:prstGeom>
        </p:spPr>
      </p:pic>
      <p:sp>
        <p:nvSpPr>
          <p:cNvPr id="14" name="Text 8"/>
          <p:cNvSpPr/>
          <p:nvPr/>
        </p:nvSpPr>
        <p:spPr>
          <a:xfrm>
            <a:off x="1746290" y="5499973"/>
            <a:ext cx="2260997" cy="248007"/>
          </a:xfrm>
          <a:prstGeom prst="rect">
            <a:avLst/>
          </a:prstGeom>
          <a:noFill/>
          <a:ln/>
        </p:spPr>
        <p:txBody>
          <a:bodyPr wrap="none" lIns="0" tIns="0" rIns="0" bIns="0" rtlCol="0" anchor="t"/>
          <a:lstStyle/>
          <a:p>
            <a:pPr marL="0" indent="0" algn="l">
              <a:lnSpc>
                <a:spcPts val="1950"/>
              </a:lnSpc>
              <a:buNone/>
            </a:pPr>
            <a:r>
              <a:rPr lang="en-US" sz="2400" b="1" dirty="0">
                <a:solidFill>
                  <a:srgbClr val="464646"/>
                </a:solidFill>
                <a:latin typeface="Aptos SemiBold" panose="020B0004020202020204" pitchFamily="34" charset="0"/>
                <a:ea typeface="DM Sans Semi Bold" pitchFamily="34" charset="-122"/>
                <a:cs typeface="DM Sans Semi Bold" pitchFamily="34" charset="-120"/>
              </a:rPr>
              <a:t>Interactive Assessment</a:t>
            </a:r>
            <a:endParaRPr lang="en-US" sz="2400" dirty="0"/>
          </a:p>
        </p:txBody>
      </p:sp>
      <p:sp>
        <p:nvSpPr>
          <p:cNvPr id="15" name="Text 9"/>
          <p:cNvSpPr/>
          <p:nvPr/>
        </p:nvSpPr>
        <p:spPr>
          <a:xfrm>
            <a:off x="1746290" y="5843230"/>
            <a:ext cx="12090321" cy="254079"/>
          </a:xfrm>
          <a:prstGeom prst="rect">
            <a:avLst/>
          </a:prstGeom>
          <a:noFill/>
          <a:ln/>
        </p:spPr>
        <p:txBody>
          <a:bodyPr wrap="none" lIns="0" tIns="0" rIns="0" bIns="0" rtlCol="0" anchor="t"/>
          <a:lstStyle/>
          <a:p>
            <a:pPr marL="0" indent="0" algn="l">
              <a:lnSpc>
                <a:spcPts val="2000"/>
              </a:lnSpc>
              <a:buNone/>
            </a:pPr>
            <a:r>
              <a:rPr lang="en-US" dirty="0">
                <a:solidFill>
                  <a:srgbClr val="464646"/>
                </a:solidFill>
                <a:latin typeface="Calibri Light" panose="020F0302020204030204" pitchFamily="34" charset="0"/>
                <a:ea typeface="Inter Medium" pitchFamily="34" charset="-122"/>
                <a:cs typeface="Calibri Light" panose="020F0302020204030204" pitchFamily="34" charset="0"/>
              </a:rPr>
              <a:t>Real-time client consultation with dynamic complications requiring responsive professional advice</a:t>
            </a:r>
            <a:endParaRPr lang="en-US" dirty="0"/>
          </a:p>
        </p:txBody>
      </p:sp>
      <p:pic>
        <p:nvPicPr>
          <p:cNvPr id="16" name="Image 4" descr="preencoded.png"/>
          <p:cNvPicPr>
            <a:picLocks noChangeAspect="1"/>
          </p:cNvPicPr>
          <p:nvPr/>
        </p:nvPicPr>
        <p:blipFill>
          <a:blip r:embed="rId7"/>
          <a:stretch>
            <a:fillRect/>
          </a:stretch>
        </p:blipFill>
        <p:spPr>
          <a:xfrm>
            <a:off x="793790" y="6293882"/>
            <a:ext cx="793790" cy="952619"/>
          </a:xfrm>
          <a:prstGeom prst="rect">
            <a:avLst/>
          </a:prstGeom>
        </p:spPr>
      </p:pic>
      <p:sp>
        <p:nvSpPr>
          <p:cNvPr id="17" name="Text 10"/>
          <p:cNvSpPr/>
          <p:nvPr/>
        </p:nvSpPr>
        <p:spPr>
          <a:xfrm>
            <a:off x="1746290" y="6452592"/>
            <a:ext cx="2264688" cy="248007"/>
          </a:xfrm>
          <a:prstGeom prst="rect">
            <a:avLst/>
          </a:prstGeom>
          <a:noFill/>
          <a:ln/>
        </p:spPr>
        <p:txBody>
          <a:bodyPr wrap="none" lIns="0" tIns="0" rIns="0" bIns="0" rtlCol="0" anchor="t"/>
          <a:lstStyle/>
          <a:p>
            <a:pPr marL="0" indent="0" algn="l">
              <a:lnSpc>
                <a:spcPts val="1950"/>
              </a:lnSpc>
              <a:buNone/>
            </a:pPr>
            <a:r>
              <a:rPr lang="en-US" sz="2400" b="1" dirty="0">
                <a:solidFill>
                  <a:srgbClr val="464646"/>
                </a:solidFill>
                <a:latin typeface="Aptos SemiBold" panose="020B0004020202020204" pitchFamily="34" charset="0"/>
                <a:ea typeface="DM Sans Semi Bold" pitchFamily="34" charset="-122"/>
                <a:cs typeface="DM Sans Semi Bold" pitchFamily="34" charset="-120"/>
              </a:rPr>
              <a:t>Professional Integration</a:t>
            </a:r>
            <a:endParaRPr lang="en-US" sz="2400" dirty="0"/>
          </a:p>
        </p:txBody>
      </p:sp>
      <p:sp>
        <p:nvSpPr>
          <p:cNvPr id="18" name="Text 11"/>
          <p:cNvSpPr/>
          <p:nvPr/>
        </p:nvSpPr>
        <p:spPr>
          <a:xfrm>
            <a:off x="1746290" y="6795849"/>
            <a:ext cx="12090321" cy="254079"/>
          </a:xfrm>
          <a:prstGeom prst="rect">
            <a:avLst/>
          </a:prstGeom>
          <a:noFill/>
          <a:ln/>
        </p:spPr>
        <p:txBody>
          <a:bodyPr wrap="none" lIns="0" tIns="0" rIns="0" bIns="0" rtlCol="0" anchor="t"/>
          <a:lstStyle/>
          <a:p>
            <a:pPr marL="0" indent="0" algn="l">
              <a:lnSpc>
                <a:spcPts val="2000"/>
              </a:lnSpc>
              <a:buNone/>
            </a:pPr>
            <a:r>
              <a:rPr lang="en-US" dirty="0">
                <a:solidFill>
                  <a:srgbClr val="464646"/>
                </a:solidFill>
                <a:latin typeface="Calibri Light" panose="020F0302020204030204" pitchFamily="34" charset="0"/>
                <a:ea typeface="Inter Medium" pitchFamily="34" charset="-122"/>
                <a:cs typeface="Calibri Light" panose="020F0302020204030204" pitchFamily="34" charset="0"/>
              </a:rPr>
              <a:t>Assessment of business judgement and communication effectiveness with in-person, immediate feedback</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87956" y="541734"/>
            <a:ext cx="8008382" cy="523280"/>
          </a:xfrm>
          <a:prstGeom prst="rect">
            <a:avLst/>
          </a:prstGeom>
          <a:noFill/>
          <a:ln/>
        </p:spPr>
        <p:txBody>
          <a:bodyPr wrap="none" lIns="0" tIns="0" rIns="0" bIns="0" rtlCol="0" anchor="t"/>
          <a:lstStyle/>
          <a:p>
            <a:pPr marL="0" indent="0" algn="l">
              <a:lnSpc>
                <a:spcPts val="4100"/>
              </a:lnSpc>
              <a:buNone/>
            </a:pPr>
            <a:r>
              <a:rPr lang="en-US" sz="3250" b="1" dirty="0">
                <a:solidFill>
                  <a:srgbClr val="030303"/>
                </a:solidFill>
                <a:latin typeface="Aptos SemiBold" panose="020B0004020202020204" pitchFamily="34" charset="0"/>
                <a:ea typeface="DM Sans Semi Bold" pitchFamily="34" charset="-122"/>
                <a:cs typeface="DM Sans Semi Bold" pitchFamily="34" charset="-120"/>
              </a:rPr>
              <a:t>Stage 1-2: Scenario Analysis Foundation</a:t>
            </a:r>
            <a:endParaRPr lang="en-US" sz="3250" dirty="0"/>
          </a:p>
        </p:txBody>
      </p:sp>
      <p:sp>
        <p:nvSpPr>
          <p:cNvPr id="3" name="Text 1"/>
          <p:cNvSpPr/>
          <p:nvPr/>
        </p:nvSpPr>
        <p:spPr>
          <a:xfrm>
            <a:off x="787956" y="1483519"/>
            <a:ext cx="4625340" cy="313968"/>
          </a:xfrm>
          <a:prstGeom prst="rect">
            <a:avLst/>
          </a:prstGeom>
          <a:noFill/>
          <a:ln/>
        </p:spPr>
        <p:txBody>
          <a:bodyPr wrap="none" lIns="0" tIns="0" rIns="0" bIns="0" rtlCol="0" anchor="t"/>
          <a:lstStyle/>
          <a:p>
            <a:pPr marL="0" indent="0" algn="l">
              <a:lnSpc>
                <a:spcPts val="2450"/>
              </a:lnSpc>
              <a:buNone/>
            </a:pPr>
            <a:r>
              <a:rPr lang="en-US" sz="1950" b="1" dirty="0">
                <a:solidFill>
                  <a:srgbClr val="030303"/>
                </a:solidFill>
                <a:latin typeface="Aptos SemiBold" panose="020B0004020202020204" pitchFamily="34" charset="0"/>
                <a:ea typeface="DM Sans Semi Bold" pitchFamily="34" charset="-122"/>
                <a:cs typeface="DM Sans Semi Bold" pitchFamily="34" charset="-120"/>
              </a:rPr>
              <a:t>Stage 1: Scenario Selection Framework</a:t>
            </a:r>
            <a:endParaRPr lang="en-US" sz="1950" dirty="0"/>
          </a:p>
        </p:txBody>
      </p:sp>
      <p:sp>
        <p:nvSpPr>
          <p:cNvPr id="4" name="Text 2"/>
          <p:cNvSpPr/>
          <p:nvPr/>
        </p:nvSpPr>
        <p:spPr>
          <a:xfrm>
            <a:off x="787956" y="1964888"/>
            <a:ext cx="7669292" cy="1340048"/>
          </a:xfrm>
          <a:prstGeom prst="rect">
            <a:avLst/>
          </a:prstGeom>
          <a:noFill/>
          <a:ln/>
        </p:spPr>
        <p:txBody>
          <a:bodyPr wrap="square" lIns="0" tIns="0" rIns="0" bIns="0" rtlCol="0" anchor="t"/>
          <a:lstStyle/>
          <a:p>
            <a:pPr marL="0" indent="0" algn="l">
              <a:lnSpc>
                <a:spcPts val="2100"/>
              </a:lnSpc>
              <a:buNone/>
            </a:pPr>
            <a:r>
              <a:rPr lang="en-US" sz="1400" dirty="0">
                <a:solidFill>
                  <a:srgbClr val="464646"/>
                </a:solidFill>
                <a:latin typeface="Calibri Light" panose="020F0302020204030204" pitchFamily="34" charset="0"/>
                <a:ea typeface="Inter Medium" pitchFamily="34" charset="-122"/>
                <a:cs typeface="Calibri Light" panose="020F0302020204030204" pitchFamily="34" charset="0"/>
              </a:rPr>
              <a:t>Students prepare two carefully crafted construction industry scenarios featuring complex business challenges. Each scenario encompasses partnership negotiations, financial constraints, cost overruns, or client variations that mirror real-world professional dilemmas. Both scenarios contain essential context for comprehensive analytical work, ensuring students engage with authentic industry problems rather than theoretical constructs.</a:t>
            </a:r>
            <a:endParaRPr lang="en-US" sz="1400" dirty="0"/>
          </a:p>
        </p:txBody>
      </p:sp>
      <p:sp>
        <p:nvSpPr>
          <p:cNvPr id="5" name="Text 3"/>
          <p:cNvSpPr/>
          <p:nvPr/>
        </p:nvSpPr>
        <p:spPr>
          <a:xfrm>
            <a:off x="787956" y="3472339"/>
            <a:ext cx="2511862" cy="313968"/>
          </a:xfrm>
          <a:prstGeom prst="rect">
            <a:avLst/>
          </a:prstGeom>
          <a:noFill/>
          <a:ln/>
        </p:spPr>
        <p:txBody>
          <a:bodyPr wrap="none" lIns="0" tIns="0" rIns="0" bIns="0" rtlCol="0" anchor="t"/>
          <a:lstStyle/>
          <a:p>
            <a:pPr marL="0" indent="0" algn="l">
              <a:lnSpc>
                <a:spcPts val="2450"/>
              </a:lnSpc>
              <a:buNone/>
            </a:pPr>
            <a:r>
              <a:rPr lang="en-US" sz="1950" b="1" dirty="0">
                <a:solidFill>
                  <a:srgbClr val="030303"/>
                </a:solidFill>
                <a:latin typeface="Aptos SemiBold" panose="020B0004020202020204" pitchFamily="34" charset="0"/>
                <a:ea typeface="DM Sans Semi Bold" pitchFamily="34" charset="-122"/>
                <a:cs typeface="DM Sans Semi Bold" pitchFamily="34" charset="-120"/>
              </a:rPr>
              <a:t>Stage 2: Analysis</a:t>
            </a:r>
            <a:endParaRPr lang="en-US" sz="1950" dirty="0"/>
          </a:p>
        </p:txBody>
      </p:sp>
      <p:sp>
        <p:nvSpPr>
          <p:cNvPr id="6" name="Text 4"/>
          <p:cNvSpPr/>
          <p:nvPr/>
        </p:nvSpPr>
        <p:spPr>
          <a:xfrm>
            <a:off x="787956" y="3953708"/>
            <a:ext cx="7669292" cy="268010"/>
          </a:xfrm>
          <a:prstGeom prst="rect">
            <a:avLst/>
          </a:prstGeom>
          <a:noFill/>
          <a:ln/>
        </p:spPr>
        <p:txBody>
          <a:bodyPr wrap="none" lIns="0" tIns="0" rIns="0" bIns="0" rtlCol="0" anchor="t"/>
          <a:lstStyle/>
          <a:p>
            <a:pPr marL="342900" indent="-342900" algn="l">
              <a:lnSpc>
                <a:spcPts val="2100"/>
              </a:lnSpc>
              <a:buSzPct val="100000"/>
              <a:buChar char="•"/>
            </a:pPr>
            <a:r>
              <a:rPr lang="en-US" sz="1400" dirty="0">
                <a:solidFill>
                  <a:srgbClr val="464646"/>
                </a:solidFill>
                <a:latin typeface="Calibri Light" panose="020F0302020204030204" pitchFamily="34" charset="0"/>
                <a:ea typeface="Inter Medium" pitchFamily="34" charset="-122"/>
                <a:cs typeface="Calibri Light" panose="020F0302020204030204" pitchFamily="34" charset="0"/>
              </a:rPr>
              <a:t>Business needs identification for chosen scenario context</a:t>
            </a:r>
            <a:endParaRPr lang="en-US" sz="1400" dirty="0"/>
          </a:p>
        </p:txBody>
      </p:sp>
      <p:sp>
        <p:nvSpPr>
          <p:cNvPr id="7" name="Text 5"/>
          <p:cNvSpPr/>
          <p:nvPr/>
        </p:nvSpPr>
        <p:spPr>
          <a:xfrm>
            <a:off x="787956" y="4280297"/>
            <a:ext cx="7669292" cy="268010"/>
          </a:xfrm>
          <a:prstGeom prst="rect">
            <a:avLst/>
          </a:prstGeom>
          <a:noFill/>
          <a:ln/>
        </p:spPr>
        <p:txBody>
          <a:bodyPr wrap="none" lIns="0" tIns="0" rIns="0" bIns="0" rtlCol="0" anchor="t"/>
          <a:lstStyle/>
          <a:p>
            <a:pPr marL="342900" indent="-342900" algn="l">
              <a:lnSpc>
                <a:spcPts val="2100"/>
              </a:lnSpc>
              <a:buSzPct val="100000"/>
              <a:buChar char="•"/>
            </a:pPr>
            <a:r>
              <a:rPr lang="en-US" sz="1400" dirty="0">
                <a:solidFill>
                  <a:srgbClr val="464646"/>
                </a:solidFill>
                <a:latin typeface="Calibri Light" panose="020F0302020204030204" pitchFamily="34" charset="0"/>
                <a:ea typeface="Inter Medium" pitchFamily="34" charset="-122"/>
                <a:cs typeface="Calibri Light" panose="020F0302020204030204" pitchFamily="34" charset="0"/>
              </a:rPr>
              <a:t>Comparative analysis of sole trader, partnership, and company structures</a:t>
            </a:r>
            <a:endParaRPr lang="en-US" sz="1400" dirty="0"/>
          </a:p>
        </p:txBody>
      </p:sp>
      <p:sp>
        <p:nvSpPr>
          <p:cNvPr id="8" name="Text 6"/>
          <p:cNvSpPr/>
          <p:nvPr/>
        </p:nvSpPr>
        <p:spPr>
          <a:xfrm>
            <a:off x="787956" y="4606885"/>
            <a:ext cx="7669292" cy="268010"/>
          </a:xfrm>
          <a:prstGeom prst="rect">
            <a:avLst/>
          </a:prstGeom>
          <a:noFill/>
          <a:ln/>
        </p:spPr>
        <p:txBody>
          <a:bodyPr wrap="none" lIns="0" tIns="0" rIns="0" bIns="0" rtlCol="0" anchor="t"/>
          <a:lstStyle/>
          <a:p>
            <a:pPr marL="342900" indent="-342900" algn="l">
              <a:lnSpc>
                <a:spcPts val="2100"/>
              </a:lnSpc>
              <a:buSzPct val="100000"/>
              <a:buChar char="•"/>
            </a:pPr>
            <a:r>
              <a:rPr lang="en-US" sz="1400" dirty="0">
                <a:solidFill>
                  <a:srgbClr val="464646"/>
                </a:solidFill>
                <a:latin typeface="Calibri Light" panose="020F0302020204030204" pitchFamily="34" charset="0"/>
                <a:ea typeface="Inter Medium" pitchFamily="34" charset="-122"/>
                <a:cs typeface="Calibri Light" panose="020F0302020204030204" pitchFamily="34" charset="0"/>
              </a:rPr>
              <a:t>Professional recommendation with detailed industry-specific reasoning</a:t>
            </a:r>
            <a:endParaRPr lang="en-US" sz="1400" dirty="0"/>
          </a:p>
        </p:txBody>
      </p:sp>
      <p:sp>
        <p:nvSpPr>
          <p:cNvPr id="9" name="Text 7"/>
          <p:cNvSpPr/>
          <p:nvPr/>
        </p:nvSpPr>
        <p:spPr>
          <a:xfrm>
            <a:off x="787956" y="4933474"/>
            <a:ext cx="7669292" cy="268010"/>
          </a:xfrm>
          <a:prstGeom prst="rect">
            <a:avLst/>
          </a:prstGeom>
          <a:noFill/>
          <a:ln/>
        </p:spPr>
        <p:txBody>
          <a:bodyPr wrap="none" lIns="0" tIns="0" rIns="0" bIns="0" rtlCol="0" anchor="t"/>
          <a:lstStyle/>
          <a:p>
            <a:pPr marL="342900" indent="-342900" algn="l">
              <a:lnSpc>
                <a:spcPts val="2100"/>
              </a:lnSpc>
              <a:buSzPct val="100000"/>
              <a:buChar char="•"/>
            </a:pPr>
            <a:r>
              <a:rPr lang="en-US" sz="1400" dirty="0">
                <a:solidFill>
                  <a:srgbClr val="464646"/>
                </a:solidFill>
                <a:latin typeface="Calibri Light" panose="020F0302020204030204" pitchFamily="34" charset="0"/>
                <a:ea typeface="Inter Medium" pitchFamily="34" charset="-122"/>
                <a:cs typeface="Calibri Light" panose="020F0302020204030204" pitchFamily="34" charset="0"/>
              </a:rPr>
              <a:t>Contract law application and comprehensive legal framework analysis</a:t>
            </a:r>
            <a:endParaRPr lang="en-US" sz="1400" dirty="0"/>
          </a:p>
        </p:txBody>
      </p:sp>
      <p:sp>
        <p:nvSpPr>
          <p:cNvPr id="10" name="Text 8"/>
          <p:cNvSpPr/>
          <p:nvPr/>
        </p:nvSpPr>
        <p:spPr>
          <a:xfrm>
            <a:off x="787956" y="5260062"/>
            <a:ext cx="7669292" cy="268010"/>
          </a:xfrm>
          <a:prstGeom prst="rect">
            <a:avLst/>
          </a:prstGeom>
          <a:noFill/>
          <a:ln/>
        </p:spPr>
        <p:txBody>
          <a:bodyPr wrap="none" lIns="0" tIns="0" rIns="0" bIns="0" rtlCol="0" anchor="t"/>
          <a:lstStyle/>
          <a:p>
            <a:pPr marL="342900" indent="-342900" algn="l">
              <a:lnSpc>
                <a:spcPts val="2100"/>
              </a:lnSpc>
              <a:buSzPct val="100000"/>
              <a:buChar char="•"/>
            </a:pPr>
            <a:r>
              <a:rPr lang="en-US" sz="1400" dirty="0">
                <a:solidFill>
                  <a:srgbClr val="464646"/>
                </a:solidFill>
                <a:latin typeface="Calibri Light" panose="020F0302020204030204" pitchFamily="34" charset="0"/>
                <a:ea typeface="Inter Medium" pitchFamily="34" charset="-122"/>
                <a:cs typeface="Calibri Light" panose="020F0302020204030204" pitchFamily="34" charset="0"/>
              </a:rPr>
              <a:t>Students may bring these notes into the consultation session</a:t>
            </a:r>
            <a:endParaRPr lang="en-US" sz="1400" dirty="0"/>
          </a:p>
        </p:txBody>
      </p:sp>
      <p:sp>
        <p:nvSpPr>
          <p:cNvPr id="11" name="Shape 9"/>
          <p:cNvSpPr/>
          <p:nvPr/>
        </p:nvSpPr>
        <p:spPr>
          <a:xfrm>
            <a:off x="787956" y="5716429"/>
            <a:ext cx="7669292" cy="1783556"/>
          </a:xfrm>
          <a:prstGeom prst="roundRect">
            <a:avLst>
              <a:gd name="adj" fmla="val 1408"/>
            </a:avLst>
          </a:prstGeom>
          <a:solidFill>
            <a:srgbClr val="FCF2B5"/>
          </a:solidFill>
          <a:ln/>
        </p:spPr>
        <p:txBody>
          <a:bodyPr/>
          <a:lstStyle/>
          <a:p>
            <a:endParaRPr lang="en-US"/>
          </a:p>
        </p:txBody>
      </p:sp>
      <p:pic>
        <p:nvPicPr>
          <p:cNvPr id="12" name="Image 0" descr="preencoded.png"/>
          <p:cNvPicPr>
            <a:picLocks noChangeAspect="1"/>
          </p:cNvPicPr>
          <p:nvPr/>
        </p:nvPicPr>
        <p:blipFill>
          <a:blip r:embed="rId3"/>
          <a:stretch>
            <a:fillRect/>
          </a:stretch>
        </p:blipFill>
        <p:spPr>
          <a:xfrm>
            <a:off x="955358" y="5969556"/>
            <a:ext cx="209312" cy="167402"/>
          </a:xfrm>
          <a:prstGeom prst="rect">
            <a:avLst/>
          </a:prstGeom>
        </p:spPr>
      </p:pic>
      <p:sp>
        <p:nvSpPr>
          <p:cNvPr id="13" name="Text 10"/>
          <p:cNvSpPr/>
          <p:nvPr/>
        </p:nvSpPr>
        <p:spPr>
          <a:xfrm>
            <a:off x="1332071" y="5925622"/>
            <a:ext cx="6957774" cy="1340048"/>
          </a:xfrm>
          <a:prstGeom prst="rect">
            <a:avLst/>
          </a:prstGeom>
          <a:noFill/>
          <a:ln/>
        </p:spPr>
        <p:txBody>
          <a:bodyPr wrap="square" lIns="0" tIns="0" rIns="0" bIns="0" rtlCol="0" anchor="t"/>
          <a:lstStyle/>
          <a:p>
            <a:pPr marL="0" indent="0" algn="l">
              <a:lnSpc>
                <a:spcPts val="2100"/>
              </a:lnSpc>
              <a:buNone/>
            </a:pPr>
            <a:r>
              <a:rPr lang="en-US" sz="1400" dirty="0">
                <a:solidFill>
                  <a:srgbClr val="000000"/>
                </a:solidFill>
                <a:latin typeface="Calibri Light" panose="020F0302020204030204" pitchFamily="34" charset="0"/>
                <a:ea typeface="Inter Medium" pitchFamily="34" charset="-122"/>
                <a:cs typeface="Calibri Light" panose="020F0302020204030204" pitchFamily="34" charset="0"/>
              </a:rPr>
              <a:t>Why place the student in the role of expert? Students benefit from taking on the role of expert because it involves them restructuring the material will then need to explain to another. This type of assessment has been demonstrated to be useful for addressing “student engagement, better prospects for graduate employability and greater levels of academic integrity in education” (Sotiriadou et al. 2020, 2144).</a:t>
            </a:r>
            <a:endParaRPr lang="en-US" sz="1400" dirty="0"/>
          </a:p>
        </p:txBody>
      </p:sp>
      <p:pic>
        <p:nvPicPr>
          <p:cNvPr id="14" name="Image 1" descr="preencoded.png"/>
          <p:cNvPicPr>
            <a:picLocks noChangeAspect="1"/>
          </p:cNvPicPr>
          <p:nvPr/>
        </p:nvPicPr>
        <p:blipFill>
          <a:blip r:embed="rId4"/>
          <a:stretch>
            <a:fillRect/>
          </a:stretch>
        </p:blipFill>
        <p:spPr>
          <a:xfrm>
            <a:off x="8873252" y="1504474"/>
            <a:ext cx="4230172" cy="4230172"/>
          </a:xfrm>
          <a:prstGeom prst="rect">
            <a:avLst/>
          </a:prstGeom>
        </p:spPr>
      </p:pic>
      <p:sp>
        <p:nvSpPr>
          <p:cNvPr id="15" name="Text 11"/>
          <p:cNvSpPr/>
          <p:nvPr/>
        </p:nvSpPr>
        <p:spPr>
          <a:xfrm>
            <a:off x="8873252" y="5923002"/>
            <a:ext cx="4976693" cy="1608058"/>
          </a:xfrm>
          <a:prstGeom prst="rect">
            <a:avLst/>
          </a:prstGeom>
          <a:noFill/>
          <a:ln/>
        </p:spPr>
        <p:txBody>
          <a:bodyPr wrap="square" lIns="0" tIns="0" rIns="0" bIns="0" rtlCol="0" anchor="t"/>
          <a:lstStyle/>
          <a:p>
            <a:pPr marL="0" indent="0" algn="l">
              <a:lnSpc>
                <a:spcPts val="2100"/>
              </a:lnSpc>
              <a:buNone/>
            </a:pPr>
            <a:r>
              <a:rPr lang="en-US" sz="1400" dirty="0">
                <a:solidFill>
                  <a:srgbClr val="464646"/>
                </a:solidFill>
                <a:latin typeface="Calibri Light" panose="020F0302020204030204" pitchFamily="34" charset="0"/>
                <a:ea typeface="Inter Medium" pitchFamily="34" charset="-122"/>
                <a:cs typeface="Calibri Light" panose="020F0302020204030204" pitchFamily="34" charset="0"/>
              </a:rPr>
              <a:t>These foundation stages establish a robust analytical framework whilst ensuring students understand the real-world business implications inherent in construction industry contexts. The structured approach prepares students for the complex decision-making scenarios they will encounter as industry professionals.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844153"/>
            <a:ext cx="11469172" cy="620078"/>
          </a:xfrm>
          <a:prstGeom prst="rect">
            <a:avLst/>
          </a:prstGeom>
          <a:noFill/>
          <a:ln/>
        </p:spPr>
        <p:txBody>
          <a:bodyPr wrap="none" lIns="0" tIns="0" rIns="0" bIns="0" rtlCol="0" anchor="t"/>
          <a:lstStyle/>
          <a:p>
            <a:pPr marL="0" indent="0" algn="l">
              <a:lnSpc>
                <a:spcPts val="4850"/>
              </a:lnSpc>
              <a:buNone/>
            </a:pPr>
            <a:r>
              <a:rPr lang="en-US" sz="3900" b="1" dirty="0">
                <a:solidFill>
                  <a:srgbClr val="030303"/>
                </a:solidFill>
                <a:latin typeface="Aptos SemiBold" panose="020B0004020202020204" pitchFamily="34" charset="0"/>
                <a:ea typeface="DM Sans Semi Bold" pitchFamily="34" charset="-122"/>
                <a:cs typeface="DM Sans Semi Bold" pitchFamily="34" charset="-120"/>
              </a:rPr>
              <a:t>Stage 3: IOA Preparation and Skills Development</a:t>
            </a:r>
            <a:endParaRPr lang="en-US" sz="3900" dirty="0"/>
          </a:p>
        </p:txBody>
      </p:sp>
      <p:sp>
        <p:nvSpPr>
          <p:cNvPr id="3" name="Shape 1"/>
          <p:cNvSpPr/>
          <p:nvPr/>
        </p:nvSpPr>
        <p:spPr>
          <a:xfrm>
            <a:off x="793790" y="1861066"/>
            <a:ext cx="6422231" cy="4348401"/>
          </a:xfrm>
          <a:prstGeom prst="roundRect">
            <a:avLst>
              <a:gd name="adj" fmla="val 685"/>
            </a:avLst>
          </a:prstGeom>
          <a:solidFill>
            <a:srgbClr val="F2EEEE"/>
          </a:solidFill>
          <a:ln/>
        </p:spPr>
        <p:txBody>
          <a:bodyPr/>
          <a:lstStyle/>
          <a:p>
            <a:endParaRPr lang="en-US"/>
          </a:p>
        </p:txBody>
      </p:sp>
      <p:sp>
        <p:nvSpPr>
          <p:cNvPr id="4" name="Text 2"/>
          <p:cNvSpPr/>
          <p:nvPr/>
        </p:nvSpPr>
        <p:spPr>
          <a:xfrm>
            <a:off x="992148" y="2059424"/>
            <a:ext cx="3016091" cy="310158"/>
          </a:xfrm>
          <a:prstGeom prst="rect">
            <a:avLst/>
          </a:prstGeom>
          <a:noFill/>
          <a:ln/>
        </p:spPr>
        <p:txBody>
          <a:bodyPr wrap="none" lIns="0" tIns="0" rIns="0" bIns="0" rtlCol="0" anchor="t"/>
          <a:lstStyle/>
          <a:p>
            <a:pPr marL="0" indent="0" algn="l">
              <a:lnSpc>
                <a:spcPts val="2400"/>
              </a:lnSpc>
              <a:buNone/>
            </a:pPr>
            <a:r>
              <a:rPr lang="en-US" sz="1950" b="1" dirty="0">
                <a:solidFill>
                  <a:srgbClr val="464646"/>
                </a:solidFill>
                <a:latin typeface="Aptos SemiBold" panose="020B0004020202020204" pitchFamily="34" charset="0"/>
                <a:ea typeface="DM Sans Semi Bold" pitchFamily="34" charset="-122"/>
                <a:cs typeface="DM Sans Semi Bold" pitchFamily="34" charset="-120"/>
              </a:rPr>
              <a:t>Preparation Components</a:t>
            </a:r>
            <a:endParaRPr lang="en-US" sz="1950" dirty="0"/>
          </a:p>
        </p:txBody>
      </p:sp>
      <p:sp>
        <p:nvSpPr>
          <p:cNvPr id="5" name="Text 3"/>
          <p:cNvSpPr/>
          <p:nvPr/>
        </p:nvSpPr>
        <p:spPr>
          <a:xfrm>
            <a:off x="992148" y="2488644"/>
            <a:ext cx="6025515"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64646"/>
                </a:solidFill>
                <a:latin typeface="Calibri Light" panose="020F0302020204030204" pitchFamily="34" charset="0"/>
                <a:ea typeface="Inter Medium" pitchFamily="34" charset="-122"/>
                <a:cs typeface="Calibri Light" panose="020F0302020204030204" pitchFamily="34" charset="0"/>
              </a:rPr>
              <a:t>Rich context materials, eg emails, messages, regulations</a:t>
            </a:r>
            <a:endParaRPr lang="en-US" dirty="0"/>
          </a:p>
        </p:txBody>
      </p:sp>
      <p:sp>
        <p:nvSpPr>
          <p:cNvPr id="6" name="Text 4"/>
          <p:cNvSpPr/>
          <p:nvPr/>
        </p:nvSpPr>
        <p:spPr>
          <a:xfrm>
            <a:off x="992148" y="2875597"/>
            <a:ext cx="6025515"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64646"/>
                </a:solidFill>
                <a:latin typeface="Calibri Light" panose="020F0302020204030204" pitchFamily="34" charset="0"/>
                <a:ea typeface="Inter Medium" pitchFamily="34" charset="-122"/>
                <a:cs typeface="Calibri Light" panose="020F0302020204030204" pitchFamily="34" charset="0"/>
              </a:rPr>
              <a:t>Templates to frame and work through the analysis</a:t>
            </a:r>
            <a:endParaRPr lang="en-US" dirty="0"/>
          </a:p>
        </p:txBody>
      </p:sp>
      <p:sp>
        <p:nvSpPr>
          <p:cNvPr id="7" name="Text 5"/>
          <p:cNvSpPr/>
          <p:nvPr/>
        </p:nvSpPr>
        <p:spPr>
          <a:xfrm>
            <a:off x="992148" y="3262551"/>
            <a:ext cx="6025515" cy="635079"/>
          </a:xfrm>
          <a:prstGeom prst="rect">
            <a:avLst/>
          </a:prstGeom>
          <a:noFill/>
          <a:ln/>
        </p:spPr>
        <p:txBody>
          <a:bodyPr wrap="square" lIns="0" tIns="0" rIns="0" bIns="0" rtlCol="0" anchor="t"/>
          <a:lstStyle/>
          <a:p>
            <a:pPr marL="342900" indent="-342900" algn="l">
              <a:lnSpc>
                <a:spcPts val="2500"/>
              </a:lnSpc>
              <a:buSzPct val="100000"/>
              <a:buChar char="•"/>
            </a:pPr>
            <a:r>
              <a:rPr lang="en-US" dirty="0">
                <a:solidFill>
                  <a:srgbClr val="464646"/>
                </a:solidFill>
                <a:latin typeface="Calibri Light" panose="020F0302020204030204" pitchFamily="34" charset="0"/>
                <a:ea typeface="Inter Medium" pitchFamily="34" charset="-122"/>
                <a:cs typeface="Calibri Light" panose="020F0302020204030204" pitchFamily="34" charset="0"/>
              </a:rPr>
              <a:t>Exemplars of IOA at different levels of performance against the rubric which will be used </a:t>
            </a:r>
            <a:endParaRPr lang="en-US" dirty="0"/>
          </a:p>
        </p:txBody>
      </p:sp>
      <p:sp>
        <p:nvSpPr>
          <p:cNvPr id="8" name="Text 6"/>
          <p:cNvSpPr/>
          <p:nvPr/>
        </p:nvSpPr>
        <p:spPr>
          <a:xfrm>
            <a:off x="992148" y="3967043"/>
            <a:ext cx="6025515" cy="635079"/>
          </a:xfrm>
          <a:prstGeom prst="rect">
            <a:avLst/>
          </a:prstGeom>
          <a:noFill/>
          <a:ln/>
        </p:spPr>
        <p:txBody>
          <a:bodyPr wrap="square" lIns="0" tIns="0" rIns="0" bIns="0" rtlCol="0" anchor="t"/>
          <a:lstStyle/>
          <a:p>
            <a:pPr marL="342900" indent="-342900" algn="l">
              <a:lnSpc>
                <a:spcPts val="2500"/>
              </a:lnSpc>
              <a:buSzPct val="100000"/>
              <a:buChar char="•"/>
            </a:pPr>
            <a:r>
              <a:rPr lang="en-US" dirty="0">
                <a:solidFill>
                  <a:srgbClr val="464646"/>
                </a:solidFill>
                <a:latin typeface="Calibri Light" panose="020F0302020204030204" pitchFamily="34" charset="0"/>
                <a:ea typeface="Inter Medium" pitchFamily="34" charset="-122"/>
                <a:cs typeface="Calibri Light" panose="020F0302020204030204" pitchFamily="34" charset="0"/>
              </a:rPr>
              <a:t>Practice sessions where students role-play the role of expert with peers in consultation format</a:t>
            </a:r>
            <a:endParaRPr lang="en-US" dirty="0"/>
          </a:p>
        </p:txBody>
      </p:sp>
      <p:sp>
        <p:nvSpPr>
          <p:cNvPr id="9" name="Text 7"/>
          <p:cNvSpPr/>
          <p:nvPr/>
        </p:nvSpPr>
        <p:spPr>
          <a:xfrm>
            <a:off x="992148" y="4671536"/>
            <a:ext cx="6025515" cy="635079"/>
          </a:xfrm>
          <a:prstGeom prst="rect">
            <a:avLst/>
          </a:prstGeom>
          <a:noFill/>
          <a:ln/>
        </p:spPr>
        <p:txBody>
          <a:bodyPr wrap="square" lIns="0" tIns="0" rIns="0" bIns="0" rtlCol="0" anchor="t"/>
          <a:lstStyle/>
          <a:p>
            <a:pPr marL="342900" indent="-342900" algn="l">
              <a:lnSpc>
                <a:spcPts val="2500"/>
              </a:lnSpc>
              <a:buSzPct val="100000"/>
              <a:buChar char="•"/>
            </a:pPr>
            <a:r>
              <a:rPr lang="en-US" dirty="0">
                <a:solidFill>
                  <a:srgbClr val="464646"/>
                </a:solidFill>
                <a:latin typeface="Calibri Light" panose="020F0302020204030204" pitchFamily="34" charset="0"/>
                <a:ea typeface="Inter Medium" pitchFamily="34" charset="-122"/>
                <a:cs typeface="Calibri Light" panose="020F0302020204030204" pitchFamily="34" charset="0"/>
              </a:rPr>
              <a:t>Self-rating activities to understand their readiness to do the assessment</a:t>
            </a:r>
            <a:endParaRPr lang="en-US" dirty="0"/>
          </a:p>
        </p:txBody>
      </p:sp>
      <p:sp>
        <p:nvSpPr>
          <p:cNvPr id="10" name="Text 8"/>
          <p:cNvSpPr/>
          <p:nvPr/>
        </p:nvSpPr>
        <p:spPr>
          <a:xfrm>
            <a:off x="992148" y="5376029"/>
            <a:ext cx="6025515" cy="635079"/>
          </a:xfrm>
          <a:prstGeom prst="rect">
            <a:avLst/>
          </a:prstGeom>
          <a:noFill/>
          <a:ln/>
        </p:spPr>
        <p:txBody>
          <a:bodyPr wrap="square" lIns="0" tIns="0" rIns="0" bIns="0" rtlCol="0" anchor="t"/>
          <a:lstStyle/>
          <a:p>
            <a:pPr marL="342900" indent="-342900" algn="l">
              <a:lnSpc>
                <a:spcPts val="2500"/>
              </a:lnSpc>
              <a:buSzPct val="100000"/>
              <a:buChar char="•"/>
            </a:pPr>
            <a:r>
              <a:rPr lang="en-US" dirty="0">
                <a:solidFill>
                  <a:srgbClr val="464646"/>
                </a:solidFill>
                <a:latin typeface="Calibri Light" panose="020F0302020204030204" pitchFamily="34" charset="0"/>
                <a:ea typeface="Inter Medium" pitchFamily="34" charset="-122"/>
                <a:cs typeface="Calibri Light" panose="020F0302020204030204" pitchFamily="34" charset="0"/>
              </a:rPr>
              <a:t>Managed booking calendar for self-selected assessment sessions with flexibility for rescheduling</a:t>
            </a:r>
            <a:endParaRPr lang="en-US" dirty="0"/>
          </a:p>
        </p:txBody>
      </p:sp>
      <p:sp>
        <p:nvSpPr>
          <p:cNvPr id="11" name="Shape 9"/>
          <p:cNvSpPr/>
          <p:nvPr/>
        </p:nvSpPr>
        <p:spPr>
          <a:xfrm>
            <a:off x="7414379" y="1861066"/>
            <a:ext cx="6422231" cy="4348401"/>
          </a:xfrm>
          <a:prstGeom prst="roundRect">
            <a:avLst>
              <a:gd name="adj" fmla="val 685"/>
            </a:avLst>
          </a:prstGeom>
          <a:solidFill>
            <a:srgbClr val="F2EEEE"/>
          </a:solidFill>
          <a:ln/>
        </p:spPr>
        <p:txBody>
          <a:bodyPr/>
          <a:lstStyle/>
          <a:p>
            <a:endParaRPr lang="en-US"/>
          </a:p>
        </p:txBody>
      </p:sp>
      <p:sp>
        <p:nvSpPr>
          <p:cNvPr id="12" name="Text 10"/>
          <p:cNvSpPr/>
          <p:nvPr/>
        </p:nvSpPr>
        <p:spPr>
          <a:xfrm>
            <a:off x="7612737" y="2059424"/>
            <a:ext cx="3033712" cy="310158"/>
          </a:xfrm>
          <a:prstGeom prst="rect">
            <a:avLst/>
          </a:prstGeom>
          <a:noFill/>
          <a:ln/>
        </p:spPr>
        <p:txBody>
          <a:bodyPr wrap="none" lIns="0" tIns="0" rIns="0" bIns="0" rtlCol="0" anchor="t"/>
          <a:lstStyle/>
          <a:p>
            <a:pPr marL="0" indent="0" algn="l">
              <a:lnSpc>
                <a:spcPts val="2400"/>
              </a:lnSpc>
              <a:buNone/>
            </a:pPr>
            <a:r>
              <a:rPr lang="en-US" sz="1950" b="1" dirty="0">
                <a:solidFill>
                  <a:srgbClr val="464646"/>
                </a:solidFill>
                <a:latin typeface="Aptos SemiBold" panose="020B0004020202020204" pitchFamily="34" charset="0"/>
                <a:ea typeface="DM Sans Semi Bold" pitchFamily="34" charset="-122"/>
                <a:cs typeface="DM Sans Semi Bold" pitchFamily="34" charset="-120"/>
              </a:rPr>
              <a:t>Skills Development Focus</a:t>
            </a:r>
            <a:endParaRPr lang="en-US" sz="1950" dirty="0"/>
          </a:p>
        </p:txBody>
      </p:sp>
      <p:sp>
        <p:nvSpPr>
          <p:cNvPr id="13" name="Text 11"/>
          <p:cNvSpPr/>
          <p:nvPr/>
        </p:nvSpPr>
        <p:spPr>
          <a:xfrm>
            <a:off x="7612737" y="2488644"/>
            <a:ext cx="6025515" cy="317540"/>
          </a:xfrm>
          <a:prstGeom prst="rect">
            <a:avLst/>
          </a:prstGeom>
          <a:noFill/>
          <a:ln/>
        </p:spPr>
        <p:txBody>
          <a:bodyPr wrap="none" lIns="0" tIns="0" rIns="0" bIns="0" rtlCol="0" anchor="t"/>
          <a:lstStyle/>
          <a:p>
            <a:pPr marL="342900" indent="-342900" algn="l">
              <a:lnSpc>
                <a:spcPts val="2500"/>
              </a:lnSpc>
              <a:buSzPct val="100000"/>
              <a:buChar char="•"/>
            </a:pPr>
            <a:r>
              <a:rPr lang="en-US" dirty="0">
                <a:solidFill>
                  <a:srgbClr val="464646"/>
                </a:solidFill>
                <a:latin typeface="Calibri Light" panose="020F0302020204030204" pitchFamily="34" charset="0"/>
                <a:ea typeface="Inter Medium" pitchFamily="34" charset="-122"/>
                <a:cs typeface="Calibri Light" panose="020F0302020204030204" pitchFamily="34" charset="0"/>
              </a:rPr>
              <a:t>Higher level of skill application to authentic artefacts</a:t>
            </a:r>
            <a:endParaRPr lang="en-US" dirty="0"/>
          </a:p>
        </p:txBody>
      </p:sp>
      <p:sp>
        <p:nvSpPr>
          <p:cNvPr id="14" name="Text 12"/>
          <p:cNvSpPr/>
          <p:nvPr/>
        </p:nvSpPr>
        <p:spPr>
          <a:xfrm>
            <a:off x="7612737" y="2875597"/>
            <a:ext cx="6025515" cy="635079"/>
          </a:xfrm>
          <a:prstGeom prst="rect">
            <a:avLst/>
          </a:prstGeom>
          <a:noFill/>
          <a:ln/>
        </p:spPr>
        <p:txBody>
          <a:bodyPr wrap="square" lIns="0" tIns="0" rIns="0" bIns="0" rtlCol="0" anchor="t"/>
          <a:lstStyle/>
          <a:p>
            <a:pPr marL="342900" indent="-342900" algn="l">
              <a:lnSpc>
                <a:spcPts val="2500"/>
              </a:lnSpc>
              <a:buSzPct val="100000"/>
              <a:buChar char="•"/>
            </a:pPr>
            <a:r>
              <a:rPr lang="en-US" dirty="0">
                <a:solidFill>
                  <a:srgbClr val="464646"/>
                </a:solidFill>
                <a:latin typeface="Calibri Light" panose="020F0302020204030204" pitchFamily="34" charset="0"/>
                <a:ea typeface="Inter Medium" pitchFamily="34" charset="-122"/>
                <a:cs typeface="Calibri Light" panose="020F0302020204030204" pitchFamily="34" charset="0"/>
              </a:rPr>
              <a:t>Alignment to clear professional communication contexts and protocols in an industry setting</a:t>
            </a:r>
            <a:endParaRPr lang="en-US" dirty="0"/>
          </a:p>
        </p:txBody>
      </p:sp>
      <p:sp>
        <p:nvSpPr>
          <p:cNvPr id="15" name="Text 13"/>
          <p:cNvSpPr/>
          <p:nvPr/>
        </p:nvSpPr>
        <p:spPr>
          <a:xfrm>
            <a:off x="7612737" y="3580090"/>
            <a:ext cx="6025515" cy="635079"/>
          </a:xfrm>
          <a:prstGeom prst="rect">
            <a:avLst/>
          </a:prstGeom>
          <a:noFill/>
          <a:ln/>
        </p:spPr>
        <p:txBody>
          <a:bodyPr wrap="square" lIns="0" tIns="0" rIns="0" bIns="0" rtlCol="0" anchor="t"/>
          <a:lstStyle/>
          <a:p>
            <a:pPr marL="342900" indent="-342900" algn="l">
              <a:lnSpc>
                <a:spcPts val="2500"/>
              </a:lnSpc>
              <a:buSzPct val="100000"/>
              <a:buChar char="•"/>
            </a:pPr>
            <a:r>
              <a:rPr lang="en-US" dirty="0">
                <a:solidFill>
                  <a:srgbClr val="464646"/>
                </a:solidFill>
                <a:latin typeface="Calibri Light" panose="020F0302020204030204" pitchFamily="34" charset="0"/>
                <a:ea typeface="Inter Medium" pitchFamily="34" charset="-122"/>
                <a:cs typeface="Calibri Light" panose="020F0302020204030204" pitchFamily="34" charset="0"/>
              </a:rPr>
              <a:t>Adapting analytical conclusions to address specific client questions and concerns</a:t>
            </a:r>
            <a:endParaRPr lang="en-US" dirty="0"/>
          </a:p>
        </p:txBody>
      </p:sp>
      <p:sp>
        <p:nvSpPr>
          <p:cNvPr id="16" name="Text 14"/>
          <p:cNvSpPr/>
          <p:nvPr/>
        </p:nvSpPr>
        <p:spPr>
          <a:xfrm>
            <a:off x="7612737" y="4284583"/>
            <a:ext cx="6025515" cy="635079"/>
          </a:xfrm>
          <a:prstGeom prst="rect">
            <a:avLst/>
          </a:prstGeom>
          <a:noFill/>
          <a:ln/>
        </p:spPr>
        <p:txBody>
          <a:bodyPr wrap="square" lIns="0" tIns="0" rIns="0" bIns="0" rtlCol="0" anchor="t"/>
          <a:lstStyle/>
          <a:p>
            <a:pPr marL="342900" indent="-342900" algn="l">
              <a:lnSpc>
                <a:spcPts val="2500"/>
              </a:lnSpc>
              <a:buSzPct val="100000"/>
              <a:buChar char="•"/>
            </a:pPr>
            <a:r>
              <a:rPr lang="en-US" dirty="0">
                <a:solidFill>
                  <a:srgbClr val="464646"/>
                </a:solidFill>
                <a:latin typeface="Calibri Light" panose="020F0302020204030204" pitchFamily="34" charset="0"/>
                <a:ea typeface="Inter Medium" pitchFamily="34" charset="-122"/>
                <a:cs typeface="Calibri Light" panose="020F0302020204030204" pitchFamily="34" charset="0"/>
              </a:rPr>
              <a:t>Managing time pressure whilst maintaining professional demeanour and credibility</a:t>
            </a:r>
            <a:endParaRPr lang="en-US" dirty="0"/>
          </a:p>
        </p:txBody>
      </p:sp>
      <p:sp>
        <p:nvSpPr>
          <p:cNvPr id="17" name="Text 15"/>
          <p:cNvSpPr/>
          <p:nvPr/>
        </p:nvSpPr>
        <p:spPr>
          <a:xfrm>
            <a:off x="7612737" y="4989076"/>
            <a:ext cx="6025515" cy="635079"/>
          </a:xfrm>
          <a:prstGeom prst="rect">
            <a:avLst/>
          </a:prstGeom>
          <a:noFill/>
          <a:ln/>
        </p:spPr>
        <p:txBody>
          <a:bodyPr wrap="square" lIns="0" tIns="0" rIns="0" bIns="0" rtlCol="0" anchor="t"/>
          <a:lstStyle/>
          <a:p>
            <a:pPr marL="342900" indent="-342900" algn="l">
              <a:lnSpc>
                <a:spcPts val="2500"/>
              </a:lnSpc>
              <a:buSzPct val="100000"/>
              <a:buChar char="•"/>
            </a:pPr>
            <a:r>
              <a:rPr lang="en-US" dirty="0">
                <a:solidFill>
                  <a:srgbClr val="464646"/>
                </a:solidFill>
                <a:latin typeface="Calibri Light" panose="020F0302020204030204" pitchFamily="34" charset="0"/>
                <a:ea typeface="Inter Medium" pitchFamily="34" charset="-122"/>
                <a:cs typeface="Calibri Light" panose="020F0302020204030204" pitchFamily="34" charset="0"/>
              </a:rPr>
              <a:t>Integrating business and legal knowledge in real-time consultation scenarios</a:t>
            </a:r>
            <a:endParaRPr lang="en-US" dirty="0"/>
          </a:p>
        </p:txBody>
      </p:sp>
      <p:sp>
        <p:nvSpPr>
          <p:cNvPr id="18" name="Text 16"/>
          <p:cNvSpPr/>
          <p:nvPr/>
        </p:nvSpPr>
        <p:spPr>
          <a:xfrm>
            <a:off x="793790" y="6432709"/>
            <a:ext cx="13265110" cy="1356020"/>
          </a:xfrm>
          <a:prstGeom prst="rect">
            <a:avLst/>
          </a:prstGeom>
          <a:noFill/>
          <a:ln/>
        </p:spPr>
        <p:txBody>
          <a:bodyPr wrap="square" lIns="0" tIns="0" rIns="0" bIns="0" rtlCol="0" anchor="t"/>
          <a:lstStyle/>
          <a:p>
            <a:pPr marL="0" indent="0" algn="l">
              <a:lnSpc>
                <a:spcPct val="120000"/>
              </a:lnSpc>
              <a:buNone/>
            </a:pPr>
            <a:r>
              <a:rPr lang="en-US" sz="2000" dirty="0">
                <a:solidFill>
                  <a:srgbClr val="1C9770"/>
                </a:solidFill>
                <a:latin typeface="Calibri Light" panose="020F0302020204030204" pitchFamily="34" charset="0"/>
                <a:ea typeface="Inter Medium" pitchFamily="34" charset="-122"/>
                <a:cs typeface="Calibri Light" panose="020F0302020204030204" pitchFamily="34" charset="0"/>
              </a:rPr>
              <a:t>Assessment Connection:</a:t>
            </a:r>
            <a:r>
              <a:rPr lang="en-US" sz="2000" dirty="0">
                <a:solidFill>
                  <a:srgbClr val="464646"/>
                </a:solidFill>
                <a:latin typeface="Calibri Light" panose="020F0302020204030204" pitchFamily="34" charset="0"/>
                <a:ea typeface="Inter Medium" pitchFamily="34" charset="-122"/>
                <a:cs typeface="Calibri Light" panose="020F0302020204030204" pitchFamily="34" charset="0"/>
              </a:rPr>
              <a:t> This stage directly enables student success in the IOA component, fostering equity and reducing assessment anxiety through structured, comprehensive preparation. Students develop confidence through repeated practice in low-stakes environments before the formal assessment. Flexible scheduling means small events for learners don't become a crisis. </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673894"/>
            <a:ext cx="8358188" cy="403146"/>
          </a:xfrm>
          <a:prstGeom prst="rect">
            <a:avLst/>
          </a:prstGeom>
          <a:noFill/>
          <a:ln/>
        </p:spPr>
        <p:txBody>
          <a:bodyPr wrap="none" lIns="0" tIns="0" rIns="0" bIns="0" rtlCol="0" anchor="t"/>
          <a:lstStyle/>
          <a:p>
            <a:pPr marL="0" indent="0" algn="l">
              <a:lnSpc>
                <a:spcPts val="3150"/>
              </a:lnSpc>
              <a:buNone/>
            </a:pPr>
            <a:r>
              <a:rPr lang="en-US" sz="2500" b="1" dirty="0">
                <a:solidFill>
                  <a:srgbClr val="030303"/>
                </a:solidFill>
                <a:latin typeface="Aptos SemiBold" panose="020B0004020202020204" pitchFamily="34" charset="0"/>
                <a:ea typeface="DM Sans Semi Bold" pitchFamily="34" charset="-122"/>
                <a:cs typeface="DM Sans Semi Bold" pitchFamily="34" charset="-120"/>
              </a:rPr>
              <a:t>Stage 4: Interactive Oral Assessment - On the Ground</a:t>
            </a:r>
            <a:endParaRPr lang="en-US" sz="2500" dirty="0"/>
          </a:p>
        </p:txBody>
      </p:sp>
      <p:sp>
        <p:nvSpPr>
          <p:cNvPr id="3" name="Text 1"/>
          <p:cNvSpPr/>
          <p:nvPr/>
        </p:nvSpPr>
        <p:spPr>
          <a:xfrm>
            <a:off x="793790" y="1270516"/>
            <a:ext cx="5585936" cy="322421"/>
          </a:xfrm>
          <a:prstGeom prst="rect">
            <a:avLst/>
          </a:prstGeom>
          <a:noFill/>
          <a:ln/>
        </p:spPr>
        <p:txBody>
          <a:bodyPr wrap="none" lIns="0" tIns="0" rIns="0" bIns="0" rtlCol="0" anchor="t"/>
          <a:lstStyle/>
          <a:p>
            <a:pPr marL="0" indent="0" algn="l">
              <a:lnSpc>
                <a:spcPts val="2500"/>
              </a:lnSpc>
              <a:buNone/>
            </a:pPr>
            <a:r>
              <a:rPr lang="en-US" sz="2400" b="1" dirty="0">
                <a:solidFill>
                  <a:srgbClr val="030303"/>
                </a:solidFill>
                <a:latin typeface="Aptos SemiBold" panose="020B0004020202020204" pitchFamily="34" charset="0"/>
                <a:ea typeface="DM Sans Semi Bold" pitchFamily="34" charset="-122"/>
                <a:cs typeface="DM Sans Semi Bold" pitchFamily="34" charset="-120"/>
              </a:rPr>
              <a:t>Professional Consultation Scenario Structure</a:t>
            </a:r>
            <a:endParaRPr lang="en-US" sz="2400" dirty="0"/>
          </a:p>
        </p:txBody>
      </p:sp>
      <p:sp>
        <p:nvSpPr>
          <p:cNvPr id="4" name="Text 2"/>
          <p:cNvSpPr/>
          <p:nvPr/>
        </p:nvSpPr>
        <p:spPr>
          <a:xfrm>
            <a:off x="793790" y="1786414"/>
            <a:ext cx="13042821" cy="773668"/>
          </a:xfrm>
          <a:prstGeom prst="rect">
            <a:avLst/>
          </a:prstGeom>
          <a:noFill/>
          <a:ln/>
        </p:spPr>
        <p:txBody>
          <a:bodyPr wrap="square" lIns="0" tIns="0" rIns="0" bIns="0" rtlCol="0" anchor="t"/>
          <a:lstStyle/>
          <a:p>
            <a:pPr marL="0" indent="0" algn="l">
              <a:lnSpc>
                <a:spcPts val="2000"/>
              </a:lnSpc>
              <a:buNone/>
            </a:pPr>
            <a:r>
              <a:rPr lang="en-US" dirty="0">
                <a:solidFill>
                  <a:srgbClr val="464646"/>
                </a:solidFill>
                <a:latin typeface="Calibri Light" panose="020F0302020204030204" pitchFamily="34" charset="0"/>
                <a:ea typeface="Inter Medium" pitchFamily="34" charset="-122"/>
                <a:cs typeface="Calibri Light" panose="020F0302020204030204" pitchFamily="34" charset="0"/>
              </a:rPr>
              <a:t>The 15-minute one-on-one assessment positions the assessor/expert as a construction industry client requiring urgent business advice. Students assume the role of building construction consultant, providing structured recommendations whilst adapting to unexpected complications that require real-time modification of their written analysis. This authentic scenario tests professional judgement, communication effectiveness, and practical knowledge application under realistic time constraints.</a:t>
            </a:r>
            <a:endParaRPr lang="en-US" dirty="0"/>
          </a:p>
        </p:txBody>
      </p:sp>
      <p:sp>
        <p:nvSpPr>
          <p:cNvPr id="5" name="Text 3"/>
          <p:cNvSpPr/>
          <p:nvPr/>
        </p:nvSpPr>
        <p:spPr>
          <a:xfrm>
            <a:off x="793790" y="2981006"/>
            <a:ext cx="2930604" cy="241816"/>
          </a:xfrm>
          <a:prstGeom prst="rect">
            <a:avLst/>
          </a:prstGeom>
          <a:noFill/>
          <a:ln/>
        </p:spPr>
        <p:txBody>
          <a:bodyPr wrap="none" lIns="0" tIns="0" rIns="0" bIns="0" rtlCol="0" anchor="t"/>
          <a:lstStyle/>
          <a:p>
            <a:pPr marL="0" indent="0" algn="l">
              <a:lnSpc>
                <a:spcPts val="1900"/>
              </a:lnSpc>
              <a:buNone/>
            </a:pPr>
            <a:r>
              <a:rPr lang="en-US" b="1" dirty="0">
                <a:solidFill>
                  <a:srgbClr val="030303"/>
                </a:solidFill>
                <a:latin typeface="Aptos SemiBold" panose="020B0004020202020204" pitchFamily="34" charset="0"/>
                <a:ea typeface="DM Sans Semi Bold" pitchFamily="34" charset="-122"/>
                <a:cs typeface="DM Sans Semi Bold" pitchFamily="34" charset="-120"/>
              </a:rPr>
              <a:t>Dynamic Assessment Elements</a:t>
            </a:r>
            <a:endParaRPr lang="en-US" dirty="0"/>
          </a:p>
        </p:txBody>
      </p:sp>
      <p:sp>
        <p:nvSpPr>
          <p:cNvPr id="6" name="Text 4"/>
          <p:cNvSpPr/>
          <p:nvPr/>
        </p:nvSpPr>
        <p:spPr>
          <a:xfrm>
            <a:off x="793790" y="3368094"/>
            <a:ext cx="6364129" cy="257890"/>
          </a:xfrm>
          <a:prstGeom prst="rect">
            <a:avLst/>
          </a:prstGeom>
          <a:noFill/>
          <a:ln/>
        </p:spPr>
        <p:txBody>
          <a:bodyPr wrap="none" lIns="0" tIns="0" rIns="0" bIns="0" rtlCol="0" anchor="t"/>
          <a:lstStyle/>
          <a:p>
            <a:pPr marL="342900" indent="-342900" algn="l">
              <a:lnSpc>
                <a:spcPts val="1600"/>
              </a:lnSpc>
              <a:buSzPct val="100000"/>
              <a:buChar char="•"/>
            </a:pPr>
            <a:r>
              <a:rPr lang="en-US" sz="1600" dirty="0">
                <a:solidFill>
                  <a:srgbClr val="464646"/>
                </a:solidFill>
                <a:latin typeface="Calibri Light" panose="020F0302020204030204" pitchFamily="34" charset="0"/>
                <a:ea typeface="Inter Medium" pitchFamily="34" charset="-122"/>
                <a:cs typeface="Calibri Light" panose="020F0302020204030204" pitchFamily="34" charset="0"/>
              </a:rPr>
              <a:t>Semi-structured interview allows probing for elaboration of responses</a:t>
            </a:r>
            <a:endParaRPr lang="en-US" sz="1600" dirty="0"/>
          </a:p>
        </p:txBody>
      </p:sp>
      <p:sp>
        <p:nvSpPr>
          <p:cNvPr id="7" name="Text 5"/>
          <p:cNvSpPr/>
          <p:nvPr/>
        </p:nvSpPr>
        <p:spPr>
          <a:xfrm>
            <a:off x="793790" y="3671108"/>
            <a:ext cx="6364129" cy="257890"/>
          </a:xfrm>
          <a:prstGeom prst="rect">
            <a:avLst/>
          </a:prstGeom>
          <a:noFill/>
          <a:ln/>
        </p:spPr>
        <p:txBody>
          <a:bodyPr wrap="none" lIns="0" tIns="0" rIns="0" bIns="0" rtlCol="0" anchor="t"/>
          <a:lstStyle/>
          <a:p>
            <a:pPr marL="342900" indent="-342900" algn="l">
              <a:lnSpc>
                <a:spcPts val="1600"/>
              </a:lnSpc>
              <a:buSzPct val="100000"/>
              <a:buChar char="•"/>
            </a:pPr>
            <a:r>
              <a:rPr lang="en-US" sz="1600" dirty="0">
                <a:solidFill>
                  <a:srgbClr val="464646"/>
                </a:solidFill>
                <a:latin typeface="Calibri Light" panose="020F0302020204030204" pitchFamily="34" charset="0"/>
                <a:ea typeface="Inter Medium" pitchFamily="34" charset="-122"/>
                <a:cs typeface="Calibri Light" panose="020F0302020204030204" pitchFamily="34" charset="0"/>
              </a:rPr>
              <a:t>Random scenario selection ensures learners engage in deep preparation</a:t>
            </a:r>
            <a:endParaRPr lang="en-US" sz="1600" dirty="0"/>
          </a:p>
        </p:txBody>
      </p:sp>
      <p:sp>
        <p:nvSpPr>
          <p:cNvPr id="8" name="Text 6"/>
          <p:cNvSpPr/>
          <p:nvPr/>
        </p:nvSpPr>
        <p:spPr>
          <a:xfrm>
            <a:off x="793790" y="3974123"/>
            <a:ext cx="6364129" cy="515779"/>
          </a:xfrm>
          <a:prstGeom prst="rect">
            <a:avLst/>
          </a:prstGeom>
          <a:noFill/>
          <a:ln/>
        </p:spPr>
        <p:txBody>
          <a:bodyPr wrap="square" lIns="0" tIns="0" rIns="0" bIns="0" rtlCol="0" anchor="t"/>
          <a:lstStyle/>
          <a:p>
            <a:pPr marL="342900" indent="-342900" algn="l">
              <a:lnSpc>
                <a:spcPts val="1600"/>
              </a:lnSpc>
              <a:buSzPct val="100000"/>
              <a:buChar char="•"/>
            </a:pPr>
            <a:r>
              <a:rPr lang="en-US" sz="1600" dirty="0">
                <a:solidFill>
                  <a:srgbClr val="464646"/>
                </a:solidFill>
                <a:latin typeface="Calibri Light" panose="020F0302020204030204" pitchFamily="34" charset="0"/>
                <a:ea typeface="Inter Medium" pitchFamily="34" charset="-122"/>
                <a:cs typeface="Calibri Light" panose="020F0302020204030204" pitchFamily="34" charset="0"/>
              </a:rPr>
              <a:t>Novel developments can be introduced that requiring a strategic response, for example</a:t>
            </a:r>
            <a:endParaRPr lang="en-US" sz="1600" dirty="0"/>
          </a:p>
        </p:txBody>
      </p:sp>
      <p:sp>
        <p:nvSpPr>
          <p:cNvPr id="9" name="Text 7"/>
          <p:cNvSpPr/>
          <p:nvPr/>
        </p:nvSpPr>
        <p:spPr>
          <a:xfrm>
            <a:off x="793790" y="4535027"/>
            <a:ext cx="6364129" cy="515779"/>
          </a:xfrm>
          <a:prstGeom prst="rect">
            <a:avLst/>
          </a:prstGeom>
          <a:noFill/>
          <a:ln/>
        </p:spPr>
        <p:txBody>
          <a:bodyPr wrap="square" lIns="0" tIns="0" rIns="0" bIns="0" rtlCol="0" anchor="t"/>
          <a:lstStyle/>
          <a:p>
            <a:pPr marL="685800" lvl="1" indent="-342900" algn="l">
              <a:lnSpc>
                <a:spcPts val="1600"/>
              </a:lnSpc>
              <a:buSzPct val="100000"/>
              <a:buFont typeface="Wingdings" pitchFamily="2" charset="2"/>
              <a:buChar char="Ø"/>
            </a:pPr>
            <a:r>
              <a:rPr lang="en-US" sz="1600" dirty="0">
                <a:solidFill>
                  <a:srgbClr val="464646"/>
                </a:solidFill>
                <a:latin typeface="Calibri Light" panose="020F0302020204030204" pitchFamily="34" charset="0"/>
                <a:ea typeface="Inter Medium" pitchFamily="34" charset="-122"/>
                <a:cs typeface="Calibri Light" panose="020F0302020204030204" pitchFamily="34" charset="0"/>
              </a:rPr>
              <a:t>Financial changes or regulatory complications affecting business structure recommendations</a:t>
            </a:r>
            <a:endParaRPr lang="en-US" sz="1600" dirty="0"/>
          </a:p>
        </p:txBody>
      </p:sp>
      <p:sp>
        <p:nvSpPr>
          <p:cNvPr id="10" name="Text 8"/>
          <p:cNvSpPr/>
          <p:nvPr/>
        </p:nvSpPr>
        <p:spPr>
          <a:xfrm>
            <a:off x="793790" y="5095929"/>
            <a:ext cx="6364129" cy="257890"/>
          </a:xfrm>
          <a:prstGeom prst="rect">
            <a:avLst/>
          </a:prstGeom>
          <a:noFill/>
          <a:ln/>
        </p:spPr>
        <p:txBody>
          <a:bodyPr wrap="none" lIns="0" tIns="0" rIns="0" bIns="0" rtlCol="0" anchor="t"/>
          <a:lstStyle/>
          <a:p>
            <a:pPr marL="685800" lvl="1" indent="-342900" algn="l">
              <a:lnSpc>
                <a:spcPts val="1600"/>
              </a:lnSpc>
              <a:buSzPct val="100000"/>
              <a:buFont typeface="Wingdings" pitchFamily="2" charset="2"/>
              <a:buChar char="Ø"/>
            </a:pPr>
            <a:r>
              <a:rPr lang="en-US" sz="1600" dirty="0">
                <a:solidFill>
                  <a:srgbClr val="464646"/>
                </a:solidFill>
                <a:latin typeface="Calibri Light" panose="020F0302020204030204" pitchFamily="34" charset="0"/>
                <a:ea typeface="Inter Medium" pitchFamily="34" charset="-122"/>
                <a:cs typeface="Calibri Light" panose="020F0302020204030204" pitchFamily="34" charset="0"/>
              </a:rPr>
              <a:t>Client misunderstanding impacting interpretation of advice</a:t>
            </a:r>
            <a:endParaRPr lang="en-US" sz="1600" dirty="0"/>
          </a:p>
        </p:txBody>
      </p:sp>
      <p:sp>
        <p:nvSpPr>
          <p:cNvPr id="11" name="Text 9"/>
          <p:cNvSpPr/>
          <p:nvPr/>
        </p:nvSpPr>
        <p:spPr>
          <a:xfrm>
            <a:off x="793790" y="5398944"/>
            <a:ext cx="6364129" cy="515779"/>
          </a:xfrm>
          <a:prstGeom prst="rect">
            <a:avLst/>
          </a:prstGeom>
          <a:noFill/>
          <a:ln/>
        </p:spPr>
        <p:txBody>
          <a:bodyPr wrap="square" lIns="0" tIns="0" rIns="0" bIns="0" rtlCol="0" anchor="t"/>
          <a:lstStyle/>
          <a:p>
            <a:pPr marL="342900" indent="-342900" algn="l">
              <a:lnSpc>
                <a:spcPts val="1600"/>
              </a:lnSpc>
              <a:buSzPct val="100000"/>
              <a:buChar char="•"/>
            </a:pPr>
            <a:r>
              <a:rPr lang="en-US" sz="1600" dirty="0">
                <a:solidFill>
                  <a:srgbClr val="464646"/>
                </a:solidFill>
                <a:latin typeface="Calibri Light" panose="020F0302020204030204" pitchFamily="34" charset="0"/>
                <a:ea typeface="Inter Medium" pitchFamily="34" charset="-122"/>
                <a:cs typeface="Calibri Light" panose="020F0302020204030204" pitchFamily="34" charset="0"/>
              </a:rPr>
              <a:t>Prior preparation allows demonstration of contract law understanding in practical, applied context</a:t>
            </a:r>
            <a:endParaRPr lang="en-US" sz="1600" dirty="0"/>
          </a:p>
        </p:txBody>
      </p:sp>
      <p:sp>
        <p:nvSpPr>
          <p:cNvPr id="12" name="Shape 10"/>
          <p:cNvSpPr/>
          <p:nvPr/>
        </p:nvSpPr>
        <p:spPr>
          <a:xfrm>
            <a:off x="793790" y="6200830"/>
            <a:ext cx="6364129" cy="1373148"/>
          </a:xfrm>
          <a:prstGeom prst="roundRect">
            <a:avLst>
              <a:gd name="adj" fmla="val 1409"/>
            </a:avLst>
          </a:prstGeom>
          <a:solidFill>
            <a:srgbClr val="B6D6FC"/>
          </a:solidFill>
          <a:ln/>
        </p:spPr>
        <p:txBody>
          <a:bodyPr/>
          <a:lstStyle/>
          <a:p>
            <a:endParaRPr lang="en-US"/>
          </a:p>
        </p:txBody>
      </p:sp>
      <p:pic>
        <p:nvPicPr>
          <p:cNvPr id="13" name="Image 0" descr="preencoded.png"/>
          <p:cNvPicPr>
            <a:picLocks noChangeAspect="1"/>
          </p:cNvPicPr>
          <p:nvPr/>
        </p:nvPicPr>
        <p:blipFill>
          <a:blip r:embed="rId3"/>
          <a:stretch>
            <a:fillRect/>
          </a:stretch>
        </p:blipFill>
        <p:spPr>
          <a:xfrm>
            <a:off x="922734" y="6403713"/>
            <a:ext cx="201573" cy="161211"/>
          </a:xfrm>
          <a:prstGeom prst="rect">
            <a:avLst/>
          </a:prstGeom>
        </p:spPr>
      </p:pic>
      <p:sp>
        <p:nvSpPr>
          <p:cNvPr id="14" name="Text 11"/>
          <p:cNvSpPr/>
          <p:nvPr/>
        </p:nvSpPr>
        <p:spPr>
          <a:xfrm>
            <a:off x="1253252" y="6361922"/>
            <a:ext cx="5775722" cy="1031558"/>
          </a:xfrm>
          <a:prstGeom prst="rect">
            <a:avLst/>
          </a:prstGeom>
          <a:noFill/>
          <a:ln/>
        </p:spPr>
        <p:txBody>
          <a:bodyPr wrap="square" lIns="0" tIns="0" rIns="0" bIns="0" rtlCol="0" anchor="t"/>
          <a:lstStyle/>
          <a:p>
            <a:pPr marL="0" indent="0" algn="l">
              <a:lnSpc>
                <a:spcPts val="2000"/>
              </a:lnSpc>
              <a:buNone/>
            </a:pPr>
            <a:r>
              <a:rPr lang="en-US" sz="1400" dirty="0">
                <a:solidFill>
                  <a:srgbClr val="000000"/>
                </a:solidFill>
                <a:latin typeface="Calibri Light" panose="020F0302020204030204" pitchFamily="34" charset="0"/>
                <a:ea typeface="Inter Medium" pitchFamily="34" charset="-122"/>
                <a:cs typeface="Calibri Light" panose="020F0302020204030204" pitchFamily="34" charset="0"/>
              </a:rPr>
              <a:t>Feedback: An important aspect of IOAs is that non-verbal as well as formal feedback is visible to the learner. Ensure your assessment team have prepared a feedback strategy that integrates all feedback opportunities in alignment with the assessment task rubric. </a:t>
            </a:r>
            <a:endParaRPr lang="en-US" sz="1400" dirty="0"/>
          </a:p>
        </p:txBody>
      </p:sp>
      <p:sp>
        <p:nvSpPr>
          <p:cNvPr id="15" name="Text 12"/>
          <p:cNvSpPr/>
          <p:nvPr/>
        </p:nvSpPr>
        <p:spPr>
          <a:xfrm>
            <a:off x="7480102" y="2981006"/>
            <a:ext cx="3884414" cy="241816"/>
          </a:xfrm>
          <a:prstGeom prst="rect">
            <a:avLst/>
          </a:prstGeom>
          <a:noFill/>
          <a:ln/>
        </p:spPr>
        <p:txBody>
          <a:bodyPr wrap="none" lIns="0" tIns="0" rIns="0" bIns="0" rtlCol="0" anchor="t"/>
          <a:lstStyle/>
          <a:p>
            <a:pPr marL="0" indent="0" algn="l">
              <a:lnSpc>
                <a:spcPts val="1900"/>
              </a:lnSpc>
              <a:buNone/>
            </a:pPr>
            <a:r>
              <a:rPr lang="en-US" b="1" dirty="0">
                <a:solidFill>
                  <a:srgbClr val="030303"/>
                </a:solidFill>
                <a:latin typeface="Aptos SemiBold" panose="020B0004020202020204" pitchFamily="34" charset="0"/>
                <a:ea typeface="DM Sans Semi Bold" pitchFamily="34" charset="-122"/>
                <a:cs typeface="DM Sans Semi Bold" pitchFamily="34" charset="-120"/>
              </a:rPr>
              <a:t>Example Assessment Criteria Distribution</a:t>
            </a:r>
            <a:endParaRPr lang="en-US" dirty="0"/>
          </a:p>
        </p:txBody>
      </p:sp>
      <p:sp>
        <p:nvSpPr>
          <p:cNvPr id="16" name="Shape 13"/>
          <p:cNvSpPr/>
          <p:nvPr/>
        </p:nvSpPr>
        <p:spPr>
          <a:xfrm>
            <a:off x="7480102" y="3384169"/>
            <a:ext cx="6364129" cy="1310640"/>
          </a:xfrm>
          <a:prstGeom prst="roundRect">
            <a:avLst>
              <a:gd name="adj" fmla="val 1476"/>
            </a:avLst>
          </a:prstGeom>
          <a:solidFill>
            <a:srgbClr val="F2EEEE"/>
          </a:solidFill>
          <a:ln/>
        </p:spPr>
        <p:txBody>
          <a:bodyPr/>
          <a:lstStyle/>
          <a:p>
            <a:endParaRPr lang="en-US"/>
          </a:p>
        </p:txBody>
      </p:sp>
      <p:sp>
        <p:nvSpPr>
          <p:cNvPr id="17" name="Shape 14"/>
          <p:cNvSpPr/>
          <p:nvPr/>
        </p:nvSpPr>
        <p:spPr>
          <a:xfrm>
            <a:off x="10468689" y="3513113"/>
            <a:ext cx="386953" cy="386953"/>
          </a:xfrm>
          <a:prstGeom prst="roundRect">
            <a:avLst>
              <a:gd name="adj" fmla="val 23628414"/>
            </a:avLst>
          </a:prstGeom>
          <a:solidFill>
            <a:srgbClr val="1C9770"/>
          </a:solidFill>
          <a:ln/>
        </p:spPr>
        <p:txBody>
          <a:bodyPr/>
          <a:lstStyle/>
          <a:p>
            <a:endParaRPr lang="en-US"/>
          </a:p>
        </p:txBody>
      </p:sp>
      <p:sp>
        <p:nvSpPr>
          <p:cNvPr id="18" name="Text 15"/>
          <p:cNvSpPr/>
          <p:nvPr/>
        </p:nvSpPr>
        <p:spPr>
          <a:xfrm>
            <a:off x="10575131" y="3597767"/>
            <a:ext cx="174069" cy="217646"/>
          </a:xfrm>
          <a:prstGeom prst="rect">
            <a:avLst/>
          </a:prstGeom>
          <a:noFill/>
          <a:ln/>
        </p:spPr>
        <p:txBody>
          <a:bodyPr wrap="none" lIns="0" tIns="0" rIns="0" bIns="0" rtlCol="0" anchor="t"/>
          <a:lstStyle/>
          <a:p>
            <a:pPr marL="0" indent="0" algn="ctr">
              <a:lnSpc>
                <a:spcPts val="2150"/>
              </a:lnSpc>
              <a:buNone/>
            </a:pPr>
            <a:r>
              <a:rPr lang="en-US" sz="1350" b="1" dirty="0">
                <a:solidFill>
                  <a:srgbClr val="FFFFFF"/>
                </a:solidFill>
                <a:latin typeface="Aptos SemiBold" panose="020B0004020202020204" pitchFamily="34" charset="0"/>
                <a:ea typeface="DM Sans Semi Bold" pitchFamily="34" charset="-122"/>
                <a:cs typeface="DM Sans Semi Bold" pitchFamily="34" charset="-120"/>
              </a:rPr>
              <a:t>1</a:t>
            </a:r>
            <a:endParaRPr lang="en-US" sz="1350" dirty="0"/>
          </a:p>
        </p:txBody>
      </p:sp>
      <p:sp>
        <p:nvSpPr>
          <p:cNvPr id="19" name="Text 16"/>
          <p:cNvSpPr/>
          <p:nvPr/>
        </p:nvSpPr>
        <p:spPr>
          <a:xfrm>
            <a:off x="9349026" y="4029011"/>
            <a:ext cx="2626162" cy="201454"/>
          </a:xfrm>
          <a:prstGeom prst="rect">
            <a:avLst/>
          </a:prstGeom>
          <a:noFill/>
          <a:ln/>
        </p:spPr>
        <p:txBody>
          <a:bodyPr wrap="none" lIns="0" tIns="0" rIns="0" bIns="0" rtlCol="0" anchor="t"/>
          <a:lstStyle/>
          <a:p>
            <a:pPr marL="0" indent="0" algn="ctr">
              <a:lnSpc>
                <a:spcPts val="1550"/>
              </a:lnSpc>
              <a:buNone/>
            </a:pPr>
            <a:r>
              <a:rPr lang="en-US" sz="1250" b="1" dirty="0">
                <a:solidFill>
                  <a:srgbClr val="464646"/>
                </a:solidFill>
                <a:latin typeface="Aptos SemiBold" panose="020B0004020202020204" pitchFamily="34" charset="0"/>
                <a:ea typeface="DM Sans Semi Bold" pitchFamily="34" charset="-122"/>
                <a:cs typeface="DM Sans Semi Bold" pitchFamily="34" charset="-120"/>
              </a:rPr>
              <a:t>Professional Communication </a:t>
            </a:r>
            <a:r>
              <a:rPr lang="en-US" sz="1250" b="1" dirty="0">
                <a:solidFill>
                  <a:srgbClr val="1C9770"/>
                </a:solidFill>
                <a:latin typeface="Aptos SemiBold" panose="020B0004020202020204" pitchFamily="34" charset="0"/>
                <a:ea typeface="DM Sans Semi Bold" pitchFamily="34" charset="-122"/>
                <a:cs typeface="DM Sans Semi Bold" pitchFamily="34" charset="-120"/>
              </a:rPr>
              <a:t>30%</a:t>
            </a:r>
            <a:endParaRPr lang="en-US" sz="1250" dirty="0"/>
          </a:p>
        </p:txBody>
      </p:sp>
      <p:sp>
        <p:nvSpPr>
          <p:cNvPr id="20" name="Text 17"/>
          <p:cNvSpPr/>
          <p:nvPr/>
        </p:nvSpPr>
        <p:spPr>
          <a:xfrm>
            <a:off x="7609046" y="4359410"/>
            <a:ext cx="6106239" cy="206454"/>
          </a:xfrm>
          <a:prstGeom prst="rect">
            <a:avLst/>
          </a:prstGeom>
          <a:noFill/>
          <a:ln/>
        </p:spPr>
        <p:txBody>
          <a:bodyPr wrap="none" lIns="0" tIns="0" rIns="0" bIns="0" rtlCol="0" anchor="t"/>
          <a:lstStyle/>
          <a:p>
            <a:pPr marL="0" indent="0" algn="ctr">
              <a:lnSpc>
                <a:spcPts val="1600"/>
              </a:lnSpc>
              <a:buNone/>
            </a:pPr>
            <a:r>
              <a:rPr lang="en-US" sz="1000" dirty="0">
                <a:solidFill>
                  <a:srgbClr val="464646"/>
                </a:solidFill>
                <a:latin typeface="Calibri Light" panose="020F0302020204030204" pitchFamily="34" charset="0"/>
                <a:ea typeface="Inter Medium" pitchFamily="34" charset="-122"/>
                <a:cs typeface="Calibri Light" panose="020F0302020204030204" pitchFamily="34" charset="0"/>
              </a:rPr>
              <a:t>Client management and consultation skills</a:t>
            </a:r>
            <a:endParaRPr lang="en-US" sz="1000" dirty="0"/>
          </a:p>
        </p:txBody>
      </p:sp>
      <p:sp>
        <p:nvSpPr>
          <p:cNvPr id="21" name="Shape 18"/>
          <p:cNvSpPr/>
          <p:nvPr/>
        </p:nvSpPr>
        <p:spPr>
          <a:xfrm>
            <a:off x="7480102" y="4823753"/>
            <a:ext cx="6364129" cy="1310640"/>
          </a:xfrm>
          <a:prstGeom prst="roundRect">
            <a:avLst>
              <a:gd name="adj" fmla="val 1476"/>
            </a:avLst>
          </a:prstGeom>
          <a:solidFill>
            <a:srgbClr val="F2EEEE"/>
          </a:solidFill>
          <a:ln/>
        </p:spPr>
        <p:txBody>
          <a:bodyPr/>
          <a:lstStyle/>
          <a:p>
            <a:endParaRPr lang="en-US"/>
          </a:p>
        </p:txBody>
      </p:sp>
      <p:sp>
        <p:nvSpPr>
          <p:cNvPr id="22" name="Shape 19"/>
          <p:cNvSpPr/>
          <p:nvPr/>
        </p:nvSpPr>
        <p:spPr>
          <a:xfrm>
            <a:off x="10468689" y="4952698"/>
            <a:ext cx="386953" cy="386953"/>
          </a:xfrm>
          <a:prstGeom prst="roundRect">
            <a:avLst>
              <a:gd name="adj" fmla="val 23628414"/>
            </a:avLst>
          </a:prstGeom>
          <a:solidFill>
            <a:srgbClr val="1C9770"/>
          </a:solidFill>
          <a:ln/>
        </p:spPr>
        <p:txBody>
          <a:bodyPr/>
          <a:lstStyle/>
          <a:p>
            <a:endParaRPr lang="en-US"/>
          </a:p>
        </p:txBody>
      </p:sp>
      <p:sp>
        <p:nvSpPr>
          <p:cNvPr id="23" name="Text 20"/>
          <p:cNvSpPr/>
          <p:nvPr/>
        </p:nvSpPr>
        <p:spPr>
          <a:xfrm>
            <a:off x="10575131" y="5037352"/>
            <a:ext cx="174069" cy="217646"/>
          </a:xfrm>
          <a:prstGeom prst="rect">
            <a:avLst/>
          </a:prstGeom>
          <a:noFill/>
          <a:ln/>
        </p:spPr>
        <p:txBody>
          <a:bodyPr wrap="none" lIns="0" tIns="0" rIns="0" bIns="0" rtlCol="0" anchor="t"/>
          <a:lstStyle/>
          <a:p>
            <a:pPr marL="0" indent="0" algn="ctr">
              <a:lnSpc>
                <a:spcPts val="2150"/>
              </a:lnSpc>
              <a:buNone/>
            </a:pPr>
            <a:r>
              <a:rPr lang="en-US" sz="1350" b="1" dirty="0">
                <a:solidFill>
                  <a:srgbClr val="FFFFFF"/>
                </a:solidFill>
                <a:latin typeface="Aptos SemiBold" panose="020B0004020202020204" pitchFamily="34" charset="0"/>
                <a:ea typeface="DM Sans Semi Bold" pitchFamily="34" charset="-122"/>
                <a:cs typeface="DM Sans Semi Bold" pitchFamily="34" charset="-120"/>
              </a:rPr>
              <a:t>2</a:t>
            </a:r>
            <a:endParaRPr lang="en-US" sz="1350" dirty="0"/>
          </a:p>
        </p:txBody>
      </p:sp>
      <p:sp>
        <p:nvSpPr>
          <p:cNvPr id="24" name="Text 21"/>
          <p:cNvSpPr/>
          <p:nvPr/>
        </p:nvSpPr>
        <p:spPr>
          <a:xfrm>
            <a:off x="9646325" y="5468596"/>
            <a:ext cx="2031682" cy="201454"/>
          </a:xfrm>
          <a:prstGeom prst="rect">
            <a:avLst/>
          </a:prstGeom>
          <a:noFill/>
          <a:ln/>
        </p:spPr>
        <p:txBody>
          <a:bodyPr wrap="none" lIns="0" tIns="0" rIns="0" bIns="0" rtlCol="0" anchor="t"/>
          <a:lstStyle/>
          <a:p>
            <a:pPr marL="0" indent="0" algn="ctr">
              <a:lnSpc>
                <a:spcPts val="1550"/>
              </a:lnSpc>
              <a:buNone/>
            </a:pPr>
            <a:r>
              <a:rPr lang="en-US" sz="1250" b="1" dirty="0">
                <a:solidFill>
                  <a:srgbClr val="464646"/>
                </a:solidFill>
                <a:latin typeface="Aptos SemiBold" panose="020B0004020202020204" pitchFamily="34" charset="0"/>
                <a:ea typeface="DM Sans Semi Bold" pitchFamily="34" charset="-122"/>
                <a:cs typeface="DM Sans Semi Bold" pitchFamily="34" charset="-120"/>
              </a:rPr>
              <a:t>Technical Knowledge </a:t>
            </a:r>
            <a:r>
              <a:rPr lang="en-US" sz="1250" b="1" dirty="0">
                <a:solidFill>
                  <a:srgbClr val="1C9770"/>
                </a:solidFill>
                <a:latin typeface="Aptos SemiBold" panose="020B0004020202020204" pitchFamily="34" charset="0"/>
                <a:ea typeface="DM Sans Semi Bold" pitchFamily="34" charset="-122"/>
                <a:cs typeface="DM Sans Semi Bold" pitchFamily="34" charset="-120"/>
              </a:rPr>
              <a:t>40%</a:t>
            </a:r>
            <a:endParaRPr lang="en-US" sz="1250" dirty="0"/>
          </a:p>
        </p:txBody>
      </p:sp>
      <p:sp>
        <p:nvSpPr>
          <p:cNvPr id="25" name="Text 22"/>
          <p:cNvSpPr/>
          <p:nvPr/>
        </p:nvSpPr>
        <p:spPr>
          <a:xfrm>
            <a:off x="7609046" y="5798994"/>
            <a:ext cx="6106239" cy="206454"/>
          </a:xfrm>
          <a:prstGeom prst="rect">
            <a:avLst/>
          </a:prstGeom>
          <a:noFill/>
          <a:ln/>
        </p:spPr>
        <p:txBody>
          <a:bodyPr wrap="none" lIns="0" tIns="0" rIns="0" bIns="0" rtlCol="0" anchor="t"/>
          <a:lstStyle/>
          <a:p>
            <a:pPr marL="0" indent="0" algn="ctr">
              <a:lnSpc>
                <a:spcPts val="1600"/>
              </a:lnSpc>
              <a:buNone/>
            </a:pPr>
            <a:r>
              <a:rPr lang="en-US" sz="1000" dirty="0">
                <a:solidFill>
                  <a:srgbClr val="464646"/>
                </a:solidFill>
                <a:latin typeface="Calibri Light" panose="020F0302020204030204" pitchFamily="34" charset="0"/>
                <a:ea typeface="Inter Medium" pitchFamily="34" charset="-122"/>
                <a:cs typeface="Calibri Light" panose="020F0302020204030204" pitchFamily="34" charset="0"/>
              </a:rPr>
              <a:t>Legal reasoning and application</a:t>
            </a:r>
            <a:endParaRPr lang="en-US" sz="1000" dirty="0"/>
          </a:p>
        </p:txBody>
      </p:sp>
      <p:sp>
        <p:nvSpPr>
          <p:cNvPr id="26" name="Shape 23"/>
          <p:cNvSpPr/>
          <p:nvPr/>
        </p:nvSpPr>
        <p:spPr>
          <a:xfrm>
            <a:off x="7480102" y="6263338"/>
            <a:ext cx="6364129" cy="1310640"/>
          </a:xfrm>
          <a:prstGeom prst="roundRect">
            <a:avLst>
              <a:gd name="adj" fmla="val 1476"/>
            </a:avLst>
          </a:prstGeom>
          <a:solidFill>
            <a:srgbClr val="F2EEEE"/>
          </a:solidFill>
          <a:ln/>
        </p:spPr>
        <p:txBody>
          <a:bodyPr/>
          <a:lstStyle/>
          <a:p>
            <a:endParaRPr lang="en-US"/>
          </a:p>
        </p:txBody>
      </p:sp>
      <p:sp>
        <p:nvSpPr>
          <p:cNvPr id="27" name="Shape 24"/>
          <p:cNvSpPr/>
          <p:nvPr/>
        </p:nvSpPr>
        <p:spPr>
          <a:xfrm>
            <a:off x="10468689" y="6392283"/>
            <a:ext cx="386953" cy="386953"/>
          </a:xfrm>
          <a:prstGeom prst="roundRect">
            <a:avLst>
              <a:gd name="adj" fmla="val 23628414"/>
            </a:avLst>
          </a:prstGeom>
          <a:solidFill>
            <a:srgbClr val="1C9770"/>
          </a:solidFill>
          <a:ln/>
        </p:spPr>
        <p:txBody>
          <a:bodyPr/>
          <a:lstStyle/>
          <a:p>
            <a:endParaRPr lang="en-US"/>
          </a:p>
        </p:txBody>
      </p:sp>
      <p:sp>
        <p:nvSpPr>
          <p:cNvPr id="28" name="Text 25"/>
          <p:cNvSpPr/>
          <p:nvPr/>
        </p:nvSpPr>
        <p:spPr>
          <a:xfrm>
            <a:off x="10575131" y="6476936"/>
            <a:ext cx="174069" cy="217646"/>
          </a:xfrm>
          <a:prstGeom prst="rect">
            <a:avLst/>
          </a:prstGeom>
          <a:noFill/>
          <a:ln/>
        </p:spPr>
        <p:txBody>
          <a:bodyPr wrap="none" lIns="0" tIns="0" rIns="0" bIns="0" rtlCol="0" anchor="t"/>
          <a:lstStyle/>
          <a:p>
            <a:pPr marL="0" indent="0" algn="ctr">
              <a:lnSpc>
                <a:spcPts val="2150"/>
              </a:lnSpc>
              <a:buNone/>
            </a:pPr>
            <a:r>
              <a:rPr lang="en-US" sz="1350" b="1" dirty="0">
                <a:solidFill>
                  <a:srgbClr val="FFFFFF"/>
                </a:solidFill>
                <a:latin typeface="Aptos SemiBold" panose="020B0004020202020204" pitchFamily="34" charset="0"/>
                <a:ea typeface="DM Sans Semi Bold" pitchFamily="34" charset="-122"/>
                <a:cs typeface="DM Sans Semi Bold" pitchFamily="34" charset="-120"/>
              </a:rPr>
              <a:t>3</a:t>
            </a:r>
            <a:endParaRPr lang="en-US" sz="1350" dirty="0"/>
          </a:p>
        </p:txBody>
      </p:sp>
      <p:sp>
        <p:nvSpPr>
          <p:cNvPr id="29" name="Text 26"/>
          <p:cNvSpPr/>
          <p:nvPr/>
        </p:nvSpPr>
        <p:spPr>
          <a:xfrm>
            <a:off x="9579769" y="6908181"/>
            <a:ext cx="2164675" cy="201454"/>
          </a:xfrm>
          <a:prstGeom prst="rect">
            <a:avLst/>
          </a:prstGeom>
          <a:noFill/>
          <a:ln/>
        </p:spPr>
        <p:txBody>
          <a:bodyPr wrap="none" lIns="0" tIns="0" rIns="0" bIns="0" rtlCol="0" anchor="t"/>
          <a:lstStyle/>
          <a:p>
            <a:pPr marL="0" indent="0" algn="ctr">
              <a:lnSpc>
                <a:spcPts val="1550"/>
              </a:lnSpc>
              <a:buNone/>
            </a:pPr>
            <a:r>
              <a:rPr lang="en-US" sz="1250" b="1" dirty="0">
                <a:solidFill>
                  <a:srgbClr val="464646"/>
                </a:solidFill>
                <a:latin typeface="Aptos SemiBold" panose="020B0004020202020204" pitchFamily="34" charset="0"/>
                <a:ea typeface="DM Sans Semi Bold" pitchFamily="34" charset="-122"/>
                <a:cs typeface="DM Sans Semi Bold" pitchFamily="34" charset="-120"/>
              </a:rPr>
              <a:t>Real-time Adaptability </a:t>
            </a:r>
            <a:r>
              <a:rPr lang="en-US" sz="1250" b="1" dirty="0">
                <a:solidFill>
                  <a:srgbClr val="1C9770"/>
                </a:solidFill>
                <a:latin typeface="Aptos SemiBold" panose="020B0004020202020204" pitchFamily="34" charset="0"/>
                <a:ea typeface="DM Sans Semi Bold" pitchFamily="34" charset="-122"/>
                <a:cs typeface="DM Sans Semi Bold" pitchFamily="34" charset="-120"/>
              </a:rPr>
              <a:t>30%</a:t>
            </a:r>
            <a:endParaRPr lang="en-US" sz="1250" dirty="0"/>
          </a:p>
        </p:txBody>
      </p:sp>
      <p:sp>
        <p:nvSpPr>
          <p:cNvPr id="30" name="Text 27"/>
          <p:cNvSpPr/>
          <p:nvPr/>
        </p:nvSpPr>
        <p:spPr>
          <a:xfrm>
            <a:off x="7609046" y="7238579"/>
            <a:ext cx="6106239" cy="206454"/>
          </a:xfrm>
          <a:prstGeom prst="rect">
            <a:avLst/>
          </a:prstGeom>
          <a:noFill/>
          <a:ln/>
        </p:spPr>
        <p:txBody>
          <a:bodyPr wrap="none" lIns="0" tIns="0" rIns="0" bIns="0" rtlCol="0" anchor="t"/>
          <a:lstStyle/>
          <a:p>
            <a:pPr marL="0" indent="0" algn="ctr">
              <a:lnSpc>
                <a:spcPts val="1600"/>
              </a:lnSpc>
              <a:buNone/>
            </a:pPr>
            <a:r>
              <a:rPr lang="en-US" sz="1000" dirty="0">
                <a:solidFill>
                  <a:srgbClr val="464646"/>
                </a:solidFill>
                <a:latin typeface="Calibri Light" panose="020F0302020204030204" pitchFamily="34" charset="0"/>
                <a:ea typeface="Inter Medium" pitchFamily="34" charset="-122"/>
                <a:cs typeface="Calibri Light" panose="020F0302020204030204" pitchFamily="34" charset="0"/>
              </a:rPr>
              <a:t>Problem-solving under pressure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89503" y="543520"/>
            <a:ext cx="5089922" cy="555069"/>
          </a:xfrm>
          <a:prstGeom prst="rect">
            <a:avLst/>
          </a:prstGeom>
          <a:noFill/>
          <a:ln/>
        </p:spPr>
        <p:txBody>
          <a:bodyPr wrap="none" lIns="0" tIns="0" rIns="0" bIns="0" rtlCol="0" anchor="t"/>
          <a:lstStyle/>
          <a:p>
            <a:pPr marL="0" indent="0" algn="l">
              <a:lnSpc>
                <a:spcPts val="4350"/>
              </a:lnSpc>
              <a:buNone/>
            </a:pPr>
            <a:r>
              <a:rPr lang="en-US" sz="3450" b="1" dirty="0">
                <a:solidFill>
                  <a:srgbClr val="030303"/>
                </a:solidFill>
                <a:latin typeface="Aptos SemiBold" panose="020B0004020202020204" pitchFamily="34" charset="0"/>
                <a:ea typeface="DM Sans Semi Bold" pitchFamily="34" charset="-122"/>
                <a:cs typeface="DM Sans Semi Bold" pitchFamily="34" charset="-120"/>
              </a:rPr>
              <a:t>Assessment Integration</a:t>
            </a:r>
            <a:endParaRPr lang="en-US" sz="3450" dirty="0"/>
          </a:p>
        </p:txBody>
      </p:sp>
      <p:sp>
        <p:nvSpPr>
          <p:cNvPr id="3" name="Text 1"/>
          <p:cNvSpPr/>
          <p:nvPr/>
        </p:nvSpPr>
        <p:spPr>
          <a:xfrm>
            <a:off x="2684026" y="2253020"/>
            <a:ext cx="2220397" cy="277535"/>
          </a:xfrm>
          <a:prstGeom prst="rect">
            <a:avLst/>
          </a:prstGeom>
          <a:noFill/>
          <a:ln/>
        </p:spPr>
        <p:txBody>
          <a:bodyPr wrap="none" lIns="0" tIns="0" rIns="0" bIns="0" rtlCol="0" anchor="t"/>
          <a:lstStyle/>
          <a:p>
            <a:pPr marL="0" indent="0" algn="r">
              <a:lnSpc>
                <a:spcPts val="2150"/>
              </a:lnSpc>
              <a:buNone/>
            </a:pPr>
            <a:r>
              <a:rPr lang="en-US" sz="2400" b="1" dirty="0">
                <a:solidFill>
                  <a:srgbClr val="464646"/>
                </a:solidFill>
                <a:latin typeface="Aptos SemiBold" panose="020B0004020202020204" pitchFamily="34" charset="0"/>
                <a:ea typeface="DM Sans Semi Bold" pitchFamily="34" charset="-122"/>
                <a:cs typeface="DM Sans Semi Bold" pitchFamily="34" charset="-120"/>
              </a:rPr>
              <a:t>Formative </a:t>
            </a:r>
            <a:endParaRPr lang="en-US" sz="2400" dirty="0"/>
          </a:p>
        </p:txBody>
      </p:sp>
      <p:sp>
        <p:nvSpPr>
          <p:cNvPr id="4" name="Text 2"/>
          <p:cNvSpPr/>
          <p:nvPr/>
        </p:nvSpPr>
        <p:spPr>
          <a:xfrm>
            <a:off x="789503" y="2637115"/>
            <a:ext cx="4114919" cy="284202"/>
          </a:xfrm>
          <a:prstGeom prst="rect">
            <a:avLst/>
          </a:prstGeom>
          <a:noFill/>
          <a:ln/>
        </p:spPr>
        <p:txBody>
          <a:bodyPr wrap="none" lIns="0" tIns="0" rIns="0" bIns="0" rtlCol="0" anchor="t"/>
          <a:lstStyle/>
          <a:p>
            <a:pPr marL="0" indent="0" algn="r">
              <a:lnSpc>
                <a:spcPts val="2200"/>
              </a:lnSpc>
              <a:buNone/>
            </a:pPr>
            <a:r>
              <a:rPr lang="en-US" sz="2400" dirty="0">
                <a:solidFill>
                  <a:srgbClr val="1C9770"/>
                </a:solidFill>
                <a:latin typeface="Calibri Light" panose="020F0302020204030204" pitchFamily="34" charset="0"/>
                <a:ea typeface="Inter Medium" pitchFamily="34" charset="-122"/>
                <a:cs typeface="Calibri Light" panose="020F0302020204030204" pitchFamily="34" charset="0"/>
              </a:rPr>
              <a:t>Ungraded preparation for summative</a:t>
            </a:r>
            <a:endParaRPr lang="en-US" sz="2400" dirty="0"/>
          </a:p>
        </p:txBody>
      </p:sp>
      <p:sp>
        <p:nvSpPr>
          <p:cNvPr id="5" name="Text 3"/>
          <p:cNvSpPr/>
          <p:nvPr/>
        </p:nvSpPr>
        <p:spPr>
          <a:xfrm>
            <a:off x="789503" y="3027878"/>
            <a:ext cx="4114919" cy="284202"/>
          </a:xfrm>
          <a:prstGeom prst="rect">
            <a:avLst/>
          </a:prstGeom>
          <a:noFill/>
          <a:ln/>
        </p:spPr>
        <p:txBody>
          <a:bodyPr wrap="none" lIns="0" tIns="0" rIns="0" bIns="0" rtlCol="0" anchor="t"/>
          <a:lstStyle/>
          <a:p>
            <a:pPr marL="0" indent="0" algn="r">
              <a:lnSpc>
                <a:spcPts val="2200"/>
              </a:lnSpc>
              <a:buNone/>
            </a:pPr>
            <a:r>
              <a:rPr lang="en-US" dirty="0">
                <a:solidFill>
                  <a:srgbClr val="464646"/>
                </a:solidFill>
                <a:latin typeface="Calibri Light" panose="020F0302020204030204" pitchFamily="34" charset="0"/>
                <a:ea typeface="Inter Medium" pitchFamily="34" charset="-122"/>
                <a:cs typeface="Calibri Light" panose="020F0302020204030204" pitchFamily="34" charset="0"/>
              </a:rPr>
              <a:t>Business needs identification</a:t>
            </a:r>
            <a:endParaRPr lang="en-US" dirty="0"/>
          </a:p>
        </p:txBody>
      </p:sp>
      <p:sp>
        <p:nvSpPr>
          <p:cNvPr id="6" name="Text 4"/>
          <p:cNvSpPr/>
          <p:nvPr/>
        </p:nvSpPr>
        <p:spPr>
          <a:xfrm>
            <a:off x="789503" y="3418642"/>
            <a:ext cx="4114919" cy="284202"/>
          </a:xfrm>
          <a:prstGeom prst="rect">
            <a:avLst/>
          </a:prstGeom>
          <a:noFill/>
          <a:ln/>
        </p:spPr>
        <p:txBody>
          <a:bodyPr wrap="none" lIns="0" tIns="0" rIns="0" bIns="0" rtlCol="0" anchor="t"/>
          <a:lstStyle/>
          <a:p>
            <a:pPr marL="0" indent="0" algn="r">
              <a:lnSpc>
                <a:spcPts val="2200"/>
              </a:lnSpc>
              <a:buNone/>
            </a:pPr>
            <a:r>
              <a:rPr lang="en-US" dirty="0">
                <a:solidFill>
                  <a:srgbClr val="464646"/>
                </a:solidFill>
                <a:latin typeface="Calibri Light" panose="020F0302020204030204" pitchFamily="34" charset="0"/>
                <a:ea typeface="Inter Medium" pitchFamily="34" charset="-122"/>
                <a:cs typeface="Calibri Light" panose="020F0302020204030204" pitchFamily="34" charset="0"/>
              </a:rPr>
              <a:t>Structure analysis and comparison</a:t>
            </a:r>
            <a:endParaRPr lang="en-US" dirty="0"/>
          </a:p>
        </p:txBody>
      </p:sp>
      <p:sp>
        <p:nvSpPr>
          <p:cNvPr id="7" name="Text 5"/>
          <p:cNvSpPr/>
          <p:nvPr/>
        </p:nvSpPr>
        <p:spPr>
          <a:xfrm>
            <a:off x="789503" y="3809405"/>
            <a:ext cx="4114919" cy="284202"/>
          </a:xfrm>
          <a:prstGeom prst="rect">
            <a:avLst/>
          </a:prstGeom>
          <a:noFill/>
          <a:ln/>
        </p:spPr>
        <p:txBody>
          <a:bodyPr wrap="none" lIns="0" tIns="0" rIns="0" bIns="0" rtlCol="0" anchor="t"/>
          <a:lstStyle/>
          <a:p>
            <a:pPr marL="0" indent="0" algn="r">
              <a:lnSpc>
                <a:spcPts val="2200"/>
              </a:lnSpc>
              <a:buNone/>
            </a:pPr>
            <a:r>
              <a:rPr lang="en-US" dirty="0">
                <a:solidFill>
                  <a:srgbClr val="464646"/>
                </a:solidFill>
                <a:latin typeface="Calibri Light" panose="020F0302020204030204" pitchFamily="34" charset="0"/>
                <a:ea typeface="Inter Medium" pitchFamily="34" charset="-122"/>
                <a:cs typeface="Calibri Light" panose="020F0302020204030204" pitchFamily="34" charset="0"/>
              </a:rPr>
              <a:t>Artefact interpretation</a:t>
            </a:r>
            <a:endParaRPr lang="en-US" dirty="0"/>
          </a:p>
        </p:txBody>
      </p:sp>
      <p:sp>
        <p:nvSpPr>
          <p:cNvPr id="8" name="Text 6"/>
          <p:cNvSpPr/>
          <p:nvPr/>
        </p:nvSpPr>
        <p:spPr>
          <a:xfrm>
            <a:off x="789503" y="4200168"/>
            <a:ext cx="4114919" cy="284202"/>
          </a:xfrm>
          <a:prstGeom prst="rect">
            <a:avLst/>
          </a:prstGeom>
          <a:noFill/>
          <a:ln/>
        </p:spPr>
        <p:txBody>
          <a:bodyPr wrap="none" lIns="0" tIns="0" rIns="0" bIns="0" rtlCol="0" anchor="t"/>
          <a:lstStyle/>
          <a:p>
            <a:pPr marL="0" indent="0" algn="r">
              <a:lnSpc>
                <a:spcPts val="2200"/>
              </a:lnSpc>
              <a:buNone/>
            </a:pPr>
            <a:r>
              <a:rPr lang="en-US" dirty="0">
                <a:solidFill>
                  <a:srgbClr val="464646"/>
                </a:solidFill>
                <a:latin typeface="Calibri Light" panose="020F0302020204030204" pitchFamily="34" charset="0"/>
                <a:ea typeface="Inter Medium" pitchFamily="34" charset="-122"/>
                <a:cs typeface="Calibri Light" panose="020F0302020204030204" pitchFamily="34" charset="0"/>
              </a:rPr>
              <a:t>Contract law application</a:t>
            </a:r>
            <a:endParaRPr lang="en-US" dirty="0"/>
          </a:p>
        </p:txBody>
      </p:sp>
      <p:sp>
        <p:nvSpPr>
          <p:cNvPr id="9" name="Text 7"/>
          <p:cNvSpPr/>
          <p:nvPr/>
        </p:nvSpPr>
        <p:spPr>
          <a:xfrm>
            <a:off x="789503" y="4590931"/>
            <a:ext cx="4114919" cy="284202"/>
          </a:xfrm>
          <a:prstGeom prst="rect">
            <a:avLst/>
          </a:prstGeom>
          <a:noFill/>
          <a:ln/>
        </p:spPr>
        <p:txBody>
          <a:bodyPr wrap="none" lIns="0" tIns="0" rIns="0" bIns="0" rtlCol="0" anchor="t"/>
          <a:lstStyle/>
          <a:p>
            <a:pPr marL="0" indent="0" algn="r">
              <a:lnSpc>
                <a:spcPts val="2200"/>
              </a:lnSpc>
              <a:buNone/>
            </a:pPr>
            <a:r>
              <a:rPr lang="en-US" dirty="0">
                <a:solidFill>
                  <a:srgbClr val="464646"/>
                </a:solidFill>
                <a:latin typeface="Calibri Light" panose="020F0302020204030204" pitchFamily="34" charset="0"/>
                <a:ea typeface="Inter Medium" pitchFamily="34" charset="-122"/>
                <a:cs typeface="Calibri Light" panose="020F0302020204030204" pitchFamily="34" charset="0"/>
              </a:rPr>
              <a:t>Professional recommendation</a:t>
            </a:r>
            <a:endParaRPr lang="en-US" dirty="0"/>
          </a:p>
        </p:txBody>
      </p:sp>
      <p:sp>
        <p:nvSpPr>
          <p:cNvPr id="10" name="Text 8"/>
          <p:cNvSpPr/>
          <p:nvPr/>
        </p:nvSpPr>
        <p:spPr>
          <a:xfrm>
            <a:off x="789503" y="4981694"/>
            <a:ext cx="4114919" cy="852607"/>
          </a:xfrm>
          <a:prstGeom prst="rect">
            <a:avLst/>
          </a:prstGeom>
          <a:noFill/>
          <a:ln/>
        </p:spPr>
        <p:txBody>
          <a:bodyPr wrap="square" lIns="0" tIns="0" rIns="0" bIns="0" rtlCol="0" anchor="t"/>
          <a:lstStyle/>
          <a:p>
            <a:pPr marL="0" indent="0" algn="r">
              <a:lnSpc>
                <a:spcPts val="2200"/>
              </a:lnSpc>
              <a:buNone/>
            </a:pPr>
            <a:r>
              <a:rPr lang="en-US" dirty="0">
                <a:solidFill>
                  <a:srgbClr val="FFA44F"/>
                </a:solidFill>
                <a:latin typeface="Calibri Light" panose="020F0302020204030204" pitchFamily="34" charset="0"/>
                <a:ea typeface="Inter Medium" pitchFamily="34" charset="-122"/>
                <a:cs typeface="Calibri Light" panose="020F0302020204030204" pitchFamily="34" charset="0"/>
              </a:rPr>
              <a:t>All materials prepared can be brought to the IOA and referred to during the consultation.</a:t>
            </a:r>
            <a:r>
              <a:rPr lang="en-US" dirty="0">
                <a:solidFill>
                  <a:srgbClr val="464646"/>
                </a:solidFill>
                <a:latin typeface="Calibri Light" panose="020F0302020204030204" pitchFamily="34" charset="0"/>
                <a:ea typeface="Inter Medium" pitchFamily="34" charset="-122"/>
                <a:cs typeface="Calibri Light" panose="020F0302020204030204" pitchFamily="34" charset="0"/>
              </a:rPr>
              <a:t> </a:t>
            </a:r>
            <a:endParaRPr lang="en-US" dirty="0"/>
          </a:p>
        </p:txBody>
      </p:sp>
      <p:pic>
        <p:nvPicPr>
          <p:cNvPr id="11" name="Image 0" descr="preencoded.png"/>
          <p:cNvPicPr>
            <a:picLocks noChangeAspect="1"/>
          </p:cNvPicPr>
          <p:nvPr/>
        </p:nvPicPr>
        <p:blipFill>
          <a:blip r:embed="rId3"/>
          <a:stretch>
            <a:fillRect/>
          </a:stretch>
        </p:blipFill>
        <p:spPr>
          <a:xfrm>
            <a:off x="5259586" y="1988106"/>
            <a:ext cx="4111109" cy="4111109"/>
          </a:xfrm>
          <a:prstGeom prst="rect">
            <a:avLst/>
          </a:prstGeom>
        </p:spPr>
      </p:pic>
      <p:pic>
        <p:nvPicPr>
          <p:cNvPr id="12" name="Image 1" descr="preencoded.png"/>
          <p:cNvPicPr>
            <a:picLocks noChangeAspect="1"/>
          </p:cNvPicPr>
          <p:nvPr/>
        </p:nvPicPr>
        <p:blipFill>
          <a:blip r:embed="rId4"/>
          <a:stretch>
            <a:fillRect/>
          </a:stretch>
        </p:blipFill>
        <p:spPr>
          <a:xfrm>
            <a:off x="5743277" y="3877449"/>
            <a:ext cx="265748" cy="332184"/>
          </a:xfrm>
          <a:prstGeom prst="rect">
            <a:avLst/>
          </a:prstGeom>
        </p:spPr>
      </p:pic>
      <p:sp>
        <p:nvSpPr>
          <p:cNvPr id="13" name="Text 9"/>
          <p:cNvSpPr/>
          <p:nvPr/>
        </p:nvSpPr>
        <p:spPr>
          <a:xfrm>
            <a:off x="9725858" y="1453753"/>
            <a:ext cx="2220397" cy="277535"/>
          </a:xfrm>
          <a:prstGeom prst="rect">
            <a:avLst/>
          </a:prstGeom>
          <a:noFill/>
          <a:ln/>
        </p:spPr>
        <p:txBody>
          <a:bodyPr wrap="none" lIns="0" tIns="0" rIns="0" bIns="0" rtlCol="0" anchor="t"/>
          <a:lstStyle/>
          <a:p>
            <a:pPr marL="0" indent="0" algn="l">
              <a:lnSpc>
                <a:spcPts val="2150"/>
              </a:lnSpc>
              <a:buNone/>
            </a:pPr>
            <a:r>
              <a:rPr lang="en-US" sz="2400" b="1" dirty="0">
                <a:solidFill>
                  <a:srgbClr val="464646"/>
                </a:solidFill>
                <a:latin typeface="Aptos SemiBold" panose="020B0004020202020204" pitchFamily="34" charset="0"/>
                <a:ea typeface="DM Sans Semi Bold" pitchFamily="34" charset="-122"/>
                <a:cs typeface="DM Sans Semi Bold" pitchFamily="34" charset="-120"/>
              </a:rPr>
              <a:t>Summative</a:t>
            </a:r>
            <a:endParaRPr lang="en-US" sz="2400" dirty="0"/>
          </a:p>
        </p:txBody>
      </p:sp>
      <p:sp>
        <p:nvSpPr>
          <p:cNvPr id="14" name="Text 10"/>
          <p:cNvSpPr/>
          <p:nvPr/>
        </p:nvSpPr>
        <p:spPr>
          <a:xfrm>
            <a:off x="9725858" y="1837849"/>
            <a:ext cx="4115038" cy="284202"/>
          </a:xfrm>
          <a:prstGeom prst="rect">
            <a:avLst/>
          </a:prstGeom>
          <a:noFill/>
          <a:ln/>
        </p:spPr>
        <p:txBody>
          <a:bodyPr wrap="none" lIns="0" tIns="0" rIns="0" bIns="0" rtlCol="0" anchor="t"/>
          <a:lstStyle/>
          <a:p>
            <a:pPr marL="0" indent="0" algn="l">
              <a:lnSpc>
                <a:spcPts val="2200"/>
              </a:lnSpc>
              <a:buNone/>
            </a:pPr>
            <a:r>
              <a:rPr lang="en-US" sz="2400" dirty="0">
                <a:solidFill>
                  <a:srgbClr val="1C9770"/>
                </a:solidFill>
                <a:latin typeface="Calibri Light" panose="020F0302020204030204" pitchFamily="34" charset="0"/>
                <a:ea typeface="Inter Medium" pitchFamily="34" charset="-122"/>
                <a:cs typeface="Calibri Light" panose="020F0302020204030204" pitchFamily="34" charset="0"/>
              </a:rPr>
              <a:t>30 marks total</a:t>
            </a:r>
            <a:endParaRPr lang="en-US" sz="2400" dirty="0"/>
          </a:p>
        </p:txBody>
      </p:sp>
      <p:sp>
        <p:nvSpPr>
          <p:cNvPr id="15" name="Text 11"/>
          <p:cNvSpPr/>
          <p:nvPr/>
        </p:nvSpPr>
        <p:spPr>
          <a:xfrm>
            <a:off x="9725858" y="2228612"/>
            <a:ext cx="4115038" cy="1136809"/>
          </a:xfrm>
          <a:prstGeom prst="rect">
            <a:avLst/>
          </a:prstGeom>
          <a:noFill/>
          <a:ln/>
        </p:spPr>
        <p:txBody>
          <a:bodyPr wrap="square" lIns="0" tIns="0" rIns="0" bIns="0" rtlCol="0" anchor="t"/>
          <a:lstStyle/>
          <a:p>
            <a:pPr marL="0" indent="0" algn="l">
              <a:lnSpc>
                <a:spcPts val="2200"/>
              </a:lnSpc>
              <a:buNone/>
            </a:pPr>
            <a:r>
              <a:rPr lang="en-US" dirty="0">
                <a:solidFill>
                  <a:srgbClr val="464646"/>
                </a:solidFill>
                <a:latin typeface="Calibri Light" panose="020F0302020204030204" pitchFamily="34" charset="0"/>
                <a:ea typeface="Inter Medium" pitchFamily="34" charset="-122"/>
                <a:cs typeface="Calibri Light" panose="020F0302020204030204" pitchFamily="34" charset="0"/>
              </a:rPr>
              <a:t>Professional communication: formal introduction and greeting, active listening, response appropriate to audience, matches/mirrors audience demeanour.</a:t>
            </a:r>
            <a:endParaRPr lang="en-US" dirty="0"/>
          </a:p>
        </p:txBody>
      </p:sp>
      <p:sp>
        <p:nvSpPr>
          <p:cNvPr id="16" name="Text 12"/>
          <p:cNvSpPr/>
          <p:nvPr/>
        </p:nvSpPr>
        <p:spPr>
          <a:xfrm>
            <a:off x="9725858" y="3471982"/>
            <a:ext cx="4115038" cy="1136809"/>
          </a:xfrm>
          <a:prstGeom prst="rect">
            <a:avLst/>
          </a:prstGeom>
          <a:noFill/>
          <a:ln/>
        </p:spPr>
        <p:txBody>
          <a:bodyPr wrap="square" lIns="0" tIns="0" rIns="0" bIns="0" rtlCol="0" anchor="t"/>
          <a:lstStyle/>
          <a:p>
            <a:pPr marL="0" indent="0" algn="l">
              <a:lnSpc>
                <a:spcPts val="2200"/>
              </a:lnSpc>
              <a:buNone/>
            </a:pPr>
            <a:r>
              <a:rPr lang="en-US" dirty="0">
                <a:solidFill>
                  <a:srgbClr val="464646"/>
                </a:solidFill>
                <a:latin typeface="Calibri Light" panose="020F0302020204030204" pitchFamily="34" charset="0"/>
                <a:ea typeface="Inter Medium" pitchFamily="34" charset="-122"/>
                <a:cs typeface="Calibri Light" panose="020F0302020204030204" pitchFamily="34" charset="0"/>
              </a:rPr>
              <a:t>Analysis precision and quality: correctly interprets contextual materials, recommendations are accurate and beneficial to client.</a:t>
            </a:r>
            <a:endParaRPr lang="en-US" dirty="0"/>
          </a:p>
        </p:txBody>
      </p:sp>
      <p:sp>
        <p:nvSpPr>
          <p:cNvPr id="17" name="Text 13"/>
          <p:cNvSpPr/>
          <p:nvPr/>
        </p:nvSpPr>
        <p:spPr>
          <a:xfrm>
            <a:off x="9725858" y="4715351"/>
            <a:ext cx="4115038" cy="1136809"/>
          </a:xfrm>
          <a:prstGeom prst="rect">
            <a:avLst/>
          </a:prstGeom>
          <a:noFill/>
          <a:ln/>
        </p:spPr>
        <p:txBody>
          <a:bodyPr wrap="square" lIns="0" tIns="0" rIns="0" bIns="0" rtlCol="0" anchor="t"/>
          <a:lstStyle/>
          <a:p>
            <a:pPr marL="0" indent="0" algn="l">
              <a:lnSpc>
                <a:spcPts val="2200"/>
              </a:lnSpc>
              <a:buNone/>
            </a:pPr>
            <a:r>
              <a:rPr lang="en-US" dirty="0">
                <a:solidFill>
                  <a:srgbClr val="464646"/>
                </a:solidFill>
                <a:latin typeface="Calibri Light" panose="020F0302020204030204" pitchFamily="34" charset="0"/>
                <a:ea typeface="Inter Medium" pitchFamily="34" charset="-122"/>
                <a:cs typeface="Calibri Light" panose="020F0302020204030204" pitchFamily="34" charset="0"/>
              </a:rPr>
              <a:t>Problem solving: applies discipline knowledge to adapt solution in response to pivot, selects approach that balances client affordances and constraints.</a:t>
            </a:r>
            <a:endParaRPr lang="en-US" dirty="0"/>
          </a:p>
        </p:txBody>
      </p:sp>
      <p:pic>
        <p:nvPicPr>
          <p:cNvPr id="20" name="Image 2" descr="preencoded.png"/>
          <p:cNvPicPr>
            <a:picLocks noChangeAspect="1"/>
          </p:cNvPicPr>
          <p:nvPr/>
        </p:nvPicPr>
        <p:blipFill>
          <a:blip r:embed="rId5"/>
          <a:stretch>
            <a:fillRect/>
          </a:stretch>
        </p:blipFill>
        <p:spPr>
          <a:xfrm>
            <a:off x="5259586" y="1988106"/>
            <a:ext cx="4111109" cy="4111109"/>
          </a:xfrm>
          <a:prstGeom prst="rect">
            <a:avLst/>
          </a:prstGeom>
        </p:spPr>
      </p:pic>
      <p:pic>
        <p:nvPicPr>
          <p:cNvPr id="21" name="Image 3" descr="preencoded.png"/>
          <p:cNvPicPr>
            <a:picLocks noChangeAspect="1"/>
          </p:cNvPicPr>
          <p:nvPr/>
        </p:nvPicPr>
        <p:blipFill>
          <a:blip r:embed="rId6"/>
          <a:stretch>
            <a:fillRect/>
          </a:stretch>
        </p:blipFill>
        <p:spPr>
          <a:xfrm>
            <a:off x="8621018" y="3877449"/>
            <a:ext cx="265748" cy="332184"/>
          </a:xfrm>
          <a:prstGeom prst="rect">
            <a:avLst/>
          </a:prstGeom>
        </p:spPr>
      </p:pic>
      <p:sp>
        <p:nvSpPr>
          <p:cNvPr id="22" name="Text 16"/>
          <p:cNvSpPr/>
          <p:nvPr/>
        </p:nvSpPr>
        <p:spPr>
          <a:xfrm>
            <a:off x="789503" y="6549271"/>
            <a:ext cx="13051393" cy="1136809"/>
          </a:xfrm>
          <a:prstGeom prst="rect">
            <a:avLst/>
          </a:prstGeom>
          <a:noFill/>
          <a:ln/>
        </p:spPr>
        <p:txBody>
          <a:bodyPr wrap="square" lIns="0" tIns="0" rIns="0" bIns="0" rtlCol="0" anchor="t"/>
          <a:lstStyle/>
          <a:p>
            <a:pPr marL="0" indent="0" algn="l">
              <a:lnSpc>
                <a:spcPct val="120000"/>
              </a:lnSpc>
              <a:buNone/>
            </a:pPr>
            <a:r>
              <a:rPr lang="en-US" dirty="0">
                <a:solidFill>
                  <a:srgbClr val="7AD180"/>
                </a:solidFill>
                <a:latin typeface="Calibri Light" panose="020F0302020204030204" pitchFamily="34" charset="0"/>
                <a:ea typeface="Inter Medium" pitchFamily="34" charset="-122"/>
                <a:cs typeface="Calibri Light" panose="020F0302020204030204" pitchFamily="34" charset="0"/>
              </a:rPr>
              <a:t>Total Assessment Framework:</a:t>
            </a:r>
            <a:r>
              <a:rPr lang="en-US" dirty="0">
                <a:solidFill>
                  <a:srgbClr val="464646"/>
                </a:solidFill>
                <a:latin typeface="Calibri Light" panose="020F0302020204030204" pitchFamily="34" charset="0"/>
                <a:ea typeface="Inter Medium" pitchFamily="34" charset="-122"/>
                <a:cs typeface="Calibri Light" panose="020F0302020204030204" pitchFamily="34" charset="0"/>
              </a:rPr>
              <a:t> Individual assessment ensures academic integrity whilst developing both analytical and professional consultation capabilities essential for construction industry success. This balanced approach validates deep learning through multiple assessment modalities, providing comprehensive evidence of student competence in both technical analysis and professional practice.</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583644"/>
            <a:ext cx="6526054" cy="527090"/>
          </a:xfrm>
          <a:prstGeom prst="rect">
            <a:avLst/>
          </a:prstGeom>
          <a:noFill/>
          <a:ln/>
        </p:spPr>
        <p:txBody>
          <a:bodyPr wrap="none" lIns="0" tIns="0" rIns="0" bIns="0" rtlCol="0" anchor="t"/>
          <a:lstStyle/>
          <a:p>
            <a:pPr marL="0" indent="0" algn="l">
              <a:lnSpc>
                <a:spcPts val="4150"/>
              </a:lnSpc>
              <a:buNone/>
            </a:pPr>
            <a:r>
              <a:rPr lang="en-US" sz="3300" b="1" dirty="0">
                <a:solidFill>
                  <a:srgbClr val="030303"/>
                </a:solidFill>
                <a:latin typeface="Aptos SemiBold" panose="020B0004020202020204" pitchFamily="34" charset="0"/>
                <a:ea typeface="DM Sans Semi Bold" pitchFamily="34" charset="-122"/>
                <a:cs typeface="DM Sans Semi Bold" pitchFamily="34" charset="-120"/>
              </a:rPr>
              <a:t>Marking Logistics and Efficiency</a:t>
            </a:r>
            <a:endParaRPr lang="en-US" sz="3300" dirty="0"/>
          </a:p>
        </p:txBody>
      </p:sp>
      <p:sp>
        <p:nvSpPr>
          <p:cNvPr id="3" name="Shape 1"/>
          <p:cNvSpPr/>
          <p:nvPr/>
        </p:nvSpPr>
        <p:spPr>
          <a:xfrm>
            <a:off x="672346" y="1363742"/>
            <a:ext cx="6558558" cy="5080397"/>
          </a:xfrm>
          <a:prstGeom prst="roundRect">
            <a:avLst>
              <a:gd name="adj" fmla="val 498"/>
            </a:avLst>
          </a:prstGeom>
          <a:solidFill>
            <a:srgbClr val="FFFFFF"/>
          </a:solidFill>
          <a:ln/>
        </p:spPr>
        <p:txBody>
          <a:bodyPr/>
          <a:lstStyle/>
          <a:p>
            <a:endParaRPr lang="en-US"/>
          </a:p>
        </p:txBody>
      </p:sp>
      <p:sp>
        <p:nvSpPr>
          <p:cNvPr id="4" name="Text 2"/>
          <p:cNvSpPr/>
          <p:nvPr/>
        </p:nvSpPr>
        <p:spPr>
          <a:xfrm>
            <a:off x="840938" y="1532334"/>
            <a:ext cx="6221373" cy="843439"/>
          </a:xfrm>
          <a:prstGeom prst="rect">
            <a:avLst/>
          </a:prstGeom>
          <a:noFill/>
          <a:ln/>
        </p:spPr>
        <p:txBody>
          <a:bodyPr wrap="square" lIns="0" tIns="0" rIns="0" bIns="0" rtlCol="0" anchor="t"/>
          <a:lstStyle/>
          <a:p>
            <a:pPr marL="0" indent="0" algn="l">
              <a:lnSpc>
                <a:spcPts val="3300"/>
              </a:lnSpc>
              <a:buNone/>
            </a:pPr>
            <a:r>
              <a:rPr lang="en-US" sz="2650" b="1" dirty="0">
                <a:solidFill>
                  <a:srgbClr val="030303"/>
                </a:solidFill>
                <a:latin typeface="Aptos SemiBold" panose="020B0004020202020204" pitchFamily="34" charset="0"/>
                <a:ea typeface="DM Sans Semi Bold" pitchFamily="34" charset="-122"/>
                <a:cs typeface="DM Sans Semi Bold" pitchFamily="34" charset="-120"/>
              </a:rPr>
              <a:t>Resource requirements and scalability for staff</a:t>
            </a:r>
            <a:endParaRPr lang="en-US" sz="2650" dirty="0"/>
          </a:p>
        </p:txBody>
      </p:sp>
      <p:sp>
        <p:nvSpPr>
          <p:cNvPr id="5" name="Text 3"/>
          <p:cNvSpPr/>
          <p:nvPr/>
        </p:nvSpPr>
        <p:spPr>
          <a:xfrm>
            <a:off x="1183837" y="2560695"/>
            <a:ext cx="6221373" cy="337304"/>
          </a:xfrm>
          <a:prstGeom prst="rect">
            <a:avLst/>
          </a:prstGeom>
          <a:noFill/>
          <a:ln/>
        </p:spPr>
        <p:txBody>
          <a:bodyPr wrap="none" lIns="0" tIns="0" rIns="0" bIns="0" rtlCol="0" anchor="t"/>
          <a:lstStyle/>
          <a:p>
            <a:pPr marL="0" indent="0" algn="l">
              <a:lnSpc>
                <a:spcPts val="2100"/>
              </a:lnSpc>
              <a:buNone/>
            </a:pPr>
            <a:r>
              <a:rPr lang="en-US" dirty="0">
                <a:solidFill>
                  <a:srgbClr val="464646"/>
                </a:solidFill>
                <a:latin typeface="Calibri Light" panose="020F0302020204030204" pitchFamily="34" charset="0"/>
                <a:ea typeface="Inter Medium" pitchFamily="34" charset="-122"/>
                <a:cs typeface="Calibri Light" panose="020F0302020204030204" pitchFamily="34" charset="0"/>
              </a:rPr>
              <a:t>Staff professional development in IOA methodology</a:t>
            </a:r>
            <a:endParaRPr lang="en-US" dirty="0"/>
          </a:p>
        </p:txBody>
      </p:sp>
      <p:sp>
        <p:nvSpPr>
          <p:cNvPr id="6" name="Shape 4"/>
          <p:cNvSpPr/>
          <p:nvPr/>
        </p:nvSpPr>
        <p:spPr>
          <a:xfrm>
            <a:off x="840938" y="2607469"/>
            <a:ext cx="210860" cy="210860"/>
          </a:xfrm>
          <a:prstGeom prst="roundRect">
            <a:avLst>
              <a:gd name="adj" fmla="val 15001"/>
            </a:avLst>
          </a:prstGeom>
          <a:noFill/>
          <a:ln w="22860">
            <a:solidFill>
              <a:srgbClr val="188160"/>
            </a:solidFill>
            <a:prstDash val="solid"/>
          </a:ln>
        </p:spPr>
        <p:txBody>
          <a:bodyPr/>
          <a:lstStyle/>
          <a:p>
            <a:endParaRPr lang="en-US"/>
          </a:p>
        </p:txBody>
      </p:sp>
      <p:sp>
        <p:nvSpPr>
          <p:cNvPr id="7" name="Text 5"/>
          <p:cNvSpPr/>
          <p:nvPr/>
        </p:nvSpPr>
        <p:spPr>
          <a:xfrm>
            <a:off x="1183837" y="3087567"/>
            <a:ext cx="6221373" cy="337304"/>
          </a:xfrm>
          <a:prstGeom prst="rect">
            <a:avLst/>
          </a:prstGeom>
          <a:noFill/>
          <a:ln/>
        </p:spPr>
        <p:txBody>
          <a:bodyPr wrap="none" lIns="0" tIns="0" rIns="0" bIns="0" rtlCol="0" anchor="t"/>
          <a:lstStyle/>
          <a:p>
            <a:pPr marL="0" indent="0" algn="l">
              <a:lnSpc>
                <a:spcPts val="2100"/>
              </a:lnSpc>
              <a:buNone/>
            </a:pPr>
            <a:r>
              <a:rPr lang="en-US" dirty="0">
                <a:solidFill>
                  <a:srgbClr val="464646"/>
                </a:solidFill>
                <a:latin typeface="Calibri Light" panose="020F0302020204030204" pitchFamily="34" charset="0"/>
                <a:ea typeface="Inter Medium" pitchFamily="34" charset="-122"/>
                <a:cs typeface="Calibri Light" panose="020F0302020204030204" pitchFamily="34" charset="0"/>
              </a:rPr>
              <a:t>Administrative mechanisms for flexible session bookings</a:t>
            </a:r>
            <a:endParaRPr lang="en-US" dirty="0"/>
          </a:p>
        </p:txBody>
      </p:sp>
      <p:sp>
        <p:nvSpPr>
          <p:cNvPr id="8" name="Shape 6"/>
          <p:cNvSpPr/>
          <p:nvPr/>
        </p:nvSpPr>
        <p:spPr>
          <a:xfrm>
            <a:off x="840938" y="3134341"/>
            <a:ext cx="210860" cy="210860"/>
          </a:xfrm>
          <a:prstGeom prst="roundRect">
            <a:avLst>
              <a:gd name="adj" fmla="val 15001"/>
            </a:avLst>
          </a:prstGeom>
          <a:noFill/>
          <a:ln w="22860">
            <a:solidFill>
              <a:srgbClr val="188160"/>
            </a:solidFill>
            <a:prstDash val="solid"/>
          </a:ln>
        </p:spPr>
        <p:txBody>
          <a:bodyPr/>
          <a:lstStyle/>
          <a:p>
            <a:endParaRPr lang="en-US"/>
          </a:p>
        </p:txBody>
      </p:sp>
      <p:sp>
        <p:nvSpPr>
          <p:cNvPr id="9" name="Text 7"/>
          <p:cNvSpPr/>
          <p:nvPr/>
        </p:nvSpPr>
        <p:spPr>
          <a:xfrm>
            <a:off x="1183837" y="3581777"/>
            <a:ext cx="6221373" cy="674608"/>
          </a:xfrm>
          <a:prstGeom prst="rect">
            <a:avLst/>
          </a:prstGeom>
          <a:noFill/>
          <a:ln/>
        </p:spPr>
        <p:txBody>
          <a:bodyPr wrap="square" lIns="0" tIns="0" rIns="0" bIns="0" rtlCol="0" anchor="t"/>
          <a:lstStyle/>
          <a:p>
            <a:pPr marL="0" indent="0" algn="l">
              <a:lnSpc>
                <a:spcPts val="2100"/>
              </a:lnSpc>
              <a:buNone/>
            </a:pPr>
            <a:r>
              <a:rPr lang="en-US" dirty="0">
                <a:solidFill>
                  <a:srgbClr val="464646"/>
                </a:solidFill>
                <a:latin typeface="Calibri Light" panose="020F0302020204030204" pitchFamily="34" charset="0"/>
                <a:ea typeface="Inter Medium" pitchFamily="34" charset="-122"/>
                <a:cs typeface="Calibri Light" panose="020F0302020204030204" pitchFamily="34" charset="0"/>
              </a:rPr>
              <a:t>Quiet spaces for one-on-one consultations during the assessment period</a:t>
            </a:r>
            <a:endParaRPr lang="en-US" dirty="0"/>
          </a:p>
        </p:txBody>
      </p:sp>
      <p:sp>
        <p:nvSpPr>
          <p:cNvPr id="10" name="Shape 8"/>
          <p:cNvSpPr/>
          <p:nvPr/>
        </p:nvSpPr>
        <p:spPr>
          <a:xfrm>
            <a:off x="840938" y="3644880"/>
            <a:ext cx="210860" cy="210860"/>
          </a:xfrm>
          <a:prstGeom prst="roundRect">
            <a:avLst>
              <a:gd name="adj" fmla="val 15001"/>
            </a:avLst>
          </a:prstGeom>
          <a:noFill/>
          <a:ln w="22860">
            <a:solidFill>
              <a:srgbClr val="188160"/>
            </a:solidFill>
            <a:prstDash val="solid"/>
          </a:ln>
        </p:spPr>
        <p:txBody>
          <a:bodyPr/>
          <a:lstStyle/>
          <a:p>
            <a:endParaRPr lang="en-US"/>
          </a:p>
        </p:txBody>
      </p:sp>
      <p:sp>
        <p:nvSpPr>
          <p:cNvPr id="11" name="Text 9"/>
          <p:cNvSpPr/>
          <p:nvPr/>
        </p:nvSpPr>
        <p:spPr>
          <a:xfrm>
            <a:off x="1183837" y="4298992"/>
            <a:ext cx="6221373" cy="674608"/>
          </a:xfrm>
          <a:prstGeom prst="rect">
            <a:avLst/>
          </a:prstGeom>
          <a:noFill/>
          <a:ln/>
        </p:spPr>
        <p:txBody>
          <a:bodyPr wrap="square" lIns="0" tIns="0" rIns="0" bIns="0" rtlCol="0" anchor="t"/>
          <a:lstStyle/>
          <a:p>
            <a:pPr marL="0" indent="0" algn="l">
              <a:lnSpc>
                <a:spcPts val="2100"/>
              </a:lnSpc>
              <a:buNone/>
            </a:pPr>
            <a:r>
              <a:rPr lang="en-US" dirty="0">
                <a:solidFill>
                  <a:srgbClr val="464646"/>
                </a:solidFill>
                <a:latin typeface="Calibri Light" panose="020F0302020204030204" pitchFamily="34" charset="0"/>
                <a:ea typeface="Inter Medium" pitchFamily="34" charset="-122"/>
                <a:cs typeface="Calibri Light" panose="020F0302020204030204" pitchFamily="34" charset="0"/>
              </a:rPr>
              <a:t>Standardised scenarios with prepared elaboration prompts or variations</a:t>
            </a:r>
            <a:endParaRPr lang="en-US" dirty="0"/>
          </a:p>
        </p:txBody>
      </p:sp>
      <p:sp>
        <p:nvSpPr>
          <p:cNvPr id="12" name="Shape 10"/>
          <p:cNvSpPr/>
          <p:nvPr/>
        </p:nvSpPr>
        <p:spPr>
          <a:xfrm>
            <a:off x="840938" y="4345766"/>
            <a:ext cx="210860" cy="210860"/>
          </a:xfrm>
          <a:prstGeom prst="roundRect">
            <a:avLst>
              <a:gd name="adj" fmla="val 15001"/>
            </a:avLst>
          </a:prstGeom>
          <a:noFill/>
          <a:ln w="22860">
            <a:solidFill>
              <a:srgbClr val="188160"/>
            </a:solidFill>
            <a:prstDash val="solid"/>
          </a:ln>
        </p:spPr>
        <p:txBody>
          <a:bodyPr/>
          <a:lstStyle/>
          <a:p>
            <a:endParaRPr lang="en-US"/>
          </a:p>
        </p:txBody>
      </p:sp>
      <p:sp>
        <p:nvSpPr>
          <p:cNvPr id="13" name="Text 11"/>
          <p:cNvSpPr/>
          <p:nvPr/>
        </p:nvSpPr>
        <p:spPr>
          <a:xfrm>
            <a:off x="1183837" y="5048869"/>
            <a:ext cx="6221373" cy="674608"/>
          </a:xfrm>
          <a:prstGeom prst="rect">
            <a:avLst/>
          </a:prstGeom>
          <a:noFill/>
          <a:ln/>
        </p:spPr>
        <p:txBody>
          <a:bodyPr wrap="square" lIns="0" tIns="0" rIns="0" bIns="0" rtlCol="0" anchor="t"/>
          <a:lstStyle/>
          <a:p>
            <a:pPr marL="0" indent="0" algn="l">
              <a:lnSpc>
                <a:spcPts val="2100"/>
              </a:lnSpc>
              <a:buNone/>
            </a:pPr>
            <a:r>
              <a:rPr lang="en-US" dirty="0">
                <a:solidFill>
                  <a:srgbClr val="464646"/>
                </a:solidFill>
                <a:latin typeface="Calibri Light" panose="020F0302020204030204" pitchFamily="34" charset="0"/>
                <a:ea typeface="Inter Medium" pitchFamily="34" charset="-122"/>
                <a:cs typeface="Calibri Light" panose="020F0302020204030204" pitchFamily="34" charset="0"/>
              </a:rPr>
              <a:t>Detailed rubrics for consistent evaluation across multiple assessors</a:t>
            </a:r>
            <a:endParaRPr lang="en-US" dirty="0"/>
          </a:p>
        </p:txBody>
      </p:sp>
      <p:sp>
        <p:nvSpPr>
          <p:cNvPr id="14" name="Shape 12"/>
          <p:cNvSpPr/>
          <p:nvPr/>
        </p:nvSpPr>
        <p:spPr>
          <a:xfrm>
            <a:off x="840938" y="5079314"/>
            <a:ext cx="210860" cy="210861"/>
          </a:xfrm>
          <a:prstGeom prst="roundRect">
            <a:avLst>
              <a:gd name="adj" fmla="val 15001"/>
            </a:avLst>
          </a:prstGeom>
          <a:noFill/>
          <a:ln w="22860">
            <a:solidFill>
              <a:srgbClr val="188160"/>
            </a:solidFill>
            <a:prstDash val="solid"/>
          </a:ln>
        </p:spPr>
        <p:txBody>
          <a:bodyPr/>
          <a:lstStyle/>
          <a:p>
            <a:endParaRPr lang="en-US"/>
          </a:p>
        </p:txBody>
      </p:sp>
      <p:sp>
        <p:nvSpPr>
          <p:cNvPr id="15" name="Text 13"/>
          <p:cNvSpPr/>
          <p:nvPr/>
        </p:nvSpPr>
        <p:spPr>
          <a:xfrm>
            <a:off x="1183837" y="5570136"/>
            <a:ext cx="6221373" cy="337304"/>
          </a:xfrm>
          <a:prstGeom prst="rect">
            <a:avLst/>
          </a:prstGeom>
          <a:noFill/>
          <a:ln/>
        </p:spPr>
        <p:txBody>
          <a:bodyPr wrap="none" lIns="0" tIns="0" rIns="0" bIns="0" rtlCol="0" anchor="t"/>
          <a:lstStyle/>
          <a:p>
            <a:pPr marL="0" indent="0" algn="l">
              <a:lnSpc>
                <a:spcPts val="2100"/>
              </a:lnSpc>
              <a:buNone/>
            </a:pPr>
            <a:r>
              <a:rPr lang="en-US" dirty="0">
                <a:solidFill>
                  <a:srgbClr val="464646"/>
                </a:solidFill>
                <a:latin typeface="Calibri Light" panose="020F0302020204030204" pitchFamily="34" charset="0"/>
                <a:ea typeface="Inter Medium" pitchFamily="34" charset="-122"/>
                <a:cs typeface="Calibri Light" panose="020F0302020204030204" pitchFamily="34" charset="0"/>
              </a:rPr>
              <a:t>LMS Gradebook set up for interactive grading</a:t>
            </a:r>
            <a:endParaRPr lang="en-US" dirty="0"/>
          </a:p>
        </p:txBody>
      </p:sp>
      <p:sp>
        <p:nvSpPr>
          <p:cNvPr id="16" name="Shape 14"/>
          <p:cNvSpPr/>
          <p:nvPr/>
        </p:nvSpPr>
        <p:spPr>
          <a:xfrm>
            <a:off x="840938" y="5600581"/>
            <a:ext cx="210860" cy="210860"/>
          </a:xfrm>
          <a:prstGeom prst="roundRect">
            <a:avLst>
              <a:gd name="adj" fmla="val 15001"/>
            </a:avLst>
          </a:prstGeom>
          <a:noFill/>
          <a:ln w="22860">
            <a:solidFill>
              <a:srgbClr val="188160"/>
            </a:solidFill>
            <a:prstDash val="solid"/>
          </a:ln>
        </p:spPr>
        <p:txBody>
          <a:bodyPr/>
          <a:lstStyle/>
          <a:p>
            <a:endParaRPr lang="en-US"/>
          </a:p>
        </p:txBody>
      </p:sp>
      <p:sp>
        <p:nvSpPr>
          <p:cNvPr id="17" name="Shape 15"/>
          <p:cNvSpPr/>
          <p:nvPr/>
        </p:nvSpPr>
        <p:spPr>
          <a:xfrm>
            <a:off x="7407116" y="1363742"/>
            <a:ext cx="6558558" cy="5080397"/>
          </a:xfrm>
          <a:prstGeom prst="roundRect">
            <a:avLst>
              <a:gd name="adj" fmla="val 498"/>
            </a:avLst>
          </a:prstGeom>
          <a:solidFill>
            <a:srgbClr val="FFA44F"/>
          </a:solidFill>
          <a:ln/>
        </p:spPr>
        <p:txBody>
          <a:bodyPr/>
          <a:lstStyle/>
          <a:p>
            <a:endParaRPr lang="en-US"/>
          </a:p>
        </p:txBody>
      </p:sp>
      <p:sp>
        <p:nvSpPr>
          <p:cNvPr id="18" name="Text 16"/>
          <p:cNvSpPr/>
          <p:nvPr/>
        </p:nvSpPr>
        <p:spPr>
          <a:xfrm>
            <a:off x="7575709" y="1532334"/>
            <a:ext cx="4723686" cy="421719"/>
          </a:xfrm>
          <a:prstGeom prst="rect">
            <a:avLst/>
          </a:prstGeom>
          <a:noFill/>
          <a:ln/>
        </p:spPr>
        <p:txBody>
          <a:bodyPr wrap="none" lIns="0" tIns="0" rIns="0" bIns="0" rtlCol="0" anchor="t"/>
          <a:lstStyle/>
          <a:p>
            <a:pPr marL="0" indent="0" algn="l">
              <a:lnSpc>
                <a:spcPts val="3300"/>
              </a:lnSpc>
              <a:buNone/>
            </a:pPr>
            <a:r>
              <a:rPr lang="en-US" sz="2650" b="1" dirty="0">
                <a:solidFill>
                  <a:srgbClr val="030303"/>
                </a:solidFill>
                <a:latin typeface="Aptos SemiBold" panose="020B0004020202020204" pitchFamily="34" charset="0"/>
                <a:ea typeface="DM Sans Semi Bold" pitchFamily="34" charset="-122"/>
                <a:cs typeface="DM Sans Semi Bold" pitchFamily="34" charset="-120"/>
              </a:rPr>
              <a:t>Time Investment Per Student</a:t>
            </a:r>
            <a:endParaRPr lang="en-US" sz="2650" dirty="0"/>
          </a:p>
        </p:txBody>
      </p:sp>
      <p:sp>
        <p:nvSpPr>
          <p:cNvPr id="19" name="Shape 17"/>
          <p:cNvSpPr/>
          <p:nvPr/>
        </p:nvSpPr>
        <p:spPr>
          <a:xfrm>
            <a:off x="7575709" y="2143839"/>
            <a:ext cx="6221373" cy="1812846"/>
          </a:xfrm>
          <a:prstGeom prst="roundRect">
            <a:avLst>
              <a:gd name="adj" fmla="val 1396"/>
            </a:avLst>
          </a:prstGeom>
          <a:solidFill>
            <a:srgbClr val="F2EEEE"/>
          </a:solidFill>
          <a:ln/>
        </p:spPr>
        <p:txBody>
          <a:bodyPr/>
          <a:lstStyle/>
          <a:p>
            <a:endParaRPr lang="en-US"/>
          </a:p>
        </p:txBody>
      </p:sp>
      <p:sp>
        <p:nvSpPr>
          <p:cNvPr id="20" name="Shape 18"/>
          <p:cNvSpPr/>
          <p:nvPr/>
        </p:nvSpPr>
        <p:spPr>
          <a:xfrm>
            <a:off x="10433328" y="2312432"/>
            <a:ext cx="506016" cy="506016"/>
          </a:xfrm>
          <a:prstGeom prst="roundRect">
            <a:avLst>
              <a:gd name="adj" fmla="val 18068768"/>
            </a:avLst>
          </a:prstGeom>
          <a:solidFill>
            <a:srgbClr val="1C9770"/>
          </a:solidFill>
          <a:ln/>
        </p:spPr>
        <p:txBody>
          <a:bodyPr/>
          <a:lstStyle/>
          <a:p>
            <a:endParaRPr lang="en-US"/>
          </a:p>
        </p:txBody>
      </p:sp>
      <p:sp>
        <p:nvSpPr>
          <p:cNvPr id="21" name="Text 19"/>
          <p:cNvSpPr/>
          <p:nvPr/>
        </p:nvSpPr>
        <p:spPr>
          <a:xfrm>
            <a:off x="10572512" y="2423041"/>
            <a:ext cx="227647" cy="284678"/>
          </a:xfrm>
          <a:prstGeom prst="rect">
            <a:avLst/>
          </a:prstGeom>
          <a:noFill/>
          <a:ln/>
        </p:spPr>
        <p:txBody>
          <a:bodyPr wrap="none" lIns="0" tIns="0" rIns="0" bIns="0" rtlCol="0" anchor="t"/>
          <a:lstStyle/>
          <a:p>
            <a:pPr marL="0" indent="0" algn="ctr">
              <a:lnSpc>
                <a:spcPts val="2850"/>
              </a:lnSpc>
              <a:buNone/>
            </a:pPr>
            <a:r>
              <a:rPr lang="en-US" sz="1750" b="1" dirty="0">
                <a:solidFill>
                  <a:srgbClr val="FFFFFF"/>
                </a:solidFill>
                <a:latin typeface="Aptos SemiBold" panose="020B0004020202020204" pitchFamily="34" charset="0"/>
                <a:ea typeface="DM Sans Semi Bold" pitchFamily="34" charset="-122"/>
                <a:cs typeface="DM Sans Semi Bold" pitchFamily="34" charset="-120"/>
              </a:rPr>
              <a:t>1</a:t>
            </a:r>
            <a:endParaRPr lang="en-US" sz="1750" dirty="0"/>
          </a:p>
        </p:txBody>
      </p:sp>
      <p:sp>
        <p:nvSpPr>
          <p:cNvPr id="22" name="Text 20"/>
          <p:cNvSpPr/>
          <p:nvPr/>
        </p:nvSpPr>
        <p:spPr>
          <a:xfrm>
            <a:off x="9229130" y="2987040"/>
            <a:ext cx="2914531" cy="316230"/>
          </a:xfrm>
          <a:prstGeom prst="rect">
            <a:avLst/>
          </a:prstGeom>
          <a:noFill/>
          <a:ln/>
        </p:spPr>
        <p:txBody>
          <a:bodyPr wrap="none" lIns="0" tIns="0" rIns="0" bIns="0" rtlCol="0" anchor="t"/>
          <a:lstStyle/>
          <a:p>
            <a:pPr marL="0" indent="0" algn="ctr">
              <a:lnSpc>
                <a:spcPts val="2450"/>
              </a:lnSpc>
              <a:buNone/>
            </a:pPr>
            <a:r>
              <a:rPr lang="en-US" sz="1950" b="1" dirty="0">
                <a:solidFill>
                  <a:srgbClr val="000000"/>
                </a:solidFill>
                <a:latin typeface="Aptos SemiBold" panose="020B0004020202020204" pitchFamily="34" charset="0"/>
                <a:ea typeface="DM Sans Semi Bold" pitchFamily="34" charset="-122"/>
                <a:cs typeface="DM Sans Semi Bold" pitchFamily="34" charset="-120"/>
              </a:rPr>
              <a:t>Written Analysis Review</a:t>
            </a:r>
            <a:endParaRPr lang="en-US" sz="1950" dirty="0"/>
          </a:p>
        </p:txBody>
      </p:sp>
      <p:sp>
        <p:nvSpPr>
          <p:cNvPr id="23" name="Text 21"/>
          <p:cNvSpPr/>
          <p:nvPr/>
        </p:nvSpPr>
        <p:spPr>
          <a:xfrm>
            <a:off x="9323308" y="3471863"/>
            <a:ext cx="2726174" cy="316230"/>
          </a:xfrm>
          <a:prstGeom prst="rect">
            <a:avLst/>
          </a:prstGeom>
          <a:noFill/>
          <a:ln/>
        </p:spPr>
        <p:txBody>
          <a:bodyPr wrap="none" lIns="0" tIns="0" rIns="0" bIns="0" rtlCol="0" anchor="t"/>
          <a:lstStyle/>
          <a:p>
            <a:pPr marL="0" indent="0" algn="ctr">
              <a:lnSpc>
                <a:spcPts val="2450"/>
              </a:lnSpc>
              <a:buNone/>
            </a:pPr>
            <a:r>
              <a:rPr lang="en-US" sz="1950" b="1" dirty="0">
                <a:solidFill>
                  <a:srgbClr val="000000"/>
                </a:solidFill>
                <a:latin typeface="Aptos SemiBold" panose="020B0004020202020204" pitchFamily="34" charset="0"/>
                <a:ea typeface="DM Sans Semi Bold" pitchFamily="34" charset="-122"/>
                <a:cs typeface="DM Sans Semi Bold" pitchFamily="34" charset="-120"/>
              </a:rPr>
              <a:t>5 minutes per student</a:t>
            </a:r>
            <a:endParaRPr lang="en-US" sz="1950" dirty="0"/>
          </a:p>
        </p:txBody>
      </p:sp>
      <p:sp>
        <p:nvSpPr>
          <p:cNvPr id="24" name="Shape 22"/>
          <p:cNvSpPr/>
          <p:nvPr/>
        </p:nvSpPr>
        <p:spPr>
          <a:xfrm>
            <a:off x="7575709" y="4125278"/>
            <a:ext cx="6221373" cy="2129076"/>
          </a:xfrm>
          <a:prstGeom prst="roundRect">
            <a:avLst>
              <a:gd name="adj" fmla="val 1189"/>
            </a:avLst>
          </a:prstGeom>
          <a:solidFill>
            <a:srgbClr val="F2EEEE"/>
          </a:solidFill>
          <a:ln/>
        </p:spPr>
        <p:txBody>
          <a:bodyPr/>
          <a:lstStyle/>
          <a:p>
            <a:endParaRPr lang="en-US"/>
          </a:p>
        </p:txBody>
      </p:sp>
      <p:sp>
        <p:nvSpPr>
          <p:cNvPr id="25" name="Shape 23"/>
          <p:cNvSpPr/>
          <p:nvPr/>
        </p:nvSpPr>
        <p:spPr>
          <a:xfrm>
            <a:off x="10433328" y="4293870"/>
            <a:ext cx="506016" cy="506016"/>
          </a:xfrm>
          <a:prstGeom prst="roundRect">
            <a:avLst>
              <a:gd name="adj" fmla="val 18068768"/>
            </a:avLst>
          </a:prstGeom>
          <a:solidFill>
            <a:srgbClr val="1C9770"/>
          </a:solidFill>
          <a:ln/>
        </p:spPr>
        <p:txBody>
          <a:bodyPr/>
          <a:lstStyle/>
          <a:p>
            <a:endParaRPr lang="en-US"/>
          </a:p>
        </p:txBody>
      </p:sp>
      <p:sp>
        <p:nvSpPr>
          <p:cNvPr id="26" name="Text 24"/>
          <p:cNvSpPr/>
          <p:nvPr/>
        </p:nvSpPr>
        <p:spPr>
          <a:xfrm>
            <a:off x="10572512" y="4404479"/>
            <a:ext cx="227647" cy="284678"/>
          </a:xfrm>
          <a:prstGeom prst="rect">
            <a:avLst/>
          </a:prstGeom>
          <a:noFill/>
          <a:ln/>
        </p:spPr>
        <p:txBody>
          <a:bodyPr wrap="none" lIns="0" tIns="0" rIns="0" bIns="0" rtlCol="0" anchor="t"/>
          <a:lstStyle/>
          <a:p>
            <a:pPr marL="0" indent="0" algn="ctr">
              <a:lnSpc>
                <a:spcPts val="2850"/>
              </a:lnSpc>
              <a:buNone/>
            </a:pPr>
            <a:r>
              <a:rPr lang="en-US" sz="1750" b="1" dirty="0">
                <a:solidFill>
                  <a:srgbClr val="FFFFFF"/>
                </a:solidFill>
                <a:latin typeface="Aptos SemiBold" panose="020B0004020202020204" pitchFamily="34" charset="0"/>
                <a:ea typeface="DM Sans Semi Bold" pitchFamily="34" charset="-122"/>
                <a:cs typeface="DM Sans Semi Bold" pitchFamily="34" charset="-120"/>
              </a:rPr>
              <a:t>2</a:t>
            </a:r>
            <a:endParaRPr lang="en-US" sz="1750" dirty="0"/>
          </a:p>
        </p:txBody>
      </p:sp>
      <p:sp>
        <p:nvSpPr>
          <p:cNvPr id="27" name="Text 25"/>
          <p:cNvSpPr/>
          <p:nvPr/>
        </p:nvSpPr>
        <p:spPr>
          <a:xfrm>
            <a:off x="8960644" y="4968478"/>
            <a:ext cx="3451503" cy="316230"/>
          </a:xfrm>
          <a:prstGeom prst="rect">
            <a:avLst/>
          </a:prstGeom>
          <a:noFill/>
          <a:ln/>
        </p:spPr>
        <p:txBody>
          <a:bodyPr wrap="none" lIns="0" tIns="0" rIns="0" bIns="0" rtlCol="0" anchor="t"/>
          <a:lstStyle/>
          <a:p>
            <a:pPr marL="0" indent="0" algn="ctr">
              <a:lnSpc>
                <a:spcPts val="2450"/>
              </a:lnSpc>
              <a:buNone/>
            </a:pPr>
            <a:r>
              <a:rPr lang="en-US" sz="1950" b="1" dirty="0">
                <a:solidFill>
                  <a:srgbClr val="000000"/>
                </a:solidFill>
                <a:latin typeface="Aptos SemiBold" panose="020B0004020202020204" pitchFamily="34" charset="0"/>
                <a:ea typeface="DM Sans Semi Bold" pitchFamily="34" charset="-122"/>
                <a:cs typeface="DM Sans Semi Bold" pitchFamily="34" charset="-120"/>
              </a:rPr>
              <a:t>Interactive Oral Assessment</a:t>
            </a:r>
            <a:endParaRPr lang="en-US" sz="1950" dirty="0"/>
          </a:p>
        </p:txBody>
      </p:sp>
      <p:sp>
        <p:nvSpPr>
          <p:cNvPr id="28" name="Text 26"/>
          <p:cNvSpPr/>
          <p:nvPr/>
        </p:nvSpPr>
        <p:spPr>
          <a:xfrm>
            <a:off x="7744301" y="5453301"/>
            <a:ext cx="5884188" cy="632460"/>
          </a:xfrm>
          <a:prstGeom prst="rect">
            <a:avLst/>
          </a:prstGeom>
          <a:noFill/>
          <a:ln/>
        </p:spPr>
        <p:txBody>
          <a:bodyPr wrap="square" lIns="0" tIns="0" rIns="0" bIns="0" rtlCol="0" anchor="t"/>
          <a:lstStyle/>
          <a:p>
            <a:pPr marL="0" indent="0" algn="ctr">
              <a:lnSpc>
                <a:spcPts val="2450"/>
              </a:lnSpc>
              <a:buNone/>
            </a:pPr>
            <a:r>
              <a:rPr lang="en-US" sz="1950" b="1" dirty="0">
                <a:solidFill>
                  <a:srgbClr val="000000"/>
                </a:solidFill>
                <a:latin typeface="Aptos SemiBold" panose="020B0004020202020204" pitchFamily="34" charset="0"/>
                <a:ea typeface="DM Sans Semi Bold" pitchFamily="34" charset="-122"/>
                <a:cs typeface="DM Sans Semi Bold" pitchFamily="34" charset="-120"/>
              </a:rPr>
              <a:t>15-20 minutes including brief preparation time and immediate constructive feedback delivery</a:t>
            </a:r>
            <a:endParaRPr lang="en-US" sz="1950" dirty="0"/>
          </a:p>
        </p:txBody>
      </p:sp>
      <p:sp>
        <p:nvSpPr>
          <p:cNvPr id="29" name="Text 27"/>
          <p:cNvSpPr/>
          <p:nvPr/>
        </p:nvSpPr>
        <p:spPr>
          <a:xfrm>
            <a:off x="793790" y="6633924"/>
            <a:ext cx="13042821" cy="1011912"/>
          </a:xfrm>
          <a:prstGeom prst="rect">
            <a:avLst/>
          </a:prstGeom>
          <a:noFill/>
          <a:ln/>
        </p:spPr>
        <p:txBody>
          <a:bodyPr wrap="square" lIns="0" tIns="0" rIns="0" bIns="0" rtlCol="0" anchor="t"/>
          <a:lstStyle/>
          <a:p>
            <a:pPr marL="0" indent="0" algn="l">
              <a:lnSpc>
                <a:spcPts val="2650"/>
              </a:lnSpc>
              <a:buNone/>
            </a:pPr>
            <a:r>
              <a:rPr lang="en-US" dirty="0">
                <a:solidFill>
                  <a:srgbClr val="464646"/>
                </a:solidFill>
                <a:highlight>
                  <a:srgbClr val="7AD1C3"/>
                </a:highlight>
                <a:latin typeface="Calibri Light" panose="020F0302020204030204" pitchFamily="34" charset="0"/>
                <a:ea typeface="Inter Medium" pitchFamily="34" charset="-122"/>
                <a:cs typeface="Calibri Light" panose="020F0302020204030204" pitchFamily="34" charset="0"/>
              </a:rPr>
              <a:t>Scalability Benefits:</a:t>
            </a:r>
            <a:r>
              <a:rPr lang="en-US" dirty="0">
                <a:solidFill>
                  <a:srgbClr val="464646"/>
                </a:solidFill>
                <a:latin typeface="Calibri Light" panose="020F0302020204030204" pitchFamily="34" charset="0"/>
                <a:ea typeface="Inter Medium" pitchFamily="34" charset="-122"/>
                <a:cs typeface="Calibri Light" panose="020F0302020204030204" pitchFamily="34" charset="0"/>
              </a:rPr>
              <a:t> IOA sessions can be distributed across multiple staff members, similar to traditional oral examination distribution, whilst providing superior evidence of student learning compared to written-only assessment approaches. This distributed model ensures manageable workload whilst maintaining high assessment standards.</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580906"/>
            <a:ext cx="9168170" cy="558165"/>
          </a:xfrm>
          <a:prstGeom prst="rect">
            <a:avLst/>
          </a:prstGeom>
          <a:noFill/>
          <a:ln/>
        </p:spPr>
        <p:txBody>
          <a:bodyPr wrap="none" lIns="0" tIns="0" rIns="0" bIns="0" rtlCol="0" anchor="t"/>
          <a:lstStyle/>
          <a:p>
            <a:pPr marL="0" indent="0" algn="l">
              <a:lnSpc>
                <a:spcPts val="4350"/>
              </a:lnSpc>
              <a:buNone/>
            </a:pPr>
            <a:r>
              <a:rPr lang="en-US" sz="3500" b="1" dirty="0">
                <a:solidFill>
                  <a:srgbClr val="030303"/>
                </a:solidFill>
                <a:latin typeface="Aptos SemiBold" panose="020B0004020202020204" pitchFamily="34" charset="0"/>
                <a:ea typeface="DM Sans Semi Bold" pitchFamily="34" charset="-122"/>
                <a:cs typeface="DM Sans Semi Bold" pitchFamily="34" charset="-120"/>
              </a:rPr>
              <a:t>Professional Skills Development Outcomes</a:t>
            </a:r>
            <a:endParaRPr lang="en-US" sz="3500" dirty="0"/>
          </a:p>
        </p:txBody>
      </p:sp>
      <p:sp>
        <p:nvSpPr>
          <p:cNvPr id="3" name="Shape 1"/>
          <p:cNvSpPr/>
          <p:nvPr/>
        </p:nvSpPr>
        <p:spPr>
          <a:xfrm>
            <a:off x="793790" y="1496258"/>
            <a:ext cx="6432113" cy="2600682"/>
          </a:xfrm>
          <a:prstGeom prst="roundRect">
            <a:avLst>
              <a:gd name="adj" fmla="val 1030"/>
            </a:avLst>
          </a:prstGeom>
          <a:solidFill>
            <a:srgbClr val="F2EEEE"/>
          </a:solidFill>
          <a:ln/>
        </p:spPr>
        <p:txBody>
          <a:bodyPr/>
          <a:lstStyle/>
          <a:p>
            <a:endParaRPr lang="en-US"/>
          </a:p>
        </p:txBody>
      </p:sp>
      <p:sp>
        <p:nvSpPr>
          <p:cNvPr id="4" name="Shape 2"/>
          <p:cNvSpPr/>
          <p:nvPr/>
        </p:nvSpPr>
        <p:spPr>
          <a:xfrm>
            <a:off x="972383" y="1674852"/>
            <a:ext cx="535781" cy="535781"/>
          </a:xfrm>
          <a:prstGeom prst="roundRect">
            <a:avLst>
              <a:gd name="adj" fmla="val 17064968"/>
            </a:avLst>
          </a:prstGeom>
          <a:solidFill>
            <a:srgbClr val="1C9770"/>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119664" y="1792010"/>
            <a:ext cx="241102" cy="301347"/>
          </a:xfrm>
          <a:prstGeom prst="rect">
            <a:avLst/>
          </a:prstGeom>
        </p:spPr>
      </p:pic>
      <p:sp>
        <p:nvSpPr>
          <p:cNvPr id="6" name="Text 3"/>
          <p:cNvSpPr/>
          <p:nvPr/>
        </p:nvSpPr>
        <p:spPr>
          <a:xfrm>
            <a:off x="972383" y="2389227"/>
            <a:ext cx="3519964" cy="278963"/>
          </a:xfrm>
          <a:prstGeom prst="rect">
            <a:avLst/>
          </a:prstGeom>
          <a:noFill/>
          <a:ln/>
        </p:spPr>
        <p:txBody>
          <a:bodyPr wrap="none" lIns="0" tIns="0" rIns="0" bIns="0" rtlCol="0" anchor="t"/>
          <a:lstStyle/>
          <a:p>
            <a:pPr marL="0" indent="0" algn="l">
              <a:lnSpc>
                <a:spcPts val="2150"/>
              </a:lnSpc>
              <a:buNone/>
            </a:pPr>
            <a:r>
              <a:rPr lang="en-US" sz="1750" b="1" dirty="0">
                <a:solidFill>
                  <a:srgbClr val="464646"/>
                </a:solidFill>
                <a:latin typeface="Aptos SemiBold" panose="020B0004020202020204" pitchFamily="34" charset="0"/>
                <a:ea typeface="DM Sans Semi Bold" pitchFamily="34" charset="-122"/>
                <a:cs typeface="DM Sans Semi Bold" pitchFamily="34" charset="-120"/>
              </a:rPr>
              <a:t>Construction Industry Relevance</a:t>
            </a:r>
            <a:endParaRPr lang="en-US" sz="1750" dirty="0"/>
          </a:p>
        </p:txBody>
      </p:sp>
      <p:sp>
        <p:nvSpPr>
          <p:cNvPr id="7" name="Text 4"/>
          <p:cNvSpPr/>
          <p:nvPr/>
        </p:nvSpPr>
        <p:spPr>
          <a:xfrm>
            <a:off x="972383" y="2775347"/>
            <a:ext cx="6074926" cy="1143000"/>
          </a:xfrm>
          <a:prstGeom prst="rect">
            <a:avLst/>
          </a:prstGeom>
          <a:noFill/>
          <a:ln/>
        </p:spPr>
        <p:txBody>
          <a:bodyPr wrap="square" lIns="0" tIns="0" rIns="0" bIns="0" rtlCol="0" anchor="t"/>
          <a:lstStyle/>
          <a:p>
            <a:pPr marL="0" indent="0" algn="l">
              <a:lnSpc>
                <a:spcPts val="2250"/>
              </a:lnSpc>
              <a:buNone/>
            </a:pPr>
            <a:r>
              <a:rPr lang="en-US" sz="1600" dirty="0">
                <a:solidFill>
                  <a:srgbClr val="464646"/>
                </a:solidFill>
                <a:latin typeface="Calibri Light" panose="020F0302020204030204" pitchFamily="34" charset="0"/>
                <a:ea typeface="Inter Medium" pitchFamily="34" charset="-122"/>
                <a:cs typeface="Calibri Light" panose="020F0302020204030204" pitchFamily="34" charset="0"/>
              </a:rPr>
              <a:t>Students develop authentic business consulting capabilities directly transferable to professional practice, addressing specific industry feedback about graduate communication and professional judgement skills in real-world construction scenarios.</a:t>
            </a:r>
            <a:endParaRPr lang="en-US" sz="1600" dirty="0"/>
          </a:p>
        </p:txBody>
      </p:sp>
      <p:sp>
        <p:nvSpPr>
          <p:cNvPr id="8" name="Shape 5"/>
          <p:cNvSpPr/>
          <p:nvPr/>
        </p:nvSpPr>
        <p:spPr>
          <a:xfrm>
            <a:off x="7404497" y="1496258"/>
            <a:ext cx="6432113" cy="2600682"/>
          </a:xfrm>
          <a:prstGeom prst="roundRect">
            <a:avLst>
              <a:gd name="adj" fmla="val 1030"/>
            </a:avLst>
          </a:prstGeom>
          <a:solidFill>
            <a:srgbClr val="F2EEEE"/>
          </a:solidFill>
          <a:ln/>
        </p:spPr>
        <p:txBody>
          <a:bodyPr/>
          <a:lstStyle/>
          <a:p>
            <a:endParaRPr lang="en-US"/>
          </a:p>
        </p:txBody>
      </p:sp>
      <p:sp>
        <p:nvSpPr>
          <p:cNvPr id="9" name="Shape 6"/>
          <p:cNvSpPr/>
          <p:nvPr/>
        </p:nvSpPr>
        <p:spPr>
          <a:xfrm>
            <a:off x="7583091" y="1674852"/>
            <a:ext cx="535781" cy="535781"/>
          </a:xfrm>
          <a:prstGeom prst="roundRect">
            <a:avLst>
              <a:gd name="adj" fmla="val 17064968"/>
            </a:avLst>
          </a:prstGeom>
          <a:solidFill>
            <a:srgbClr val="1C9770"/>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7730371" y="1822132"/>
            <a:ext cx="241102" cy="241102"/>
          </a:xfrm>
          <a:prstGeom prst="rect">
            <a:avLst/>
          </a:prstGeom>
        </p:spPr>
      </p:pic>
      <p:sp>
        <p:nvSpPr>
          <p:cNvPr id="11" name="Text 7"/>
          <p:cNvSpPr/>
          <p:nvPr/>
        </p:nvSpPr>
        <p:spPr>
          <a:xfrm>
            <a:off x="7583091" y="2389227"/>
            <a:ext cx="3253859" cy="278963"/>
          </a:xfrm>
          <a:prstGeom prst="rect">
            <a:avLst/>
          </a:prstGeom>
          <a:noFill/>
          <a:ln/>
        </p:spPr>
        <p:txBody>
          <a:bodyPr wrap="none" lIns="0" tIns="0" rIns="0" bIns="0" rtlCol="0" anchor="t"/>
          <a:lstStyle/>
          <a:p>
            <a:pPr marL="0" indent="0" algn="l">
              <a:lnSpc>
                <a:spcPts val="2150"/>
              </a:lnSpc>
              <a:buNone/>
            </a:pPr>
            <a:r>
              <a:rPr lang="en-US" sz="1750" b="1" dirty="0">
                <a:solidFill>
                  <a:srgbClr val="464646"/>
                </a:solidFill>
                <a:latin typeface="Aptos SemiBold" panose="020B0004020202020204" pitchFamily="34" charset="0"/>
                <a:ea typeface="DM Sans Semi Bold" pitchFamily="34" charset="-122"/>
                <a:cs typeface="DM Sans Semi Bold" pitchFamily="34" charset="-120"/>
              </a:rPr>
              <a:t>Academic Integrity Assurance</a:t>
            </a:r>
            <a:endParaRPr lang="en-US" sz="1750" dirty="0"/>
          </a:p>
        </p:txBody>
      </p:sp>
      <p:sp>
        <p:nvSpPr>
          <p:cNvPr id="12" name="Text 8"/>
          <p:cNvSpPr/>
          <p:nvPr/>
        </p:nvSpPr>
        <p:spPr>
          <a:xfrm>
            <a:off x="7583091" y="2775347"/>
            <a:ext cx="6074926" cy="1143000"/>
          </a:xfrm>
          <a:prstGeom prst="rect">
            <a:avLst/>
          </a:prstGeom>
          <a:noFill/>
          <a:ln/>
        </p:spPr>
        <p:txBody>
          <a:bodyPr wrap="square" lIns="0" tIns="0" rIns="0" bIns="0" rtlCol="0" anchor="t"/>
          <a:lstStyle/>
          <a:p>
            <a:pPr marL="0" indent="0" algn="l">
              <a:lnSpc>
                <a:spcPts val="2250"/>
              </a:lnSpc>
              <a:buNone/>
            </a:pPr>
            <a:r>
              <a:rPr lang="en-US" sz="1600" dirty="0">
                <a:solidFill>
                  <a:srgbClr val="464646"/>
                </a:solidFill>
                <a:latin typeface="Calibri Light" panose="020F0302020204030204" pitchFamily="34" charset="0"/>
                <a:ea typeface="Inter Medium" pitchFamily="34" charset="-122"/>
                <a:cs typeface="Calibri Light" panose="020F0302020204030204" pitchFamily="34" charset="0"/>
              </a:rPr>
              <a:t>The IOA component eliminates concerns about AI assistance or contract cheating whilst providing immediate verification of genuine student knowledge, understanding, and professional capability under realistic conditions.</a:t>
            </a:r>
            <a:endParaRPr lang="en-US" sz="1600" dirty="0"/>
          </a:p>
        </p:txBody>
      </p:sp>
      <p:sp>
        <p:nvSpPr>
          <p:cNvPr id="13" name="Shape 9"/>
          <p:cNvSpPr/>
          <p:nvPr/>
        </p:nvSpPr>
        <p:spPr>
          <a:xfrm>
            <a:off x="793790" y="4275534"/>
            <a:ext cx="6432113" cy="2600682"/>
          </a:xfrm>
          <a:prstGeom prst="roundRect">
            <a:avLst>
              <a:gd name="adj" fmla="val 1030"/>
            </a:avLst>
          </a:prstGeom>
          <a:solidFill>
            <a:srgbClr val="F2EEEE"/>
          </a:solidFill>
          <a:ln/>
        </p:spPr>
        <p:txBody>
          <a:bodyPr/>
          <a:lstStyle/>
          <a:p>
            <a:endParaRPr lang="en-US"/>
          </a:p>
        </p:txBody>
      </p:sp>
      <p:sp>
        <p:nvSpPr>
          <p:cNvPr id="14" name="Shape 10"/>
          <p:cNvSpPr/>
          <p:nvPr/>
        </p:nvSpPr>
        <p:spPr>
          <a:xfrm>
            <a:off x="972383" y="4454128"/>
            <a:ext cx="535781" cy="535781"/>
          </a:xfrm>
          <a:prstGeom prst="roundRect">
            <a:avLst>
              <a:gd name="adj" fmla="val 17064968"/>
            </a:avLst>
          </a:prstGeom>
          <a:solidFill>
            <a:srgbClr val="1C9770"/>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1119664" y="4571286"/>
            <a:ext cx="241102" cy="301347"/>
          </a:xfrm>
          <a:prstGeom prst="rect">
            <a:avLst/>
          </a:prstGeom>
        </p:spPr>
      </p:pic>
      <p:sp>
        <p:nvSpPr>
          <p:cNvPr id="16" name="Text 11"/>
          <p:cNvSpPr/>
          <p:nvPr/>
        </p:nvSpPr>
        <p:spPr>
          <a:xfrm>
            <a:off x="972383" y="5168503"/>
            <a:ext cx="3007162" cy="278963"/>
          </a:xfrm>
          <a:prstGeom prst="rect">
            <a:avLst/>
          </a:prstGeom>
          <a:noFill/>
          <a:ln/>
        </p:spPr>
        <p:txBody>
          <a:bodyPr wrap="none" lIns="0" tIns="0" rIns="0" bIns="0" rtlCol="0" anchor="t"/>
          <a:lstStyle/>
          <a:p>
            <a:pPr marL="0" indent="0" algn="l">
              <a:lnSpc>
                <a:spcPts val="2150"/>
              </a:lnSpc>
              <a:buNone/>
            </a:pPr>
            <a:r>
              <a:rPr lang="en-US" sz="1750" b="1" dirty="0">
                <a:solidFill>
                  <a:srgbClr val="464646"/>
                </a:solidFill>
                <a:latin typeface="Aptos SemiBold" panose="020B0004020202020204" pitchFamily="34" charset="0"/>
                <a:ea typeface="DM Sans Semi Bold" pitchFamily="34" charset="-122"/>
                <a:cs typeface="DM Sans Semi Bold" pitchFamily="34" charset="-120"/>
              </a:rPr>
              <a:t>Employability Enhancement</a:t>
            </a:r>
            <a:endParaRPr lang="en-US" sz="1750" dirty="0"/>
          </a:p>
        </p:txBody>
      </p:sp>
      <p:sp>
        <p:nvSpPr>
          <p:cNvPr id="17" name="Text 12"/>
          <p:cNvSpPr/>
          <p:nvPr/>
        </p:nvSpPr>
        <p:spPr>
          <a:xfrm>
            <a:off x="972383" y="5554623"/>
            <a:ext cx="6074926" cy="1143000"/>
          </a:xfrm>
          <a:prstGeom prst="rect">
            <a:avLst/>
          </a:prstGeom>
          <a:noFill/>
          <a:ln/>
        </p:spPr>
        <p:txBody>
          <a:bodyPr wrap="square" lIns="0" tIns="0" rIns="0" bIns="0" rtlCol="0" anchor="t"/>
          <a:lstStyle/>
          <a:p>
            <a:pPr marL="0" indent="0" algn="l">
              <a:lnSpc>
                <a:spcPts val="2250"/>
              </a:lnSpc>
              <a:buNone/>
            </a:pPr>
            <a:r>
              <a:rPr lang="en-US" sz="1600" dirty="0">
                <a:solidFill>
                  <a:srgbClr val="464646"/>
                </a:solidFill>
                <a:latin typeface="Calibri Light" panose="020F0302020204030204" pitchFamily="34" charset="0"/>
                <a:ea typeface="Inter Medium" pitchFamily="34" charset="-122"/>
                <a:cs typeface="Calibri Light" panose="020F0302020204030204" pitchFamily="34" charset="0"/>
              </a:rPr>
              <a:t>Assessment directly mirrors actual client consultation scenarios that construction professionals encounter daily, developing learner confidence and demonstrable competence in both preparation and process relevant to business communication environments.</a:t>
            </a:r>
            <a:endParaRPr lang="en-US" sz="1600" dirty="0"/>
          </a:p>
        </p:txBody>
      </p:sp>
      <p:sp>
        <p:nvSpPr>
          <p:cNvPr id="18" name="Shape 13"/>
          <p:cNvSpPr/>
          <p:nvPr/>
        </p:nvSpPr>
        <p:spPr>
          <a:xfrm>
            <a:off x="7404497" y="4275534"/>
            <a:ext cx="6432113" cy="2600682"/>
          </a:xfrm>
          <a:prstGeom prst="roundRect">
            <a:avLst>
              <a:gd name="adj" fmla="val 1030"/>
            </a:avLst>
          </a:prstGeom>
          <a:solidFill>
            <a:srgbClr val="F2EEEE"/>
          </a:solidFill>
          <a:ln/>
        </p:spPr>
        <p:txBody>
          <a:bodyPr/>
          <a:lstStyle/>
          <a:p>
            <a:endParaRPr lang="en-US"/>
          </a:p>
        </p:txBody>
      </p:sp>
      <p:sp>
        <p:nvSpPr>
          <p:cNvPr id="19" name="Shape 14"/>
          <p:cNvSpPr/>
          <p:nvPr/>
        </p:nvSpPr>
        <p:spPr>
          <a:xfrm>
            <a:off x="7583091" y="4454128"/>
            <a:ext cx="535781" cy="535781"/>
          </a:xfrm>
          <a:prstGeom prst="roundRect">
            <a:avLst>
              <a:gd name="adj" fmla="val 17064968"/>
            </a:avLst>
          </a:prstGeom>
          <a:solidFill>
            <a:srgbClr val="1C9770"/>
          </a:solidFill>
          <a:ln/>
        </p:spPr>
        <p:txBody>
          <a:bodyPr/>
          <a:lstStyle/>
          <a:p>
            <a:endParaRPr lang="en-US"/>
          </a:p>
        </p:txBody>
      </p:sp>
      <p:pic>
        <p:nvPicPr>
          <p:cNvPr id="20" name="Image 3" descr="preencoded.png"/>
          <p:cNvPicPr>
            <a:picLocks noChangeAspect="1"/>
          </p:cNvPicPr>
          <p:nvPr/>
        </p:nvPicPr>
        <p:blipFill>
          <a:blip r:embed="rId6"/>
          <a:stretch>
            <a:fillRect/>
          </a:stretch>
        </p:blipFill>
        <p:spPr>
          <a:xfrm>
            <a:off x="7730371" y="4571286"/>
            <a:ext cx="241102" cy="301347"/>
          </a:xfrm>
          <a:prstGeom prst="rect">
            <a:avLst/>
          </a:prstGeom>
        </p:spPr>
      </p:pic>
      <p:sp>
        <p:nvSpPr>
          <p:cNvPr id="21" name="Text 15"/>
          <p:cNvSpPr/>
          <p:nvPr/>
        </p:nvSpPr>
        <p:spPr>
          <a:xfrm>
            <a:off x="7583091" y="5168503"/>
            <a:ext cx="2832735" cy="278963"/>
          </a:xfrm>
          <a:prstGeom prst="rect">
            <a:avLst/>
          </a:prstGeom>
          <a:noFill/>
          <a:ln/>
        </p:spPr>
        <p:txBody>
          <a:bodyPr wrap="none" lIns="0" tIns="0" rIns="0" bIns="0" rtlCol="0" anchor="t"/>
          <a:lstStyle/>
          <a:p>
            <a:pPr marL="0" indent="0" algn="l">
              <a:lnSpc>
                <a:spcPts val="2150"/>
              </a:lnSpc>
              <a:buNone/>
            </a:pPr>
            <a:r>
              <a:rPr lang="en-US" sz="1750" b="1" dirty="0">
                <a:solidFill>
                  <a:srgbClr val="464646"/>
                </a:solidFill>
                <a:latin typeface="Aptos SemiBold" panose="020B0004020202020204" pitchFamily="34" charset="0"/>
                <a:ea typeface="DM Sans Semi Bold" pitchFamily="34" charset="-122"/>
                <a:cs typeface="DM Sans Semi Bold" pitchFamily="34" charset="-120"/>
              </a:rPr>
              <a:t>Learning Depth Assurance</a:t>
            </a:r>
            <a:endParaRPr lang="en-US" sz="1750" dirty="0"/>
          </a:p>
        </p:txBody>
      </p:sp>
      <p:sp>
        <p:nvSpPr>
          <p:cNvPr id="22" name="Text 16"/>
          <p:cNvSpPr/>
          <p:nvPr/>
        </p:nvSpPr>
        <p:spPr>
          <a:xfrm>
            <a:off x="7583091" y="5554623"/>
            <a:ext cx="6074926" cy="1143000"/>
          </a:xfrm>
          <a:prstGeom prst="rect">
            <a:avLst/>
          </a:prstGeom>
          <a:noFill/>
          <a:ln/>
        </p:spPr>
        <p:txBody>
          <a:bodyPr wrap="square" lIns="0" tIns="0" rIns="0" bIns="0" rtlCol="0" anchor="t"/>
          <a:lstStyle/>
          <a:p>
            <a:pPr marL="0" indent="0" algn="l">
              <a:lnSpc>
                <a:spcPts val="2250"/>
              </a:lnSpc>
              <a:buNone/>
            </a:pPr>
            <a:r>
              <a:rPr lang="en-US" sz="1600" dirty="0">
                <a:solidFill>
                  <a:srgbClr val="464646"/>
                </a:solidFill>
                <a:latin typeface="Calibri Light" panose="020F0302020204030204" pitchFamily="34" charset="0"/>
                <a:ea typeface="Inter Medium" pitchFamily="34" charset="-122"/>
                <a:cs typeface="Calibri Light" panose="020F0302020204030204" pitchFamily="34" charset="0"/>
              </a:rPr>
              <a:t>Real-time application requirements ensure students develop comprehensive understanding rather than surface-level knowledge sufficient only for written reproduction, promoting genuine professional competence.</a:t>
            </a:r>
            <a:endParaRPr lang="en-US" sz="1600" dirty="0"/>
          </a:p>
        </p:txBody>
      </p:sp>
      <p:sp>
        <p:nvSpPr>
          <p:cNvPr id="23" name="Text 17"/>
          <p:cNvSpPr/>
          <p:nvPr/>
        </p:nvSpPr>
        <p:spPr>
          <a:xfrm>
            <a:off x="793790" y="7077075"/>
            <a:ext cx="13042821" cy="571500"/>
          </a:xfrm>
          <a:prstGeom prst="rect">
            <a:avLst/>
          </a:prstGeom>
          <a:noFill/>
          <a:ln/>
        </p:spPr>
        <p:txBody>
          <a:bodyPr wrap="square" lIns="0" tIns="0" rIns="0" bIns="0" rtlCol="0" anchor="t"/>
          <a:lstStyle/>
          <a:p>
            <a:pPr marL="0" indent="0" algn="l">
              <a:lnSpc>
                <a:spcPts val="2250"/>
              </a:lnSpc>
              <a:buNone/>
            </a:pPr>
            <a:r>
              <a:rPr lang="en-US" dirty="0">
                <a:solidFill>
                  <a:srgbClr val="464646"/>
                </a:solidFill>
                <a:latin typeface="Calibri Light" panose="020F0302020204030204" pitchFamily="34" charset="0"/>
                <a:ea typeface="Inter Medium" pitchFamily="34" charset="-122"/>
                <a:cs typeface="Calibri Light" panose="020F0302020204030204" pitchFamily="34" charset="0"/>
              </a:rPr>
              <a:t>This comprehensive approach transforms traditional academic assessment into authentic professional preparation, ensuring graduates possess both technical knowledge and the communication skills essential for construction industry success.</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67596" y="527685"/>
            <a:ext cx="7214830" cy="389692"/>
          </a:xfrm>
          <a:prstGeom prst="rect">
            <a:avLst/>
          </a:prstGeom>
          <a:noFill/>
          <a:ln/>
        </p:spPr>
        <p:txBody>
          <a:bodyPr wrap="none" lIns="0" tIns="0" rIns="0" bIns="0" rtlCol="0" anchor="t"/>
          <a:lstStyle/>
          <a:p>
            <a:pPr marL="0" indent="0" algn="l">
              <a:lnSpc>
                <a:spcPts val="3050"/>
              </a:lnSpc>
              <a:buNone/>
            </a:pPr>
            <a:r>
              <a:rPr lang="en-US" sz="2450" b="1" dirty="0">
                <a:solidFill>
                  <a:srgbClr val="030303"/>
                </a:solidFill>
                <a:latin typeface="Aptos SemiBold" panose="020B0004020202020204" pitchFamily="34" charset="0"/>
                <a:ea typeface="DM Sans Semi Bold" pitchFamily="34" charset="-122"/>
                <a:cs typeface="DM Sans Semi Bold" pitchFamily="34" charset="-120"/>
              </a:rPr>
              <a:t>Implementation Timeline and Resource Planning</a:t>
            </a:r>
            <a:endParaRPr lang="en-US" sz="2450" dirty="0"/>
          </a:p>
        </p:txBody>
      </p:sp>
      <p:sp>
        <p:nvSpPr>
          <p:cNvPr id="3" name="Shape 1"/>
          <p:cNvSpPr/>
          <p:nvPr/>
        </p:nvSpPr>
        <p:spPr>
          <a:xfrm>
            <a:off x="7307580" y="1166813"/>
            <a:ext cx="15240" cy="6536531"/>
          </a:xfrm>
          <a:prstGeom prst="roundRect">
            <a:avLst>
              <a:gd name="adj" fmla="val 122771"/>
            </a:avLst>
          </a:prstGeom>
          <a:solidFill>
            <a:srgbClr val="D8D4D4"/>
          </a:solidFill>
          <a:ln/>
        </p:spPr>
        <p:txBody>
          <a:bodyPr/>
          <a:lstStyle/>
          <a:p>
            <a:endParaRPr lang="en-US"/>
          </a:p>
        </p:txBody>
      </p:sp>
      <p:sp>
        <p:nvSpPr>
          <p:cNvPr id="4" name="Shape 2"/>
          <p:cNvSpPr/>
          <p:nvPr/>
        </p:nvSpPr>
        <p:spPr>
          <a:xfrm>
            <a:off x="7081004" y="1299448"/>
            <a:ext cx="249436" cy="15240"/>
          </a:xfrm>
          <a:prstGeom prst="roundRect">
            <a:avLst>
              <a:gd name="adj" fmla="val 122771"/>
            </a:avLst>
          </a:prstGeom>
          <a:solidFill>
            <a:srgbClr val="E58A35"/>
          </a:solidFill>
          <a:ln/>
        </p:spPr>
        <p:txBody>
          <a:bodyPr/>
          <a:lstStyle/>
          <a:p>
            <a:endParaRPr lang="en-US" sz="1400"/>
          </a:p>
        </p:txBody>
      </p:sp>
      <p:sp>
        <p:nvSpPr>
          <p:cNvPr id="5" name="Shape 3"/>
          <p:cNvSpPr/>
          <p:nvPr/>
        </p:nvSpPr>
        <p:spPr>
          <a:xfrm>
            <a:off x="7268468" y="1260336"/>
            <a:ext cx="93464" cy="93464"/>
          </a:xfrm>
          <a:prstGeom prst="roundRect">
            <a:avLst>
              <a:gd name="adj" fmla="val 489172"/>
            </a:avLst>
          </a:prstGeom>
          <a:solidFill>
            <a:srgbClr val="FFA44F"/>
          </a:solidFill>
          <a:ln/>
        </p:spPr>
        <p:txBody>
          <a:bodyPr/>
          <a:lstStyle/>
          <a:p>
            <a:endParaRPr lang="en-US" sz="1400"/>
          </a:p>
        </p:txBody>
      </p:sp>
      <p:sp>
        <p:nvSpPr>
          <p:cNvPr id="6" name="Text 4"/>
          <p:cNvSpPr/>
          <p:nvPr/>
        </p:nvSpPr>
        <p:spPr>
          <a:xfrm>
            <a:off x="4594860" y="1209675"/>
            <a:ext cx="2221468" cy="194905"/>
          </a:xfrm>
          <a:prstGeom prst="rect">
            <a:avLst/>
          </a:prstGeom>
          <a:noFill/>
          <a:ln/>
        </p:spPr>
        <p:txBody>
          <a:bodyPr wrap="none" lIns="0" tIns="0" rIns="0" bIns="0" rtlCol="0" anchor="t"/>
          <a:lstStyle/>
          <a:p>
            <a:pPr marL="0" indent="0" algn="r">
              <a:lnSpc>
                <a:spcPts val="1500"/>
              </a:lnSpc>
              <a:buNone/>
            </a:pPr>
            <a:r>
              <a:rPr lang="en-US" b="1" dirty="0">
                <a:solidFill>
                  <a:srgbClr val="464646"/>
                </a:solidFill>
                <a:latin typeface="Aptos SemiBold" panose="020B0004020202020204" pitchFamily="34" charset="0"/>
                <a:ea typeface="DM Sans Semi Bold" pitchFamily="34" charset="-122"/>
                <a:cs typeface="DM Sans Semi Bold" pitchFamily="34" charset="-120"/>
              </a:rPr>
              <a:t>Week 0: Task &amp; Rubric Review</a:t>
            </a:r>
            <a:endParaRPr lang="en-US" dirty="0"/>
          </a:p>
        </p:txBody>
      </p:sp>
      <p:sp>
        <p:nvSpPr>
          <p:cNvPr id="7" name="Text 5"/>
          <p:cNvSpPr/>
          <p:nvPr/>
        </p:nvSpPr>
        <p:spPr>
          <a:xfrm>
            <a:off x="767596" y="1479352"/>
            <a:ext cx="6048732" cy="399098"/>
          </a:xfrm>
          <a:prstGeom prst="rect">
            <a:avLst/>
          </a:prstGeom>
          <a:noFill/>
          <a:ln/>
        </p:spPr>
        <p:txBody>
          <a:bodyPr wrap="square" lIns="0" tIns="0" rIns="0" bIns="0" rtlCol="0" anchor="t"/>
          <a:lstStyle/>
          <a:p>
            <a:pPr marL="342900" indent="-342900" algn="l">
              <a:lnSpc>
                <a:spcPts val="1550"/>
              </a:lnSpc>
              <a:buSzPct val="100000"/>
              <a:buChar char="•"/>
            </a:pPr>
            <a:r>
              <a:rPr lang="en-US" sz="1400" dirty="0">
                <a:solidFill>
                  <a:srgbClr val="464646"/>
                </a:solidFill>
                <a:latin typeface="Calibri Light" panose="020F0302020204030204" pitchFamily="34" charset="0"/>
                <a:ea typeface="Inter Medium" pitchFamily="34" charset="-122"/>
                <a:cs typeface="Calibri Light" panose="020F0302020204030204" pitchFamily="34" charset="0"/>
              </a:rPr>
              <a:t>Review the overall assessment strategy, update rubric and assessment instructions before the teaching period begins.</a:t>
            </a:r>
            <a:endParaRPr lang="en-US" sz="1400" dirty="0"/>
          </a:p>
        </p:txBody>
      </p:sp>
      <p:sp>
        <p:nvSpPr>
          <p:cNvPr id="8" name="Text 6"/>
          <p:cNvSpPr/>
          <p:nvPr/>
        </p:nvSpPr>
        <p:spPr>
          <a:xfrm>
            <a:off x="767596" y="1922026"/>
            <a:ext cx="6048732" cy="199549"/>
          </a:xfrm>
          <a:prstGeom prst="rect">
            <a:avLst/>
          </a:prstGeom>
          <a:noFill/>
          <a:ln/>
        </p:spPr>
        <p:txBody>
          <a:bodyPr wrap="none" lIns="0" tIns="0" rIns="0" bIns="0" rtlCol="0" anchor="t"/>
          <a:lstStyle/>
          <a:p>
            <a:pPr marL="342900" indent="-342900" algn="l">
              <a:lnSpc>
                <a:spcPts val="1550"/>
              </a:lnSpc>
              <a:buSzPct val="100000"/>
              <a:buChar char="•"/>
            </a:pPr>
            <a:r>
              <a:rPr lang="en-US" sz="1400" dirty="0">
                <a:solidFill>
                  <a:srgbClr val="464646"/>
                </a:solidFill>
                <a:latin typeface="Calibri Light" panose="020F0302020204030204" pitchFamily="34" charset="0"/>
                <a:ea typeface="Inter Medium" pitchFamily="34" charset="-122"/>
                <a:cs typeface="Calibri Light" panose="020F0302020204030204" pitchFamily="34" charset="0"/>
              </a:rPr>
              <a:t>Conduct staff workshops for assessors and tutors to upskill for this assessment method.</a:t>
            </a:r>
            <a:endParaRPr lang="en-US" sz="1400" dirty="0"/>
          </a:p>
        </p:txBody>
      </p:sp>
      <p:sp>
        <p:nvSpPr>
          <p:cNvPr id="9" name="Shape 7"/>
          <p:cNvSpPr/>
          <p:nvPr/>
        </p:nvSpPr>
        <p:spPr>
          <a:xfrm>
            <a:off x="7299960" y="2047756"/>
            <a:ext cx="249436" cy="15240"/>
          </a:xfrm>
          <a:prstGeom prst="roundRect">
            <a:avLst>
              <a:gd name="adj" fmla="val 122771"/>
            </a:avLst>
          </a:prstGeom>
          <a:solidFill>
            <a:srgbClr val="E58A35"/>
          </a:solidFill>
          <a:ln/>
        </p:spPr>
        <p:txBody>
          <a:bodyPr/>
          <a:lstStyle/>
          <a:p>
            <a:endParaRPr lang="en-US" sz="1400"/>
          </a:p>
        </p:txBody>
      </p:sp>
      <p:sp>
        <p:nvSpPr>
          <p:cNvPr id="10" name="Shape 8"/>
          <p:cNvSpPr/>
          <p:nvPr/>
        </p:nvSpPr>
        <p:spPr>
          <a:xfrm>
            <a:off x="7268468" y="2008644"/>
            <a:ext cx="93464" cy="93464"/>
          </a:xfrm>
          <a:prstGeom prst="roundRect">
            <a:avLst>
              <a:gd name="adj" fmla="val 489172"/>
            </a:avLst>
          </a:prstGeom>
          <a:solidFill>
            <a:srgbClr val="FFA44F"/>
          </a:solidFill>
          <a:ln/>
        </p:spPr>
        <p:txBody>
          <a:bodyPr/>
          <a:lstStyle/>
          <a:p>
            <a:endParaRPr lang="en-US" sz="1400"/>
          </a:p>
        </p:txBody>
      </p:sp>
      <p:sp>
        <p:nvSpPr>
          <p:cNvPr id="11" name="Text 9"/>
          <p:cNvSpPr/>
          <p:nvPr/>
        </p:nvSpPr>
        <p:spPr>
          <a:xfrm>
            <a:off x="7814072" y="1957983"/>
            <a:ext cx="2184083" cy="194905"/>
          </a:xfrm>
          <a:prstGeom prst="rect">
            <a:avLst/>
          </a:prstGeom>
          <a:noFill/>
          <a:ln/>
        </p:spPr>
        <p:txBody>
          <a:bodyPr wrap="none" lIns="0" tIns="0" rIns="0" bIns="0" rtlCol="0" anchor="t"/>
          <a:lstStyle/>
          <a:p>
            <a:pPr marL="0" indent="0" algn="l">
              <a:lnSpc>
                <a:spcPts val="1500"/>
              </a:lnSpc>
              <a:buNone/>
            </a:pPr>
            <a:r>
              <a:rPr lang="en-US" b="1" dirty="0">
                <a:solidFill>
                  <a:srgbClr val="464646"/>
                </a:solidFill>
                <a:latin typeface="Aptos SemiBold" panose="020B0004020202020204" pitchFamily="34" charset="0"/>
                <a:ea typeface="DM Sans Semi Bold" pitchFamily="34" charset="-122"/>
                <a:cs typeface="DM Sans Semi Bold" pitchFamily="34" charset="-120"/>
              </a:rPr>
              <a:t>Week 1: Discuss with learners</a:t>
            </a:r>
            <a:endParaRPr lang="en-US" dirty="0"/>
          </a:p>
        </p:txBody>
      </p:sp>
      <p:sp>
        <p:nvSpPr>
          <p:cNvPr id="12" name="Text 10"/>
          <p:cNvSpPr/>
          <p:nvPr/>
        </p:nvSpPr>
        <p:spPr>
          <a:xfrm>
            <a:off x="7814072" y="2227659"/>
            <a:ext cx="6048732" cy="199549"/>
          </a:xfrm>
          <a:prstGeom prst="rect">
            <a:avLst/>
          </a:prstGeom>
          <a:noFill/>
          <a:ln/>
        </p:spPr>
        <p:txBody>
          <a:bodyPr wrap="none" lIns="0" tIns="0" rIns="0" bIns="0" rtlCol="0" anchor="t"/>
          <a:lstStyle/>
          <a:p>
            <a:pPr marL="342900" indent="-342900" algn="l">
              <a:lnSpc>
                <a:spcPts val="1550"/>
              </a:lnSpc>
              <a:buSzPct val="100000"/>
              <a:buChar char="•"/>
            </a:pPr>
            <a:r>
              <a:rPr lang="en-US" sz="1400" dirty="0">
                <a:solidFill>
                  <a:srgbClr val="464646"/>
                </a:solidFill>
                <a:latin typeface="Calibri Light" panose="020F0302020204030204" pitchFamily="34" charset="0"/>
                <a:ea typeface="Inter Medium" pitchFamily="34" charset="-122"/>
                <a:cs typeface="Calibri Light" panose="020F0302020204030204" pitchFamily="34" charset="0"/>
              </a:rPr>
              <a:t>Provide detailed assessment information in the LMS (Learning Management System).</a:t>
            </a:r>
            <a:endParaRPr lang="en-US" sz="1400" dirty="0"/>
          </a:p>
        </p:txBody>
      </p:sp>
      <p:sp>
        <p:nvSpPr>
          <p:cNvPr id="13" name="Text 11"/>
          <p:cNvSpPr/>
          <p:nvPr/>
        </p:nvSpPr>
        <p:spPr>
          <a:xfrm>
            <a:off x="7814072" y="2470785"/>
            <a:ext cx="6048732" cy="199549"/>
          </a:xfrm>
          <a:prstGeom prst="rect">
            <a:avLst/>
          </a:prstGeom>
          <a:noFill/>
          <a:ln/>
        </p:spPr>
        <p:txBody>
          <a:bodyPr wrap="none" lIns="0" tIns="0" rIns="0" bIns="0" rtlCol="0" anchor="t"/>
          <a:lstStyle/>
          <a:p>
            <a:pPr marL="342900" indent="-342900" algn="l">
              <a:lnSpc>
                <a:spcPts val="1550"/>
              </a:lnSpc>
              <a:buSzPct val="100000"/>
              <a:buChar char="•"/>
            </a:pPr>
            <a:r>
              <a:rPr lang="en-US" sz="1400" dirty="0">
                <a:solidFill>
                  <a:srgbClr val="464646"/>
                </a:solidFill>
                <a:latin typeface="Calibri Light" panose="020F0302020204030204" pitchFamily="34" charset="0"/>
                <a:ea typeface="Inter Medium" pitchFamily="34" charset="-122"/>
                <a:cs typeface="Calibri Light" panose="020F0302020204030204" pitchFamily="34" charset="0"/>
              </a:rPr>
              <a:t>Brief students on the IOA process and expectations.</a:t>
            </a:r>
            <a:endParaRPr lang="en-US" sz="1400" dirty="0"/>
          </a:p>
        </p:txBody>
      </p:sp>
      <p:sp>
        <p:nvSpPr>
          <p:cNvPr id="14" name="Shape 12"/>
          <p:cNvSpPr/>
          <p:nvPr/>
        </p:nvSpPr>
        <p:spPr>
          <a:xfrm>
            <a:off x="7081004" y="2692837"/>
            <a:ext cx="249436" cy="15240"/>
          </a:xfrm>
          <a:prstGeom prst="roundRect">
            <a:avLst>
              <a:gd name="adj" fmla="val 122771"/>
            </a:avLst>
          </a:prstGeom>
          <a:solidFill>
            <a:srgbClr val="E58A35"/>
          </a:solidFill>
          <a:ln/>
        </p:spPr>
        <p:txBody>
          <a:bodyPr/>
          <a:lstStyle/>
          <a:p>
            <a:endParaRPr lang="en-US" sz="1400"/>
          </a:p>
        </p:txBody>
      </p:sp>
      <p:sp>
        <p:nvSpPr>
          <p:cNvPr id="15" name="Shape 13"/>
          <p:cNvSpPr/>
          <p:nvPr/>
        </p:nvSpPr>
        <p:spPr>
          <a:xfrm>
            <a:off x="7268468" y="2653725"/>
            <a:ext cx="93464" cy="93464"/>
          </a:xfrm>
          <a:prstGeom prst="roundRect">
            <a:avLst>
              <a:gd name="adj" fmla="val 489172"/>
            </a:avLst>
          </a:prstGeom>
          <a:solidFill>
            <a:srgbClr val="FFA44F"/>
          </a:solidFill>
          <a:ln/>
        </p:spPr>
        <p:txBody>
          <a:bodyPr/>
          <a:lstStyle/>
          <a:p>
            <a:endParaRPr lang="en-US" sz="1400"/>
          </a:p>
        </p:txBody>
      </p:sp>
      <p:sp>
        <p:nvSpPr>
          <p:cNvPr id="16" name="Text 14"/>
          <p:cNvSpPr/>
          <p:nvPr/>
        </p:nvSpPr>
        <p:spPr>
          <a:xfrm>
            <a:off x="4501039" y="2603063"/>
            <a:ext cx="2315289" cy="194905"/>
          </a:xfrm>
          <a:prstGeom prst="rect">
            <a:avLst/>
          </a:prstGeom>
          <a:noFill/>
          <a:ln/>
        </p:spPr>
        <p:txBody>
          <a:bodyPr wrap="none" lIns="0" tIns="0" rIns="0" bIns="0" rtlCol="0" anchor="t"/>
          <a:lstStyle/>
          <a:p>
            <a:pPr marL="0" indent="0" algn="r">
              <a:lnSpc>
                <a:spcPts val="1500"/>
              </a:lnSpc>
              <a:buNone/>
            </a:pPr>
            <a:r>
              <a:rPr lang="en-US" b="1" dirty="0">
                <a:solidFill>
                  <a:srgbClr val="464646"/>
                </a:solidFill>
                <a:latin typeface="Aptos SemiBold" panose="020B0004020202020204" pitchFamily="34" charset="0"/>
                <a:ea typeface="DM Sans Semi Bold" pitchFamily="34" charset="-122"/>
                <a:cs typeface="DM Sans Semi Bold" pitchFamily="34" charset="-120"/>
              </a:rPr>
              <a:t>Week 2: Formative work begins</a:t>
            </a:r>
            <a:endParaRPr lang="en-US" dirty="0"/>
          </a:p>
        </p:txBody>
      </p:sp>
      <p:sp>
        <p:nvSpPr>
          <p:cNvPr id="17" name="Text 15"/>
          <p:cNvSpPr/>
          <p:nvPr/>
        </p:nvSpPr>
        <p:spPr>
          <a:xfrm>
            <a:off x="767596" y="2872740"/>
            <a:ext cx="6048732" cy="199549"/>
          </a:xfrm>
          <a:prstGeom prst="rect">
            <a:avLst/>
          </a:prstGeom>
          <a:noFill/>
          <a:ln/>
        </p:spPr>
        <p:txBody>
          <a:bodyPr wrap="none" lIns="0" tIns="0" rIns="0" bIns="0" rtlCol="0" anchor="t"/>
          <a:lstStyle/>
          <a:p>
            <a:pPr marL="342900" indent="-342900" algn="l">
              <a:lnSpc>
                <a:spcPts val="1550"/>
              </a:lnSpc>
              <a:buSzPct val="100000"/>
              <a:buChar char="•"/>
            </a:pPr>
            <a:r>
              <a:rPr lang="en-US" sz="1400" dirty="0">
                <a:solidFill>
                  <a:srgbClr val="464646"/>
                </a:solidFill>
                <a:latin typeface="Calibri Light" panose="020F0302020204030204" pitchFamily="34" charset="0"/>
                <a:ea typeface="Inter Medium" pitchFamily="34" charset="-122"/>
                <a:cs typeface="Calibri Light" panose="020F0302020204030204" pitchFamily="34" charset="0"/>
              </a:rPr>
              <a:t>Share scenarios, rubrics, templates, and rich context material with students.</a:t>
            </a:r>
            <a:endParaRPr lang="en-US" sz="1400" dirty="0"/>
          </a:p>
        </p:txBody>
      </p:sp>
      <p:sp>
        <p:nvSpPr>
          <p:cNvPr id="18" name="Text 16"/>
          <p:cNvSpPr/>
          <p:nvPr/>
        </p:nvSpPr>
        <p:spPr>
          <a:xfrm>
            <a:off x="767596" y="3115866"/>
            <a:ext cx="6048732" cy="199549"/>
          </a:xfrm>
          <a:prstGeom prst="rect">
            <a:avLst/>
          </a:prstGeom>
          <a:noFill/>
          <a:ln/>
        </p:spPr>
        <p:txBody>
          <a:bodyPr wrap="none" lIns="0" tIns="0" rIns="0" bIns="0" rtlCol="0" anchor="t"/>
          <a:lstStyle/>
          <a:p>
            <a:pPr marL="342900" indent="-342900" algn="l">
              <a:lnSpc>
                <a:spcPts val="1550"/>
              </a:lnSpc>
              <a:buSzPct val="100000"/>
              <a:buChar char="•"/>
            </a:pPr>
            <a:r>
              <a:rPr lang="en-US" sz="1400" dirty="0">
                <a:solidFill>
                  <a:srgbClr val="464646"/>
                </a:solidFill>
                <a:latin typeface="Calibri Light" panose="020F0302020204030204" pitchFamily="34" charset="0"/>
                <a:ea typeface="Inter Medium" pitchFamily="34" charset="-122"/>
                <a:cs typeface="Calibri Light" panose="020F0302020204030204" pitchFamily="34" charset="0"/>
              </a:rPr>
              <a:t>Re-brief students on the assessment outline and process.</a:t>
            </a:r>
            <a:endParaRPr lang="en-US" sz="1400" dirty="0"/>
          </a:p>
        </p:txBody>
      </p:sp>
      <p:sp>
        <p:nvSpPr>
          <p:cNvPr id="19" name="Text 17"/>
          <p:cNvSpPr/>
          <p:nvPr/>
        </p:nvSpPr>
        <p:spPr>
          <a:xfrm>
            <a:off x="767596" y="3358991"/>
            <a:ext cx="6048732" cy="199549"/>
          </a:xfrm>
          <a:prstGeom prst="rect">
            <a:avLst/>
          </a:prstGeom>
          <a:noFill/>
          <a:ln/>
        </p:spPr>
        <p:txBody>
          <a:bodyPr wrap="none" lIns="0" tIns="0" rIns="0" bIns="0" rtlCol="0" anchor="t"/>
          <a:lstStyle/>
          <a:p>
            <a:pPr marL="342900" indent="-342900" algn="l">
              <a:lnSpc>
                <a:spcPts val="1550"/>
              </a:lnSpc>
              <a:buSzPct val="100000"/>
              <a:buChar char="•"/>
            </a:pPr>
            <a:r>
              <a:rPr lang="en-US" sz="1400" dirty="0">
                <a:solidFill>
                  <a:srgbClr val="464646"/>
                </a:solidFill>
                <a:latin typeface="Calibri Light" panose="020F0302020204030204" pitchFamily="34" charset="0"/>
                <a:ea typeface="Inter Medium" pitchFamily="34" charset="-122"/>
                <a:cs typeface="Calibri Light" panose="020F0302020204030204" pitchFamily="34" charset="0"/>
              </a:rPr>
              <a:t>Connect each week's content with the assessment task explicitly —&gt; ongoing</a:t>
            </a:r>
            <a:endParaRPr lang="en-US" sz="1400" dirty="0"/>
          </a:p>
        </p:txBody>
      </p:sp>
      <p:sp>
        <p:nvSpPr>
          <p:cNvPr id="20" name="Shape 18"/>
          <p:cNvSpPr/>
          <p:nvPr/>
        </p:nvSpPr>
        <p:spPr>
          <a:xfrm>
            <a:off x="7299960" y="3337917"/>
            <a:ext cx="249436" cy="15240"/>
          </a:xfrm>
          <a:prstGeom prst="roundRect">
            <a:avLst>
              <a:gd name="adj" fmla="val 122771"/>
            </a:avLst>
          </a:prstGeom>
          <a:solidFill>
            <a:srgbClr val="E58A35"/>
          </a:solidFill>
          <a:ln/>
        </p:spPr>
        <p:txBody>
          <a:bodyPr/>
          <a:lstStyle/>
          <a:p>
            <a:endParaRPr lang="en-US" sz="1400"/>
          </a:p>
        </p:txBody>
      </p:sp>
      <p:sp>
        <p:nvSpPr>
          <p:cNvPr id="21" name="Shape 19"/>
          <p:cNvSpPr/>
          <p:nvPr/>
        </p:nvSpPr>
        <p:spPr>
          <a:xfrm>
            <a:off x="7268468" y="3298805"/>
            <a:ext cx="93464" cy="93464"/>
          </a:xfrm>
          <a:prstGeom prst="roundRect">
            <a:avLst>
              <a:gd name="adj" fmla="val 489172"/>
            </a:avLst>
          </a:prstGeom>
          <a:solidFill>
            <a:srgbClr val="FFA44F"/>
          </a:solidFill>
          <a:ln/>
        </p:spPr>
        <p:txBody>
          <a:bodyPr/>
          <a:lstStyle/>
          <a:p>
            <a:endParaRPr lang="en-US" sz="1400"/>
          </a:p>
        </p:txBody>
      </p:sp>
      <p:sp>
        <p:nvSpPr>
          <p:cNvPr id="22" name="Text 20"/>
          <p:cNvSpPr/>
          <p:nvPr/>
        </p:nvSpPr>
        <p:spPr>
          <a:xfrm>
            <a:off x="7814072" y="3248144"/>
            <a:ext cx="1924169" cy="194905"/>
          </a:xfrm>
          <a:prstGeom prst="rect">
            <a:avLst/>
          </a:prstGeom>
          <a:noFill/>
          <a:ln/>
        </p:spPr>
        <p:txBody>
          <a:bodyPr wrap="none" lIns="0" tIns="0" rIns="0" bIns="0" rtlCol="0" anchor="t"/>
          <a:lstStyle/>
          <a:p>
            <a:pPr marL="0" indent="0" algn="l">
              <a:lnSpc>
                <a:spcPts val="1500"/>
              </a:lnSpc>
              <a:buNone/>
            </a:pPr>
            <a:r>
              <a:rPr lang="en-US" b="1" dirty="0">
                <a:solidFill>
                  <a:srgbClr val="464646"/>
                </a:solidFill>
                <a:latin typeface="Aptos SemiBold" panose="020B0004020202020204" pitchFamily="34" charset="0"/>
                <a:ea typeface="DM Sans Semi Bold" pitchFamily="34" charset="-122"/>
                <a:cs typeface="DM Sans Semi Bold" pitchFamily="34" charset="-120"/>
              </a:rPr>
              <a:t>Week 3: Anticipate issues</a:t>
            </a:r>
            <a:endParaRPr lang="en-US" dirty="0"/>
          </a:p>
        </p:txBody>
      </p:sp>
      <p:sp>
        <p:nvSpPr>
          <p:cNvPr id="23" name="Text 21"/>
          <p:cNvSpPr/>
          <p:nvPr/>
        </p:nvSpPr>
        <p:spPr>
          <a:xfrm>
            <a:off x="7814072" y="3517821"/>
            <a:ext cx="6048732" cy="399098"/>
          </a:xfrm>
          <a:prstGeom prst="rect">
            <a:avLst/>
          </a:prstGeom>
          <a:noFill/>
          <a:ln/>
        </p:spPr>
        <p:txBody>
          <a:bodyPr wrap="square" lIns="0" tIns="0" rIns="0" bIns="0" rtlCol="0" anchor="t"/>
          <a:lstStyle/>
          <a:p>
            <a:pPr marL="342900" indent="-342900" algn="l">
              <a:lnSpc>
                <a:spcPts val="1550"/>
              </a:lnSpc>
              <a:buSzPct val="100000"/>
              <a:buChar char="•"/>
            </a:pPr>
            <a:r>
              <a:rPr lang="en-US" sz="1400" dirty="0">
                <a:solidFill>
                  <a:srgbClr val="464646"/>
                </a:solidFill>
                <a:latin typeface="Calibri Light" panose="020F0302020204030204" pitchFamily="34" charset="0"/>
                <a:ea typeface="Inter Medium" pitchFamily="34" charset="-122"/>
                <a:cs typeface="Calibri Light" panose="020F0302020204030204" pitchFamily="34" charset="0"/>
              </a:rPr>
              <a:t>Establish clear guidelines for student accessibility accommodations and alternative assessment arrangements.</a:t>
            </a:r>
            <a:endParaRPr lang="en-US" sz="1400" dirty="0"/>
          </a:p>
        </p:txBody>
      </p:sp>
      <p:sp>
        <p:nvSpPr>
          <p:cNvPr id="24" name="Text 22"/>
          <p:cNvSpPr/>
          <p:nvPr/>
        </p:nvSpPr>
        <p:spPr>
          <a:xfrm>
            <a:off x="7814072" y="3960495"/>
            <a:ext cx="6048732" cy="199549"/>
          </a:xfrm>
          <a:prstGeom prst="rect">
            <a:avLst/>
          </a:prstGeom>
          <a:noFill/>
          <a:ln/>
        </p:spPr>
        <p:txBody>
          <a:bodyPr wrap="none" lIns="0" tIns="0" rIns="0" bIns="0" rtlCol="0" anchor="t"/>
          <a:lstStyle/>
          <a:p>
            <a:pPr marL="342900" indent="-342900" algn="l">
              <a:lnSpc>
                <a:spcPts val="1550"/>
              </a:lnSpc>
              <a:buSzPct val="100000"/>
              <a:buChar char="•"/>
            </a:pPr>
            <a:r>
              <a:rPr lang="en-US" sz="1400" dirty="0">
                <a:solidFill>
                  <a:srgbClr val="464646"/>
                </a:solidFill>
                <a:latin typeface="Calibri Light" panose="020F0302020204030204" pitchFamily="34" charset="0"/>
                <a:ea typeface="Inter Medium" pitchFamily="34" charset="-122"/>
                <a:cs typeface="Calibri Light" panose="020F0302020204030204" pitchFamily="34" charset="0"/>
              </a:rPr>
              <a:t>Set up technical support systems for recording and assessment administration.</a:t>
            </a:r>
            <a:endParaRPr lang="en-US" sz="1400" dirty="0"/>
          </a:p>
        </p:txBody>
      </p:sp>
      <p:sp>
        <p:nvSpPr>
          <p:cNvPr id="25" name="Shape 23"/>
          <p:cNvSpPr/>
          <p:nvPr/>
        </p:nvSpPr>
        <p:spPr>
          <a:xfrm>
            <a:off x="7081004" y="3982998"/>
            <a:ext cx="249436" cy="15240"/>
          </a:xfrm>
          <a:prstGeom prst="roundRect">
            <a:avLst>
              <a:gd name="adj" fmla="val 122771"/>
            </a:avLst>
          </a:prstGeom>
          <a:solidFill>
            <a:srgbClr val="E58A35"/>
          </a:solidFill>
          <a:ln/>
        </p:spPr>
        <p:txBody>
          <a:bodyPr/>
          <a:lstStyle/>
          <a:p>
            <a:endParaRPr lang="en-US" sz="1400"/>
          </a:p>
        </p:txBody>
      </p:sp>
      <p:sp>
        <p:nvSpPr>
          <p:cNvPr id="26" name="Shape 24"/>
          <p:cNvSpPr/>
          <p:nvPr/>
        </p:nvSpPr>
        <p:spPr>
          <a:xfrm>
            <a:off x="7268468" y="3943886"/>
            <a:ext cx="93464" cy="93464"/>
          </a:xfrm>
          <a:prstGeom prst="roundRect">
            <a:avLst>
              <a:gd name="adj" fmla="val 489172"/>
            </a:avLst>
          </a:prstGeom>
          <a:solidFill>
            <a:srgbClr val="FFA44F"/>
          </a:solidFill>
          <a:ln/>
        </p:spPr>
        <p:txBody>
          <a:bodyPr/>
          <a:lstStyle/>
          <a:p>
            <a:endParaRPr lang="en-US" sz="1400"/>
          </a:p>
        </p:txBody>
      </p:sp>
      <p:sp>
        <p:nvSpPr>
          <p:cNvPr id="27" name="Text 25"/>
          <p:cNvSpPr/>
          <p:nvPr/>
        </p:nvSpPr>
        <p:spPr>
          <a:xfrm>
            <a:off x="4653082" y="3893225"/>
            <a:ext cx="2163247" cy="194905"/>
          </a:xfrm>
          <a:prstGeom prst="rect">
            <a:avLst/>
          </a:prstGeom>
          <a:noFill/>
          <a:ln/>
        </p:spPr>
        <p:txBody>
          <a:bodyPr wrap="none" lIns="0" tIns="0" rIns="0" bIns="0" rtlCol="0" anchor="t"/>
          <a:lstStyle/>
          <a:p>
            <a:pPr marL="0" indent="0" algn="r">
              <a:lnSpc>
                <a:spcPts val="1500"/>
              </a:lnSpc>
              <a:buNone/>
            </a:pPr>
            <a:r>
              <a:rPr lang="en-US" b="1" dirty="0">
                <a:solidFill>
                  <a:srgbClr val="464646"/>
                </a:solidFill>
                <a:latin typeface="Aptos SemiBold" panose="020B0004020202020204" pitchFamily="34" charset="0"/>
                <a:ea typeface="DM Sans Semi Bold" pitchFamily="34" charset="-122"/>
                <a:cs typeface="DM Sans Semi Bold" pitchFamily="34" charset="-120"/>
              </a:rPr>
              <a:t>Week 6: Student preparation</a:t>
            </a:r>
            <a:endParaRPr lang="en-US" dirty="0"/>
          </a:p>
        </p:txBody>
      </p:sp>
      <p:sp>
        <p:nvSpPr>
          <p:cNvPr id="28" name="Text 26"/>
          <p:cNvSpPr/>
          <p:nvPr/>
        </p:nvSpPr>
        <p:spPr>
          <a:xfrm>
            <a:off x="767596" y="4162901"/>
            <a:ext cx="6048732" cy="199549"/>
          </a:xfrm>
          <a:prstGeom prst="rect">
            <a:avLst/>
          </a:prstGeom>
          <a:noFill/>
          <a:ln/>
        </p:spPr>
        <p:txBody>
          <a:bodyPr wrap="none" lIns="0" tIns="0" rIns="0" bIns="0" rtlCol="0" anchor="t"/>
          <a:lstStyle/>
          <a:p>
            <a:pPr marL="342900" indent="-342900" algn="l">
              <a:lnSpc>
                <a:spcPts val="1550"/>
              </a:lnSpc>
              <a:buSzPct val="100000"/>
              <a:buChar char="•"/>
            </a:pPr>
            <a:r>
              <a:rPr lang="en-US" sz="1400" dirty="0">
                <a:solidFill>
                  <a:srgbClr val="464646"/>
                </a:solidFill>
                <a:latin typeface="Calibri Light" panose="020F0302020204030204" pitchFamily="34" charset="0"/>
                <a:ea typeface="Inter Medium" pitchFamily="34" charset="-122"/>
                <a:cs typeface="Calibri Light" panose="020F0302020204030204" pitchFamily="34" charset="0"/>
              </a:rPr>
              <a:t>Provide exemplars of IOAs at different levels, using the assessment task rubric.</a:t>
            </a:r>
            <a:endParaRPr lang="en-US" sz="1400" dirty="0"/>
          </a:p>
        </p:txBody>
      </p:sp>
      <p:sp>
        <p:nvSpPr>
          <p:cNvPr id="29" name="Text 27"/>
          <p:cNvSpPr/>
          <p:nvPr/>
        </p:nvSpPr>
        <p:spPr>
          <a:xfrm>
            <a:off x="767596" y="4406027"/>
            <a:ext cx="6048732" cy="199549"/>
          </a:xfrm>
          <a:prstGeom prst="rect">
            <a:avLst/>
          </a:prstGeom>
          <a:noFill/>
          <a:ln/>
        </p:spPr>
        <p:txBody>
          <a:bodyPr wrap="none" lIns="0" tIns="0" rIns="0" bIns="0" rtlCol="0" anchor="t"/>
          <a:lstStyle/>
          <a:p>
            <a:pPr marL="342900" indent="-342900" algn="l">
              <a:lnSpc>
                <a:spcPts val="1550"/>
              </a:lnSpc>
              <a:buSzPct val="100000"/>
              <a:buChar char="•"/>
            </a:pPr>
            <a:r>
              <a:rPr lang="en-US" sz="1400" dirty="0">
                <a:solidFill>
                  <a:srgbClr val="464646"/>
                </a:solidFill>
                <a:latin typeface="Calibri Light" panose="020F0302020204030204" pitchFamily="34" charset="0"/>
                <a:ea typeface="Inter Medium" pitchFamily="34" charset="-122"/>
                <a:cs typeface="Calibri Light" panose="020F0302020204030204" pitchFamily="34" charset="0"/>
              </a:rPr>
              <a:t>Host student preparation sessions where they rate the exemplars against the rubric.</a:t>
            </a:r>
            <a:endParaRPr lang="en-US" sz="1400" dirty="0"/>
          </a:p>
        </p:txBody>
      </p:sp>
      <p:sp>
        <p:nvSpPr>
          <p:cNvPr id="30" name="Text 28"/>
          <p:cNvSpPr/>
          <p:nvPr/>
        </p:nvSpPr>
        <p:spPr>
          <a:xfrm>
            <a:off x="767596" y="4649153"/>
            <a:ext cx="6048732" cy="199549"/>
          </a:xfrm>
          <a:prstGeom prst="rect">
            <a:avLst/>
          </a:prstGeom>
          <a:noFill/>
          <a:ln/>
        </p:spPr>
        <p:txBody>
          <a:bodyPr wrap="none" lIns="0" tIns="0" rIns="0" bIns="0" rtlCol="0" anchor="t"/>
          <a:lstStyle/>
          <a:p>
            <a:pPr marL="342900" indent="-342900" algn="l">
              <a:lnSpc>
                <a:spcPts val="1550"/>
              </a:lnSpc>
              <a:buSzPct val="100000"/>
              <a:buChar char="•"/>
            </a:pPr>
            <a:r>
              <a:rPr lang="en-US" sz="1400" dirty="0">
                <a:solidFill>
                  <a:srgbClr val="464646"/>
                </a:solidFill>
                <a:latin typeface="Calibri Light" panose="020F0302020204030204" pitchFamily="34" charset="0"/>
                <a:ea typeface="Inter Medium" pitchFamily="34" charset="-122"/>
                <a:cs typeface="Calibri Light" panose="020F0302020204030204" pitchFamily="34" charset="0"/>
              </a:rPr>
              <a:t>Discuss success factors, reinforce formative task as preparation.</a:t>
            </a:r>
            <a:endParaRPr lang="en-US" sz="1400" dirty="0"/>
          </a:p>
        </p:txBody>
      </p:sp>
      <p:sp>
        <p:nvSpPr>
          <p:cNvPr id="31" name="Shape 29"/>
          <p:cNvSpPr/>
          <p:nvPr/>
        </p:nvSpPr>
        <p:spPr>
          <a:xfrm>
            <a:off x="7299960" y="4628078"/>
            <a:ext cx="249436" cy="15240"/>
          </a:xfrm>
          <a:prstGeom prst="roundRect">
            <a:avLst>
              <a:gd name="adj" fmla="val 122771"/>
            </a:avLst>
          </a:prstGeom>
          <a:solidFill>
            <a:srgbClr val="E58A35"/>
          </a:solidFill>
          <a:ln/>
        </p:spPr>
        <p:txBody>
          <a:bodyPr/>
          <a:lstStyle/>
          <a:p>
            <a:endParaRPr lang="en-US" sz="1400"/>
          </a:p>
        </p:txBody>
      </p:sp>
      <p:sp>
        <p:nvSpPr>
          <p:cNvPr id="32" name="Shape 30"/>
          <p:cNvSpPr/>
          <p:nvPr/>
        </p:nvSpPr>
        <p:spPr>
          <a:xfrm>
            <a:off x="7268468" y="4588966"/>
            <a:ext cx="93464" cy="93464"/>
          </a:xfrm>
          <a:prstGeom prst="roundRect">
            <a:avLst>
              <a:gd name="adj" fmla="val 489172"/>
            </a:avLst>
          </a:prstGeom>
          <a:solidFill>
            <a:srgbClr val="FFA44F"/>
          </a:solidFill>
          <a:ln/>
        </p:spPr>
        <p:txBody>
          <a:bodyPr/>
          <a:lstStyle/>
          <a:p>
            <a:endParaRPr lang="en-US" sz="1400"/>
          </a:p>
        </p:txBody>
      </p:sp>
      <p:sp>
        <p:nvSpPr>
          <p:cNvPr id="33" name="Text 31"/>
          <p:cNvSpPr/>
          <p:nvPr/>
        </p:nvSpPr>
        <p:spPr>
          <a:xfrm>
            <a:off x="7814072" y="4538305"/>
            <a:ext cx="2311718" cy="194905"/>
          </a:xfrm>
          <a:prstGeom prst="rect">
            <a:avLst/>
          </a:prstGeom>
          <a:noFill/>
          <a:ln/>
        </p:spPr>
        <p:txBody>
          <a:bodyPr wrap="none" lIns="0" tIns="0" rIns="0" bIns="0" rtlCol="0" anchor="t"/>
          <a:lstStyle/>
          <a:p>
            <a:pPr marL="0" indent="0" algn="l">
              <a:lnSpc>
                <a:spcPts val="1500"/>
              </a:lnSpc>
              <a:buNone/>
            </a:pPr>
            <a:r>
              <a:rPr lang="en-US" b="1" dirty="0">
                <a:solidFill>
                  <a:srgbClr val="464646"/>
                </a:solidFill>
                <a:latin typeface="Aptos SemiBold" panose="020B0004020202020204" pitchFamily="34" charset="0"/>
                <a:ea typeface="DM Sans Semi Bold" pitchFamily="34" charset="-122"/>
                <a:cs typeface="DM Sans Semi Bold" pitchFamily="34" charset="-120"/>
              </a:rPr>
              <a:t>Week 8: Logistics &amp; scheduling</a:t>
            </a:r>
            <a:endParaRPr lang="en-US" dirty="0"/>
          </a:p>
        </p:txBody>
      </p:sp>
      <p:sp>
        <p:nvSpPr>
          <p:cNvPr id="34" name="Text 32"/>
          <p:cNvSpPr/>
          <p:nvPr/>
        </p:nvSpPr>
        <p:spPr>
          <a:xfrm>
            <a:off x="7814072" y="4807982"/>
            <a:ext cx="6048732" cy="199549"/>
          </a:xfrm>
          <a:prstGeom prst="rect">
            <a:avLst/>
          </a:prstGeom>
          <a:noFill/>
          <a:ln/>
        </p:spPr>
        <p:txBody>
          <a:bodyPr wrap="none" lIns="0" tIns="0" rIns="0" bIns="0" rtlCol="0" anchor="t"/>
          <a:lstStyle/>
          <a:p>
            <a:pPr marL="342900" indent="-342900" algn="l">
              <a:lnSpc>
                <a:spcPts val="1550"/>
              </a:lnSpc>
              <a:buSzPct val="100000"/>
              <a:buChar char="•"/>
            </a:pPr>
            <a:r>
              <a:rPr lang="en-US" sz="1400" dirty="0">
                <a:solidFill>
                  <a:srgbClr val="464646"/>
                </a:solidFill>
                <a:latin typeface="Calibri Light" panose="020F0302020204030204" pitchFamily="34" charset="0"/>
                <a:ea typeface="Inter Medium" pitchFamily="34" charset="-122"/>
                <a:cs typeface="Calibri Light" panose="020F0302020204030204" pitchFamily="34" charset="0"/>
              </a:rPr>
              <a:t>Finalise assessment scheduling, accommodating student availability and assessor capacity.</a:t>
            </a:r>
            <a:endParaRPr lang="en-US" sz="1400" dirty="0"/>
          </a:p>
        </p:txBody>
      </p:sp>
      <p:sp>
        <p:nvSpPr>
          <p:cNvPr id="35" name="Text 33"/>
          <p:cNvSpPr/>
          <p:nvPr/>
        </p:nvSpPr>
        <p:spPr>
          <a:xfrm>
            <a:off x="7814072" y="5051108"/>
            <a:ext cx="6048732" cy="199549"/>
          </a:xfrm>
          <a:prstGeom prst="rect">
            <a:avLst/>
          </a:prstGeom>
          <a:noFill/>
          <a:ln/>
        </p:spPr>
        <p:txBody>
          <a:bodyPr wrap="none" lIns="0" tIns="0" rIns="0" bIns="0" rtlCol="0" anchor="t"/>
          <a:lstStyle/>
          <a:p>
            <a:pPr marL="342900" indent="-342900" algn="l">
              <a:lnSpc>
                <a:spcPts val="1550"/>
              </a:lnSpc>
              <a:buSzPct val="100000"/>
              <a:buChar char="•"/>
            </a:pPr>
            <a:r>
              <a:rPr lang="en-US" sz="1400" dirty="0">
                <a:solidFill>
                  <a:srgbClr val="464646"/>
                </a:solidFill>
                <a:latin typeface="Calibri Light" panose="020F0302020204030204" pitchFamily="34" charset="0"/>
                <a:ea typeface="Inter Medium" pitchFamily="34" charset="-122"/>
                <a:cs typeface="Calibri Light" panose="020F0302020204030204" pitchFamily="34" charset="0"/>
              </a:rPr>
              <a:t>Confirm booking systems for IOA sessions are operational.</a:t>
            </a:r>
            <a:endParaRPr lang="en-US" sz="1400" dirty="0"/>
          </a:p>
        </p:txBody>
      </p:sp>
      <p:sp>
        <p:nvSpPr>
          <p:cNvPr id="36" name="Shape 34"/>
          <p:cNvSpPr/>
          <p:nvPr/>
        </p:nvSpPr>
        <p:spPr>
          <a:xfrm>
            <a:off x="7081004" y="5273159"/>
            <a:ext cx="249436" cy="15240"/>
          </a:xfrm>
          <a:prstGeom prst="roundRect">
            <a:avLst>
              <a:gd name="adj" fmla="val 122771"/>
            </a:avLst>
          </a:prstGeom>
          <a:solidFill>
            <a:srgbClr val="E58A35"/>
          </a:solidFill>
          <a:ln/>
        </p:spPr>
        <p:txBody>
          <a:bodyPr/>
          <a:lstStyle/>
          <a:p>
            <a:endParaRPr lang="en-US" sz="1400"/>
          </a:p>
        </p:txBody>
      </p:sp>
      <p:sp>
        <p:nvSpPr>
          <p:cNvPr id="37" name="Shape 35"/>
          <p:cNvSpPr/>
          <p:nvPr/>
        </p:nvSpPr>
        <p:spPr>
          <a:xfrm>
            <a:off x="7268468" y="5234047"/>
            <a:ext cx="93464" cy="93464"/>
          </a:xfrm>
          <a:prstGeom prst="roundRect">
            <a:avLst>
              <a:gd name="adj" fmla="val 489172"/>
            </a:avLst>
          </a:prstGeom>
          <a:solidFill>
            <a:srgbClr val="FFA44F"/>
          </a:solidFill>
          <a:ln/>
        </p:spPr>
        <p:txBody>
          <a:bodyPr/>
          <a:lstStyle/>
          <a:p>
            <a:endParaRPr lang="en-US" sz="1400"/>
          </a:p>
        </p:txBody>
      </p:sp>
      <p:sp>
        <p:nvSpPr>
          <p:cNvPr id="38" name="Text 36"/>
          <p:cNvSpPr/>
          <p:nvPr/>
        </p:nvSpPr>
        <p:spPr>
          <a:xfrm>
            <a:off x="4833223" y="5183386"/>
            <a:ext cx="1983105" cy="194905"/>
          </a:xfrm>
          <a:prstGeom prst="rect">
            <a:avLst/>
          </a:prstGeom>
          <a:noFill/>
          <a:ln/>
        </p:spPr>
        <p:txBody>
          <a:bodyPr wrap="none" lIns="0" tIns="0" rIns="0" bIns="0" rtlCol="0" anchor="t"/>
          <a:lstStyle/>
          <a:p>
            <a:pPr marL="0" indent="0" algn="r">
              <a:lnSpc>
                <a:spcPts val="1500"/>
              </a:lnSpc>
              <a:buNone/>
            </a:pPr>
            <a:r>
              <a:rPr lang="en-US" b="1" dirty="0">
                <a:solidFill>
                  <a:srgbClr val="464646"/>
                </a:solidFill>
                <a:latin typeface="Aptos SemiBold" panose="020B0004020202020204" pitchFamily="34" charset="0"/>
                <a:ea typeface="DM Sans Semi Bold" pitchFamily="34" charset="-122"/>
                <a:cs typeface="DM Sans Semi Bold" pitchFamily="34" charset="-120"/>
              </a:rPr>
              <a:t>Week 10: Staff preparation</a:t>
            </a:r>
            <a:endParaRPr lang="en-US" dirty="0"/>
          </a:p>
        </p:txBody>
      </p:sp>
      <p:sp>
        <p:nvSpPr>
          <p:cNvPr id="39" name="Text 37"/>
          <p:cNvSpPr/>
          <p:nvPr/>
        </p:nvSpPr>
        <p:spPr>
          <a:xfrm>
            <a:off x="767596" y="5453063"/>
            <a:ext cx="6048732" cy="199549"/>
          </a:xfrm>
          <a:prstGeom prst="rect">
            <a:avLst/>
          </a:prstGeom>
          <a:noFill/>
          <a:ln/>
        </p:spPr>
        <p:txBody>
          <a:bodyPr wrap="none" lIns="0" tIns="0" rIns="0" bIns="0" rtlCol="0" anchor="t"/>
          <a:lstStyle/>
          <a:p>
            <a:pPr marL="342900" indent="-342900" algn="l">
              <a:lnSpc>
                <a:spcPts val="1550"/>
              </a:lnSpc>
              <a:buSzPct val="100000"/>
              <a:buChar char="•"/>
            </a:pPr>
            <a:r>
              <a:rPr lang="en-US" sz="1400" dirty="0">
                <a:solidFill>
                  <a:srgbClr val="464646"/>
                </a:solidFill>
                <a:latin typeface="Calibri Light" panose="020F0302020204030204" pitchFamily="34" charset="0"/>
                <a:ea typeface="Inter Medium" pitchFamily="34" charset="-122"/>
                <a:cs typeface="Calibri Light" panose="020F0302020204030204" pitchFamily="34" charset="0"/>
              </a:rPr>
              <a:t>Host assessor preparation workshop for grading moderation and technical training.</a:t>
            </a:r>
            <a:endParaRPr lang="en-US" sz="1400" dirty="0"/>
          </a:p>
        </p:txBody>
      </p:sp>
      <p:sp>
        <p:nvSpPr>
          <p:cNvPr id="40" name="Text 38"/>
          <p:cNvSpPr/>
          <p:nvPr/>
        </p:nvSpPr>
        <p:spPr>
          <a:xfrm>
            <a:off x="767596" y="5696188"/>
            <a:ext cx="6048732" cy="199549"/>
          </a:xfrm>
          <a:prstGeom prst="rect">
            <a:avLst/>
          </a:prstGeom>
          <a:noFill/>
          <a:ln/>
        </p:spPr>
        <p:txBody>
          <a:bodyPr wrap="none" lIns="0" tIns="0" rIns="0" bIns="0" rtlCol="0" anchor="t"/>
          <a:lstStyle/>
          <a:p>
            <a:pPr marL="342900" indent="-342900" algn="l">
              <a:lnSpc>
                <a:spcPts val="1550"/>
              </a:lnSpc>
              <a:buSzPct val="100000"/>
              <a:buChar char="•"/>
            </a:pPr>
            <a:r>
              <a:rPr lang="en-US" sz="1400" dirty="0">
                <a:solidFill>
                  <a:srgbClr val="464646"/>
                </a:solidFill>
                <a:latin typeface="Calibri Light" panose="020F0302020204030204" pitchFamily="34" charset="0"/>
                <a:ea typeface="Inter Medium" pitchFamily="34" charset="-122"/>
                <a:cs typeface="Calibri Light" panose="020F0302020204030204" pitchFamily="34" charset="0"/>
              </a:rPr>
              <a:t>Set up student and staff support for the intensive period.</a:t>
            </a:r>
            <a:endParaRPr lang="en-US" sz="1400" dirty="0"/>
          </a:p>
        </p:txBody>
      </p:sp>
      <p:sp>
        <p:nvSpPr>
          <p:cNvPr id="41" name="Text 39"/>
          <p:cNvSpPr/>
          <p:nvPr/>
        </p:nvSpPr>
        <p:spPr>
          <a:xfrm>
            <a:off x="767596" y="5939314"/>
            <a:ext cx="6048732" cy="199549"/>
          </a:xfrm>
          <a:prstGeom prst="rect">
            <a:avLst/>
          </a:prstGeom>
          <a:noFill/>
          <a:ln/>
        </p:spPr>
        <p:txBody>
          <a:bodyPr wrap="none" lIns="0" tIns="0" rIns="0" bIns="0" rtlCol="0" anchor="t"/>
          <a:lstStyle/>
          <a:p>
            <a:pPr marL="342900" indent="-342900" algn="l">
              <a:lnSpc>
                <a:spcPts val="1550"/>
              </a:lnSpc>
              <a:buSzPct val="100000"/>
              <a:buChar char="•"/>
            </a:pPr>
            <a:r>
              <a:rPr lang="en-US" sz="1400" dirty="0">
                <a:solidFill>
                  <a:srgbClr val="464646"/>
                </a:solidFill>
                <a:latin typeface="Calibri Light" panose="020F0302020204030204" pitchFamily="34" charset="0"/>
                <a:ea typeface="Inter Medium" pitchFamily="34" charset="-122"/>
                <a:cs typeface="Calibri Light" panose="020F0302020204030204" pitchFamily="34" charset="0"/>
              </a:rPr>
              <a:t>Ensure pathways for last-minute student questions.</a:t>
            </a:r>
            <a:endParaRPr lang="en-US" sz="1400" dirty="0"/>
          </a:p>
        </p:txBody>
      </p:sp>
      <p:sp>
        <p:nvSpPr>
          <p:cNvPr id="42" name="Shape 40"/>
          <p:cNvSpPr/>
          <p:nvPr/>
        </p:nvSpPr>
        <p:spPr>
          <a:xfrm>
            <a:off x="7299960" y="5918240"/>
            <a:ext cx="249436" cy="15240"/>
          </a:xfrm>
          <a:prstGeom prst="roundRect">
            <a:avLst>
              <a:gd name="adj" fmla="val 122771"/>
            </a:avLst>
          </a:prstGeom>
          <a:solidFill>
            <a:srgbClr val="E58A35"/>
          </a:solidFill>
          <a:ln/>
        </p:spPr>
        <p:txBody>
          <a:bodyPr/>
          <a:lstStyle/>
          <a:p>
            <a:endParaRPr lang="en-US" sz="1400"/>
          </a:p>
        </p:txBody>
      </p:sp>
      <p:sp>
        <p:nvSpPr>
          <p:cNvPr id="43" name="Shape 41"/>
          <p:cNvSpPr/>
          <p:nvPr/>
        </p:nvSpPr>
        <p:spPr>
          <a:xfrm>
            <a:off x="7268468" y="5879128"/>
            <a:ext cx="93464" cy="93464"/>
          </a:xfrm>
          <a:prstGeom prst="roundRect">
            <a:avLst>
              <a:gd name="adj" fmla="val 489172"/>
            </a:avLst>
          </a:prstGeom>
          <a:solidFill>
            <a:srgbClr val="FFA44F"/>
          </a:solidFill>
          <a:ln/>
        </p:spPr>
        <p:txBody>
          <a:bodyPr/>
          <a:lstStyle/>
          <a:p>
            <a:endParaRPr lang="en-US" sz="1400"/>
          </a:p>
        </p:txBody>
      </p:sp>
      <p:sp>
        <p:nvSpPr>
          <p:cNvPr id="44" name="Text 42"/>
          <p:cNvSpPr/>
          <p:nvPr/>
        </p:nvSpPr>
        <p:spPr>
          <a:xfrm>
            <a:off x="7814072" y="5828467"/>
            <a:ext cx="2659499" cy="194905"/>
          </a:xfrm>
          <a:prstGeom prst="rect">
            <a:avLst/>
          </a:prstGeom>
          <a:noFill/>
          <a:ln/>
        </p:spPr>
        <p:txBody>
          <a:bodyPr wrap="none" lIns="0" tIns="0" rIns="0" bIns="0" rtlCol="0" anchor="t"/>
          <a:lstStyle/>
          <a:p>
            <a:pPr marL="0" indent="0" algn="l">
              <a:lnSpc>
                <a:spcPts val="1500"/>
              </a:lnSpc>
              <a:buNone/>
            </a:pPr>
            <a:r>
              <a:rPr lang="en-US" b="1" dirty="0">
                <a:solidFill>
                  <a:srgbClr val="464646"/>
                </a:solidFill>
                <a:latin typeface="Aptos SemiBold" panose="020B0004020202020204" pitchFamily="34" charset="0"/>
                <a:ea typeface="DM Sans Semi Bold" pitchFamily="34" charset="-122"/>
                <a:cs typeface="DM Sans Semi Bold" pitchFamily="34" charset="-120"/>
              </a:rPr>
              <a:t>Week 11-12: Summative work begins</a:t>
            </a:r>
            <a:endParaRPr lang="en-US" dirty="0"/>
          </a:p>
        </p:txBody>
      </p:sp>
      <p:sp>
        <p:nvSpPr>
          <p:cNvPr id="45" name="Text 43"/>
          <p:cNvSpPr/>
          <p:nvPr/>
        </p:nvSpPr>
        <p:spPr>
          <a:xfrm>
            <a:off x="7814072" y="6098143"/>
            <a:ext cx="6048732" cy="199549"/>
          </a:xfrm>
          <a:prstGeom prst="rect">
            <a:avLst/>
          </a:prstGeom>
          <a:noFill/>
          <a:ln/>
        </p:spPr>
        <p:txBody>
          <a:bodyPr wrap="none" lIns="0" tIns="0" rIns="0" bIns="0" rtlCol="0" anchor="t"/>
          <a:lstStyle/>
          <a:p>
            <a:pPr marL="342900" indent="-342900" algn="l">
              <a:lnSpc>
                <a:spcPts val="1550"/>
              </a:lnSpc>
              <a:buSzPct val="100000"/>
              <a:buChar char="•"/>
            </a:pPr>
            <a:r>
              <a:rPr lang="en-US" sz="1400" dirty="0">
                <a:solidFill>
                  <a:srgbClr val="464646"/>
                </a:solidFill>
                <a:latin typeface="Calibri Light" panose="020F0302020204030204" pitchFamily="34" charset="0"/>
                <a:ea typeface="Inter Medium" pitchFamily="34" charset="-122"/>
                <a:cs typeface="Calibri Light" panose="020F0302020204030204" pitchFamily="34" charset="0"/>
              </a:rPr>
              <a:t>Conduct IOA sessions, providing immediate constructive feedback to students.</a:t>
            </a:r>
            <a:endParaRPr lang="en-US" sz="1400" dirty="0"/>
          </a:p>
        </p:txBody>
      </p:sp>
      <p:sp>
        <p:nvSpPr>
          <p:cNvPr id="46" name="Text 44"/>
          <p:cNvSpPr/>
          <p:nvPr/>
        </p:nvSpPr>
        <p:spPr>
          <a:xfrm>
            <a:off x="7814072" y="6341269"/>
            <a:ext cx="6048732" cy="199549"/>
          </a:xfrm>
          <a:prstGeom prst="rect">
            <a:avLst/>
          </a:prstGeom>
          <a:noFill/>
          <a:ln/>
        </p:spPr>
        <p:txBody>
          <a:bodyPr wrap="none" lIns="0" tIns="0" rIns="0" bIns="0" rtlCol="0" anchor="t"/>
          <a:lstStyle/>
          <a:p>
            <a:pPr marL="342900" indent="-342900" algn="l">
              <a:lnSpc>
                <a:spcPts val="1550"/>
              </a:lnSpc>
              <a:buSzPct val="100000"/>
              <a:buChar char="•"/>
            </a:pPr>
            <a:r>
              <a:rPr lang="en-US" sz="1400" dirty="0">
                <a:solidFill>
                  <a:srgbClr val="464646"/>
                </a:solidFill>
                <a:latin typeface="Calibri Light" panose="020F0302020204030204" pitchFamily="34" charset="0"/>
                <a:ea typeface="Inter Medium" pitchFamily="34" charset="-122"/>
                <a:cs typeface="Calibri Light" panose="020F0302020204030204" pitchFamily="34" charset="0"/>
              </a:rPr>
              <a:t>Hold regular assessor meetings to maintain alignment and address emerging issues.</a:t>
            </a:r>
            <a:endParaRPr lang="en-US" sz="1400" dirty="0"/>
          </a:p>
        </p:txBody>
      </p:sp>
      <p:sp>
        <p:nvSpPr>
          <p:cNvPr id="47" name="Shape 45"/>
          <p:cNvSpPr/>
          <p:nvPr/>
        </p:nvSpPr>
        <p:spPr>
          <a:xfrm>
            <a:off x="7081004" y="6563320"/>
            <a:ext cx="249436" cy="15240"/>
          </a:xfrm>
          <a:prstGeom prst="roundRect">
            <a:avLst>
              <a:gd name="adj" fmla="val 122771"/>
            </a:avLst>
          </a:prstGeom>
          <a:solidFill>
            <a:srgbClr val="E58A35"/>
          </a:solidFill>
          <a:ln/>
        </p:spPr>
        <p:txBody>
          <a:bodyPr/>
          <a:lstStyle/>
          <a:p>
            <a:endParaRPr lang="en-US" sz="1400"/>
          </a:p>
        </p:txBody>
      </p:sp>
      <p:sp>
        <p:nvSpPr>
          <p:cNvPr id="48" name="Shape 46"/>
          <p:cNvSpPr/>
          <p:nvPr/>
        </p:nvSpPr>
        <p:spPr>
          <a:xfrm>
            <a:off x="7268468" y="6524208"/>
            <a:ext cx="93464" cy="93464"/>
          </a:xfrm>
          <a:prstGeom prst="roundRect">
            <a:avLst>
              <a:gd name="adj" fmla="val 489172"/>
            </a:avLst>
          </a:prstGeom>
          <a:solidFill>
            <a:srgbClr val="FFA44F"/>
          </a:solidFill>
          <a:ln/>
        </p:spPr>
        <p:txBody>
          <a:bodyPr/>
          <a:lstStyle/>
          <a:p>
            <a:endParaRPr lang="en-US" sz="1400"/>
          </a:p>
        </p:txBody>
      </p:sp>
      <p:sp>
        <p:nvSpPr>
          <p:cNvPr id="49" name="Text 47"/>
          <p:cNvSpPr/>
          <p:nvPr/>
        </p:nvSpPr>
        <p:spPr>
          <a:xfrm>
            <a:off x="3827740" y="6473547"/>
            <a:ext cx="2988588" cy="194905"/>
          </a:xfrm>
          <a:prstGeom prst="rect">
            <a:avLst/>
          </a:prstGeom>
          <a:noFill/>
          <a:ln/>
        </p:spPr>
        <p:txBody>
          <a:bodyPr wrap="none" lIns="0" tIns="0" rIns="0" bIns="0" rtlCol="0" anchor="t"/>
          <a:lstStyle/>
          <a:p>
            <a:pPr marL="0" indent="0" algn="r">
              <a:lnSpc>
                <a:spcPts val="1500"/>
              </a:lnSpc>
              <a:buNone/>
            </a:pPr>
            <a:r>
              <a:rPr lang="en-US" b="1" dirty="0">
                <a:solidFill>
                  <a:srgbClr val="464646"/>
                </a:solidFill>
                <a:latin typeface="Aptos SemiBold" panose="020B0004020202020204" pitchFamily="34" charset="0"/>
                <a:ea typeface="DM Sans Semi Bold" pitchFamily="34" charset="-122"/>
                <a:cs typeface="DM Sans Semi Bold" pitchFamily="34" charset="-120"/>
              </a:rPr>
              <a:t>Trimester break: Review &amp; Improvement</a:t>
            </a:r>
            <a:endParaRPr lang="en-US" dirty="0"/>
          </a:p>
        </p:txBody>
      </p:sp>
      <p:sp>
        <p:nvSpPr>
          <p:cNvPr id="50" name="Text 48"/>
          <p:cNvSpPr/>
          <p:nvPr/>
        </p:nvSpPr>
        <p:spPr>
          <a:xfrm>
            <a:off x="767596" y="6743224"/>
            <a:ext cx="6048732" cy="199549"/>
          </a:xfrm>
          <a:prstGeom prst="rect">
            <a:avLst/>
          </a:prstGeom>
          <a:noFill/>
          <a:ln/>
        </p:spPr>
        <p:txBody>
          <a:bodyPr wrap="none" lIns="0" tIns="0" rIns="0" bIns="0" rtlCol="0" anchor="t"/>
          <a:lstStyle/>
          <a:p>
            <a:pPr marL="342900" indent="-342900" algn="l">
              <a:lnSpc>
                <a:spcPts val="1550"/>
              </a:lnSpc>
              <a:buSzPct val="100000"/>
              <a:buChar char="•"/>
            </a:pPr>
            <a:r>
              <a:rPr lang="en-US" sz="1400" dirty="0">
                <a:solidFill>
                  <a:srgbClr val="464646"/>
                </a:solidFill>
                <a:latin typeface="Calibri Light" panose="020F0302020204030204" pitchFamily="34" charset="0"/>
                <a:ea typeface="Inter Medium" pitchFamily="34" charset="-122"/>
                <a:cs typeface="Calibri Light" panose="020F0302020204030204" pitchFamily="34" charset="0"/>
              </a:rPr>
              <a:t>Board of Assessors/Examiners and results release.</a:t>
            </a:r>
            <a:endParaRPr lang="en-US" sz="1400" dirty="0"/>
          </a:p>
        </p:txBody>
      </p:sp>
      <p:sp>
        <p:nvSpPr>
          <p:cNvPr id="51" name="Text 49"/>
          <p:cNvSpPr/>
          <p:nvPr/>
        </p:nvSpPr>
        <p:spPr>
          <a:xfrm>
            <a:off x="767596" y="6986349"/>
            <a:ext cx="6048732" cy="199549"/>
          </a:xfrm>
          <a:prstGeom prst="rect">
            <a:avLst/>
          </a:prstGeom>
          <a:noFill/>
          <a:ln/>
        </p:spPr>
        <p:txBody>
          <a:bodyPr wrap="none" lIns="0" tIns="0" rIns="0" bIns="0" rtlCol="0" anchor="t"/>
          <a:lstStyle/>
          <a:p>
            <a:pPr marL="342900" indent="-342900" algn="l">
              <a:lnSpc>
                <a:spcPts val="1550"/>
              </a:lnSpc>
              <a:buSzPct val="100000"/>
              <a:buChar char="•"/>
            </a:pPr>
            <a:r>
              <a:rPr lang="en-US" sz="1400" dirty="0">
                <a:solidFill>
                  <a:srgbClr val="464646"/>
                </a:solidFill>
                <a:latin typeface="Calibri Light" panose="020F0302020204030204" pitchFamily="34" charset="0"/>
                <a:ea typeface="Inter Medium" pitchFamily="34" charset="-122"/>
                <a:cs typeface="Calibri Light" panose="020F0302020204030204" pitchFamily="34" charset="0"/>
              </a:rPr>
              <a:t>Consolidate feedback from students and staff.</a:t>
            </a:r>
            <a:endParaRPr lang="en-US" sz="1400" dirty="0"/>
          </a:p>
        </p:txBody>
      </p:sp>
      <p:sp>
        <p:nvSpPr>
          <p:cNvPr id="52" name="Text 50"/>
          <p:cNvSpPr/>
          <p:nvPr/>
        </p:nvSpPr>
        <p:spPr>
          <a:xfrm>
            <a:off x="767596" y="7229475"/>
            <a:ext cx="6048732" cy="199549"/>
          </a:xfrm>
          <a:prstGeom prst="rect">
            <a:avLst/>
          </a:prstGeom>
          <a:noFill/>
          <a:ln/>
        </p:spPr>
        <p:txBody>
          <a:bodyPr wrap="none" lIns="0" tIns="0" rIns="0" bIns="0" rtlCol="0" anchor="t"/>
          <a:lstStyle/>
          <a:p>
            <a:pPr marL="342900" indent="-342900" algn="l">
              <a:lnSpc>
                <a:spcPts val="1550"/>
              </a:lnSpc>
              <a:buSzPct val="100000"/>
              <a:buChar char="•"/>
            </a:pPr>
            <a:r>
              <a:rPr lang="en-US" sz="1400" dirty="0">
                <a:solidFill>
                  <a:srgbClr val="464646"/>
                </a:solidFill>
                <a:latin typeface="Calibri Light" panose="020F0302020204030204" pitchFamily="34" charset="0"/>
                <a:ea typeface="Inter Medium" pitchFamily="34" charset="-122"/>
                <a:cs typeface="Calibri Light" panose="020F0302020204030204" pitchFamily="34" charset="0"/>
              </a:rPr>
              <a:t>Review quality assurance data and identify areas for improvement in future iterations..</a:t>
            </a:r>
            <a:endParaRPr lang="en-US" sz="1400" dirty="0"/>
          </a:p>
        </p:txBody>
      </p:sp>
      <p:sp>
        <p:nvSpPr>
          <p:cNvPr id="53" name="Text 51"/>
          <p:cNvSpPr/>
          <p:nvPr/>
        </p:nvSpPr>
        <p:spPr>
          <a:xfrm>
            <a:off x="767596" y="7503795"/>
            <a:ext cx="6048732" cy="199549"/>
          </a:xfrm>
          <a:prstGeom prst="rect">
            <a:avLst/>
          </a:prstGeom>
          <a:noFill/>
          <a:ln/>
        </p:spPr>
        <p:txBody>
          <a:bodyPr wrap="none" lIns="0" tIns="0" rIns="0" bIns="0" rtlCol="0" anchor="t"/>
          <a:lstStyle/>
          <a:p>
            <a:pPr marL="0" indent="0" algn="r">
              <a:lnSpc>
                <a:spcPts val="1550"/>
              </a:lnSpc>
              <a:buNone/>
            </a:pP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600908"/>
            <a:ext cx="9580483" cy="496133"/>
          </a:xfrm>
          <a:prstGeom prst="rect">
            <a:avLst/>
          </a:prstGeom>
          <a:noFill/>
          <a:ln/>
        </p:spPr>
        <p:txBody>
          <a:bodyPr wrap="none" lIns="0" tIns="0" rIns="0" bIns="0" rtlCol="0" anchor="t"/>
          <a:lstStyle/>
          <a:p>
            <a:pPr marL="0" indent="0" algn="l">
              <a:lnSpc>
                <a:spcPts val="3900"/>
              </a:lnSpc>
              <a:buNone/>
            </a:pPr>
            <a:r>
              <a:rPr lang="en-US" sz="3100" b="1" dirty="0">
                <a:solidFill>
                  <a:srgbClr val="030303"/>
                </a:solidFill>
                <a:latin typeface="Aptos SemiBold" panose="020B0004020202020204" pitchFamily="34" charset="0"/>
                <a:ea typeface="DM Sans Semi Bold" pitchFamily="34" charset="-122"/>
                <a:cs typeface="DM Sans Semi Bold" pitchFamily="34" charset="-120"/>
              </a:rPr>
              <a:t>Implementation Benefits and Strategic Next Steps</a:t>
            </a:r>
            <a:endParaRPr lang="en-US" sz="3100" dirty="0"/>
          </a:p>
        </p:txBody>
      </p:sp>
      <p:sp>
        <p:nvSpPr>
          <p:cNvPr id="3" name="Text 1"/>
          <p:cNvSpPr/>
          <p:nvPr/>
        </p:nvSpPr>
        <p:spPr>
          <a:xfrm>
            <a:off x="793790" y="1433141"/>
            <a:ext cx="3322796" cy="297656"/>
          </a:xfrm>
          <a:prstGeom prst="rect">
            <a:avLst/>
          </a:prstGeom>
          <a:noFill/>
          <a:ln/>
        </p:spPr>
        <p:txBody>
          <a:bodyPr wrap="none" lIns="0" tIns="0" rIns="0" bIns="0" rtlCol="0" anchor="t"/>
          <a:lstStyle/>
          <a:p>
            <a:pPr marL="0" indent="0" algn="l">
              <a:lnSpc>
                <a:spcPts val="2300"/>
              </a:lnSpc>
              <a:buNone/>
            </a:pPr>
            <a:r>
              <a:rPr lang="en-US" sz="2400" b="1" dirty="0">
                <a:solidFill>
                  <a:srgbClr val="030303"/>
                </a:solidFill>
                <a:latin typeface="Aptos SemiBold" panose="020B0004020202020204" pitchFamily="34" charset="0"/>
                <a:ea typeface="DM Sans Semi Bold" pitchFamily="34" charset="-122"/>
                <a:cs typeface="DM Sans Semi Bold" pitchFamily="34" charset="-120"/>
              </a:rPr>
              <a:t>Academic Benefits Summary</a:t>
            </a:r>
            <a:endParaRPr lang="en-US" sz="2400" dirty="0"/>
          </a:p>
        </p:txBody>
      </p:sp>
      <p:pic>
        <p:nvPicPr>
          <p:cNvPr id="4" name="Image 0" descr="preencoded.png"/>
          <p:cNvPicPr>
            <a:picLocks noChangeAspect="1"/>
          </p:cNvPicPr>
          <p:nvPr/>
        </p:nvPicPr>
        <p:blipFill>
          <a:blip r:embed="rId3"/>
          <a:stretch>
            <a:fillRect/>
          </a:stretch>
        </p:blipFill>
        <p:spPr>
          <a:xfrm>
            <a:off x="793790" y="2001580"/>
            <a:ext cx="396835" cy="396835"/>
          </a:xfrm>
          <a:prstGeom prst="rect">
            <a:avLst/>
          </a:prstGeom>
        </p:spPr>
      </p:pic>
      <p:sp>
        <p:nvSpPr>
          <p:cNvPr id="5" name="Text 2"/>
          <p:cNvSpPr/>
          <p:nvPr/>
        </p:nvSpPr>
        <p:spPr>
          <a:xfrm>
            <a:off x="1388983" y="2095759"/>
            <a:ext cx="1984653" cy="248007"/>
          </a:xfrm>
          <a:prstGeom prst="rect">
            <a:avLst/>
          </a:prstGeom>
          <a:noFill/>
          <a:ln/>
        </p:spPr>
        <p:txBody>
          <a:bodyPr wrap="none" lIns="0" tIns="0" rIns="0" bIns="0" rtlCol="0" anchor="t"/>
          <a:lstStyle/>
          <a:p>
            <a:pPr marL="0" indent="0" algn="l">
              <a:lnSpc>
                <a:spcPts val="1950"/>
              </a:lnSpc>
              <a:buNone/>
            </a:pPr>
            <a:r>
              <a:rPr lang="en-US" b="1" dirty="0">
                <a:solidFill>
                  <a:srgbClr val="464646"/>
                </a:solidFill>
                <a:latin typeface="Aptos SemiBold" panose="020B0004020202020204" pitchFamily="34" charset="0"/>
                <a:ea typeface="DM Sans Semi Bold" pitchFamily="34" charset="-122"/>
                <a:cs typeface="DM Sans Semi Bold" pitchFamily="34" charset="-120"/>
              </a:rPr>
              <a:t>Assured Learning</a:t>
            </a:r>
            <a:endParaRPr lang="en-US" dirty="0"/>
          </a:p>
        </p:txBody>
      </p:sp>
      <p:sp>
        <p:nvSpPr>
          <p:cNvPr id="6" name="Text 3"/>
          <p:cNvSpPr/>
          <p:nvPr/>
        </p:nvSpPr>
        <p:spPr>
          <a:xfrm>
            <a:off x="1388983" y="2439016"/>
            <a:ext cx="3620095" cy="1270397"/>
          </a:xfrm>
          <a:prstGeom prst="rect">
            <a:avLst/>
          </a:prstGeom>
          <a:noFill/>
          <a:ln/>
        </p:spPr>
        <p:txBody>
          <a:bodyPr wrap="square" lIns="0" tIns="0" rIns="0" bIns="0" rtlCol="0" anchor="t"/>
          <a:lstStyle/>
          <a:p>
            <a:pPr marL="0" indent="0" algn="l">
              <a:lnSpc>
                <a:spcPts val="2000"/>
              </a:lnSpc>
              <a:buNone/>
            </a:pPr>
            <a:r>
              <a:rPr lang="en-US" sz="1600" dirty="0">
                <a:solidFill>
                  <a:srgbClr val="464646"/>
                </a:solidFill>
                <a:latin typeface="Calibri Light" panose="020F0302020204030204" pitchFamily="34" charset="0"/>
                <a:ea typeface="Inter Medium" pitchFamily="34" charset="-122"/>
                <a:cs typeface="Calibri Light" panose="020F0302020204030204" pitchFamily="34" charset="0"/>
              </a:rPr>
              <a:t>Direct observation of professional competence satisfying rigorous accreditation requirements whilst providing comprehensive evidence of student achievement and capability development.</a:t>
            </a:r>
            <a:endParaRPr lang="en-US" sz="1600" dirty="0"/>
          </a:p>
        </p:txBody>
      </p:sp>
      <p:pic>
        <p:nvPicPr>
          <p:cNvPr id="7" name="Image 1" descr="Architecture with solid fill"/>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207436" y="2001579"/>
            <a:ext cx="540000" cy="540000"/>
          </a:xfrm>
          <a:prstGeom prst="rect">
            <a:avLst/>
          </a:prstGeom>
        </p:spPr>
      </p:pic>
      <p:sp>
        <p:nvSpPr>
          <p:cNvPr id="8" name="Text 4"/>
          <p:cNvSpPr/>
          <p:nvPr/>
        </p:nvSpPr>
        <p:spPr>
          <a:xfrm>
            <a:off x="5802630" y="2095759"/>
            <a:ext cx="2174081" cy="248007"/>
          </a:xfrm>
          <a:prstGeom prst="rect">
            <a:avLst/>
          </a:prstGeom>
          <a:noFill/>
          <a:ln/>
        </p:spPr>
        <p:txBody>
          <a:bodyPr wrap="none" lIns="0" tIns="0" rIns="0" bIns="0" rtlCol="0" anchor="t"/>
          <a:lstStyle/>
          <a:p>
            <a:pPr marL="0" indent="0" algn="l">
              <a:lnSpc>
                <a:spcPts val="1950"/>
              </a:lnSpc>
              <a:buNone/>
            </a:pPr>
            <a:r>
              <a:rPr lang="en-US" b="1" dirty="0">
                <a:solidFill>
                  <a:srgbClr val="464646"/>
                </a:solidFill>
                <a:latin typeface="Aptos SemiBold" panose="020B0004020202020204" pitchFamily="34" charset="0"/>
                <a:ea typeface="DM Sans Semi Bold" pitchFamily="34" charset="-122"/>
                <a:cs typeface="DM Sans Semi Bold" pitchFamily="34" charset="-120"/>
              </a:rPr>
              <a:t>Authentic Assessment</a:t>
            </a:r>
            <a:endParaRPr lang="en-US" dirty="0"/>
          </a:p>
        </p:txBody>
      </p:sp>
      <p:sp>
        <p:nvSpPr>
          <p:cNvPr id="9" name="Text 5"/>
          <p:cNvSpPr/>
          <p:nvPr/>
        </p:nvSpPr>
        <p:spPr>
          <a:xfrm>
            <a:off x="5802630" y="2439016"/>
            <a:ext cx="3620214" cy="1016318"/>
          </a:xfrm>
          <a:prstGeom prst="rect">
            <a:avLst/>
          </a:prstGeom>
          <a:noFill/>
          <a:ln/>
        </p:spPr>
        <p:txBody>
          <a:bodyPr wrap="square" lIns="0" tIns="0" rIns="0" bIns="0" rtlCol="0" anchor="t"/>
          <a:lstStyle/>
          <a:p>
            <a:pPr marL="0" indent="0" algn="l">
              <a:lnSpc>
                <a:spcPts val="2000"/>
              </a:lnSpc>
              <a:buNone/>
            </a:pPr>
            <a:r>
              <a:rPr lang="en-US" sz="1600" dirty="0">
                <a:solidFill>
                  <a:srgbClr val="464646"/>
                </a:solidFill>
                <a:latin typeface="Calibri Light" panose="020F0302020204030204" pitchFamily="34" charset="0"/>
                <a:ea typeface="Inter Medium" pitchFamily="34" charset="-122"/>
                <a:cs typeface="Calibri Light" panose="020F0302020204030204" pitchFamily="34" charset="0"/>
              </a:rPr>
              <a:t>Genuine business consultation scenarios reflecting actual industry practice, ensuring graduates possess skills directly applicable to professional construction environments.</a:t>
            </a:r>
            <a:endParaRPr lang="en-US" sz="1600" dirty="0"/>
          </a:p>
        </p:txBody>
      </p:sp>
      <p:pic>
        <p:nvPicPr>
          <p:cNvPr id="10" name="Image 2" descr="Smiling face with solid fill with solid fill"/>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9621202" y="2001579"/>
            <a:ext cx="540000" cy="540000"/>
          </a:xfrm>
          <a:prstGeom prst="rect">
            <a:avLst/>
          </a:prstGeom>
        </p:spPr>
      </p:pic>
      <p:sp>
        <p:nvSpPr>
          <p:cNvPr id="11" name="Text 6"/>
          <p:cNvSpPr/>
          <p:nvPr/>
        </p:nvSpPr>
        <p:spPr>
          <a:xfrm>
            <a:off x="10216396" y="2095759"/>
            <a:ext cx="1984653" cy="248007"/>
          </a:xfrm>
          <a:prstGeom prst="rect">
            <a:avLst/>
          </a:prstGeom>
          <a:noFill/>
          <a:ln/>
        </p:spPr>
        <p:txBody>
          <a:bodyPr wrap="none" lIns="0" tIns="0" rIns="0" bIns="0" rtlCol="0" anchor="t"/>
          <a:lstStyle/>
          <a:p>
            <a:pPr marL="0" indent="0" algn="l">
              <a:lnSpc>
                <a:spcPts val="1950"/>
              </a:lnSpc>
              <a:buNone/>
            </a:pPr>
            <a:r>
              <a:rPr lang="en-US" b="1" dirty="0">
                <a:solidFill>
                  <a:srgbClr val="464646"/>
                </a:solidFill>
                <a:latin typeface="Aptos SemiBold" panose="020B0004020202020204" pitchFamily="34" charset="0"/>
                <a:ea typeface="DM Sans Semi Bold" pitchFamily="34" charset="-122"/>
                <a:cs typeface="DM Sans Semi Bold" pitchFamily="34" charset="-120"/>
              </a:rPr>
              <a:t>Efficient Evaluation</a:t>
            </a:r>
            <a:endParaRPr lang="en-US" dirty="0"/>
          </a:p>
        </p:txBody>
      </p:sp>
      <p:sp>
        <p:nvSpPr>
          <p:cNvPr id="12" name="Text 7"/>
          <p:cNvSpPr/>
          <p:nvPr/>
        </p:nvSpPr>
        <p:spPr>
          <a:xfrm>
            <a:off x="10216396" y="2439016"/>
            <a:ext cx="3620095" cy="1016318"/>
          </a:xfrm>
          <a:prstGeom prst="rect">
            <a:avLst/>
          </a:prstGeom>
          <a:noFill/>
          <a:ln/>
        </p:spPr>
        <p:txBody>
          <a:bodyPr wrap="square" lIns="0" tIns="0" rIns="0" bIns="0" rtlCol="0" anchor="t"/>
          <a:lstStyle/>
          <a:p>
            <a:pPr marL="0" indent="0" algn="l">
              <a:lnSpc>
                <a:spcPts val="2000"/>
              </a:lnSpc>
              <a:buNone/>
            </a:pPr>
            <a:r>
              <a:rPr lang="en-US" sz="1600" dirty="0">
                <a:solidFill>
                  <a:srgbClr val="464646"/>
                </a:solidFill>
                <a:latin typeface="Calibri Light" panose="020F0302020204030204" pitchFamily="34" charset="0"/>
                <a:ea typeface="Inter Medium" pitchFamily="34" charset="-122"/>
                <a:cs typeface="Calibri Light" panose="020F0302020204030204" pitchFamily="34" charset="0"/>
              </a:rPr>
              <a:t>Superior learning evidence obtained in comparable time to traditional lengthy reports, whilst providing richer, more comprehensive assessment data.</a:t>
            </a:r>
            <a:endParaRPr lang="en-US" sz="1600" dirty="0"/>
          </a:p>
        </p:txBody>
      </p:sp>
      <p:sp>
        <p:nvSpPr>
          <p:cNvPr id="13" name="Text 8"/>
          <p:cNvSpPr/>
          <p:nvPr/>
        </p:nvSpPr>
        <p:spPr>
          <a:xfrm>
            <a:off x="793790" y="4241460"/>
            <a:ext cx="3971449" cy="297656"/>
          </a:xfrm>
          <a:prstGeom prst="rect">
            <a:avLst/>
          </a:prstGeom>
          <a:noFill/>
          <a:ln/>
        </p:spPr>
        <p:txBody>
          <a:bodyPr wrap="none" lIns="0" tIns="0" rIns="0" bIns="0" rtlCol="0" anchor="t"/>
          <a:lstStyle/>
          <a:p>
            <a:pPr marL="0" indent="0" algn="l">
              <a:lnSpc>
                <a:spcPts val="2300"/>
              </a:lnSpc>
              <a:buNone/>
            </a:pPr>
            <a:r>
              <a:rPr lang="en-US" sz="2400" b="1" dirty="0">
                <a:solidFill>
                  <a:srgbClr val="030303"/>
                </a:solidFill>
                <a:latin typeface="Aptos SemiBold" panose="020B0004020202020204" pitchFamily="34" charset="0"/>
                <a:ea typeface="DM Sans Semi Bold" pitchFamily="34" charset="-122"/>
                <a:cs typeface="DM Sans Semi Bold" pitchFamily="34" charset="-120"/>
              </a:rPr>
              <a:t>Strategic Implementation Pathway</a:t>
            </a:r>
            <a:endParaRPr lang="en-US" sz="2400" dirty="0"/>
          </a:p>
        </p:txBody>
      </p:sp>
      <p:sp>
        <p:nvSpPr>
          <p:cNvPr id="14" name="Text 9"/>
          <p:cNvSpPr/>
          <p:nvPr/>
        </p:nvSpPr>
        <p:spPr>
          <a:xfrm>
            <a:off x="793790" y="4695596"/>
            <a:ext cx="158710" cy="198358"/>
          </a:xfrm>
          <a:prstGeom prst="rect">
            <a:avLst/>
          </a:prstGeom>
          <a:noFill/>
          <a:ln/>
        </p:spPr>
        <p:txBody>
          <a:bodyPr wrap="none" lIns="0" tIns="0" rIns="0" bIns="0" rtlCol="0" anchor="t"/>
          <a:lstStyle/>
          <a:p>
            <a:pPr marL="0" indent="0" algn="l">
              <a:lnSpc>
                <a:spcPts val="2000"/>
              </a:lnSpc>
              <a:buNone/>
            </a:pPr>
            <a:r>
              <a:rPr lang="en-US" sz="1600" b="1" dirty="0">
                <a:solidFill>
                  <a:srgbClr val="464646"/>
                </a:solidFill>
                <a:latin typeface="Aptos SemiBold" panose="020B0004020202020204" pitchFamily="34" charset="0"/>
                <a:ea typeface="DM Sans Light Italic" pitchFamily="34" charset="-122"/>
                <a:cs typeface="DM Sans Light Italic" pitchFamily="34" charset="-120"/>
              </a:rPr>
              <a:t>01</a:t>
            </a:r>
            <a:endParaRPr lang="en-US" sz="1600" dirty="0"/>
          </a:p>
        </p:txBody>
      </p:sp>
      <p:sp>
        <p:nvSpPr>
          <p:cNvPr id="15" name="Shape 10"/>
          <p:cNvSpPr/>
          <p:nvPr/>
        </p:nvSpPr>
        <p:spPr>
          <a:xfrm>
            <a:off x="793790" y="4942412"/>
            <a:ext cx="6441996" cy="22860"/>
          </a:xfrm>
          <a:prstGeom prst="rect">
            <a:avLst/>
          </a:prstGeom>
          <a:solidFill>
            <a:srgbClr val="1C9770"/>
          </a:solidFill>
          <a:ln/>
        </p:spPr>
        <p:txBody>
          <a:bodyPr/>
          <a:lstStyle/>
          <a:p>
            <a:endParaRPr lang="en-US" sz="2400"/>
          </a:p>
        </p:txBody>
      </p:sp>
      <p:sp>
        <p:nvSpPr>
          <p:cNvPr id="16" name="Text 11"/>
          <p:cNvSpPr/>
          <p:nvPr/>
        </p:nvSpPr>
        <p:spPr>
          <a:xfrm>
            <a:off x="793790" y="5067428"/>
            <a:ext cx="2094071" cy="248007"/>
          </a:xfrm>
          <a:prstGeom prst="rect">
            <a:avLst/>
          </a:prstGeom>
          <a:noFill/>
          <a:ln/>
        </p:spPr>
        <p:txBody>
          <a:bodyPr wrap="none" lIns="0" tIns="0" rIns="0" bIns="0" rtlCol="0" anchor="t"/>
          <a:lstStyle/>
          <a:p>
            <a:pPr marL="0" indent="0" algn="l">
              <a:lnSpc>
                <a:spcPts val="1950"/>
              </a:lnSpc>
              <a:buNone/>
            </a:pPr>
            <a:r>
              <a:rPr lang="en-US" b="1" dirty="0">
                <a:solidFill>
                  <a:srgbClr val="464646"/>
                </a:solidFill>
                <a:latin typeface="Aptos SemiBold" panose="020B0004020202020204" pitchFamily="34" charset="0"/>
                <a:ea typeface="DM Sans Semi Bold" pitchFamily="34" charset="-122"/>
                <a:cs typeface="DM Sans Semi Bold" pitchFamily="34" charset="-120"/>
              </a:rPr>
              <a:t>Finalise IOA Scenarios</a:t>
            </a:r>
            <a:endParaRPr lang="en-US" dirty="0"/>
          </a:p>
        </p:txBody>
      </p:sp>
      <p:sp>
        <p:nvSpPr>
          <p:cNvPr id="17" name="Text 12"/>
          <p:cNvSpPr/>
          <p:nvPr/>
        </p:nvSpPr>
        <p:spPr>
          <a:xfrm>
            <a:off x="793790" y="5410685"/>
            <a:ext cx="6441996" cy="508159"/>
          </a:xfrm>
          <a:prstGeom prst="rect">
            <a:avLst/>
          </a:prstGeom>
          <a:noFill/>
          <a:ln/>
        </p:spPr>
        <p:txBody>
          <a:bodyPr wrap="square" lIns="0" tIns="0" rIns="0" bIns="0" rtlCol="0" anchor="t"/>
          <a:lstStyle/>
          <a:p>
            <a:pPr marL="0" indent="0" algn="l">
              <a:lnSpc>
                <a:spcPts val="2000"/>
              </a:lnSpc>
              <a:buNone/>
            </a:pPr>
            <a:r>
              <a:rPr lang="en-US" sz="1600" dirty="0">
                <a:solidFill>
                  <a:srgbClr val="464646"/>
                </a:solidFill>
                <a:latin typeface="Calibri Light" panose="020F0302020204030204" pitchFamily="34" charset="0"/>
                <a:ea typeface="Inter Medium" pitchFamily="34" charset="-122"/>
                <a:cs typeface="Calibri Light" panose="020F0302020204030204" pitchFamily="34" charset="0"/>
              </a:rPr>
              <a:t>Develop comprehensive scenarios reflecting realistic construction industry issues and detailed assessment criteria aligned with learning outcomes.</a:t>
            </a:r>
            <a:endParaRPr lang="en-US" sz="1600" dirty="0"/>
          </a:p>
        </p:txBody>
      </p:sp>
      <p:sp>
        <p:nvSpPr>
          <p:cNvPr id="18" name="Text 13"/>
          <p:cNvSpPr/>
          <p:nvPr/>
        </p:nvSpPr>
        <p:spPr>
          <a:xfrm>
            <a:off x="7394496" y="4695596"/>
            <a:ext cx="158710" cy="198358"/>
          </a:xfrm>
          <a:prstGeom prst="rect">
            <a:avLst/>
          </a:prstGeom>
          <a:noFill/>
          <a:ln/>
        </p:spPr>
        <p:txBody>
          <a:bodyPr wrap="none" lIns="0" tIns="0" rIns="0" bIns="0" rtlCol="0" anchor="t"/>
          <a:lstStyle/>
          <a:p>
            <a:pPr marL="0" indent="0" algn="l">
              <a:lnSpc>
                <a:spcPts val="2000"/>
              </a:lnSpc>
              <a:buNone/>
            </a:pPr>
            <a:r>
              <a:rPr lang="en-US" sz="1600" b="1" dirty="0">
                <a:solidFill>
                  <a:srgbClr val="464646"/>
                </a:solidFill>
                <a:latin typeface="Aptos SemiBold" panose="020B0004020202020204" pitchFamily="34" charset="0"/>
                <a:ea typeface="DM Sans Light Italic" pitchFamily="34" charset="-122"/>
                <a:cs typeface="DM Sans Light Italic" pitchFamily="34" charset="-120"/>
              </a:rPr>
              <a:t>02</a:t>
            </a:r>
            <a:endParaRPr lang="en-US" sz="1600" dirty="0"/>
          </a:p>
        </p:txBody>
      </p:sp>
      <p:sp>
        <p:nvSpPr>
          <p:cNvPr id="19" name="Shape 14"/>
          <p:cNvSpPr/>
          <p:nvPr/>
        </p:nvSpPr>
        <p:spPr>
          <a:xfrm>
            <a:off x="7394496" y="4942412"/>
            <a:ext cx="6442115" cy="22860"/>
          </a:xfrm>
          <a:prstGeom prst="rect">
            <a:avLst/>
          </a:prstGeom>
          <a:solidFill>
            <a:srgbClr val="1C9770"/>
          </a:solidFill>
          <a:ln/>
        </p:spPr>
        <p:txBody>
          <a:bodyPr/>
          <a:lstStyle/>
          <a:p>
            <a:endParaRPr lang="en-US" sz="2400"/>
          </a:p>
        </p:txBody>
      </p:sp>
      <p:sp>
        <p:nvSpPr>
          <p:cNvPr id="20" name="Text 15"/>
          <p:cNvSpPr/>
          <p:nvPr/>
        </p:nvSpPr>
        <p:spPr>
          <a:xfrm>
            <a:off x="7394496" y="5067428"/>
            <a:ext cx="3241834" cy="248007"/>
          </a:xfrm>
          <a:prstGeom prst="rect">
            <a:avLst/>
          </a:prstGeom>
          <a:noFill/>
          <a:ln/>
        </p:spPr>
        <p:txBody>
          <a:bodyPr wrap="none" lIns="0" tIns="0" rIns="0" bIns="0" rtlCol="0" anchor="t"/>
          <a:lstStyle/>
          <a:p>
            <a:pPr marL="0" indent="0" algn="l">
              <a:lnSpc>
                <a:spcPts val="1950"/>
              </a:lnSpc>
              <a:buNone/>
            </a:pPr>
            <a:r>
              <a:rPr lang="en-US" b="1" dirty="0">
                <a:solidFill>
                  <a:srgbClr val="464646"/>
                </a:solidFill>
                <a:latin typeface="Aptos SemiBold" panose="020B0004020202020204" pitchFamily="34" charset="0"/>
                <a:ea typeface="DM Sans Semi Bold" pitchFamily="34" charset="-122"/>
                <a:cs typeface="DM Sans Semi Bold" pitchFamily="34" charset="-120"/>
              </a:rPr>
              <a:t>Develop Staff Training Programme</a:t>
            </a:r>
            <a:endParaRPr lang="en-US" dirty="0"/>
          </a:p>
        </p:txBody>
      </p:sp>
      <p:sp>
        <p:nvSpPr>
          <p:cNvPr id="21" name="Text 16"/>
          <p:cNvSpPr/>
          <p:nvPr/>
        </p:nvSpPr>
        <p:spPr>
          <a:xfrm>
            <a:off x="7394496" y="5410685"/>
            <a:ext cx="6442115" cy="508159"/>
          </a:xfrm>
          <a:prstGeom prst="rect">
            <a:avLst/>
          </a:prstGeom>
          <a:noFill/>
          <a:ln/>
        </p:spPr>
        <p:txBody>
          <a:bodyPr wrap="square" lIns="0" tIns="0" rIns="0" bIns="0" rtlCol="0" anchor="t"/>
          <a:lstStyle/>
          <a:p>
            <a:pPr marL="0" indent="0" algn="l">
              <a:lnSpc>
                <a:spcPts val="2000"/>
              </a:lnSpc>
              <a:buNone/>
            </a:pPr>
            <a:r>
              <a:rPr lang="en-US" sz="1600" dirty="0">
                <a:solidFill>
                  <a:srgbClr val="464646"/>
                </a:solidFill>
                <a:latin typeface="Calibri Light" panose="020F0302020204030204" pitchFamily="34" charset="0"/>
                <a:ea typeface="Inter Medium" pitchFamily="34" charset="-122"/>
                <a:cs typeface="Calibri Light" panose="020F0302020204030204" pitchFamily="34" charset="0"/>
              </a:rPr>
              <a:t>Create systematic professional consultation assessment methodology training and comprehensive rubric application protocols for academic staff.</a:t>
            </a:r>
            <a:endParaRPr lang="en-US" sz="1600" dirty="0"/>
          </a:p>
        </p:txBody>
      </p:sp>
      <p:sp>
        <p:nvSpPr>
          <p:cNvPr id="22" name="Text 17"/>
          <p:cNvSpPr/>
          <p:nvPr/>
        </p:nvSpPr>
        <p:spPr>
          <a:xfrm>
            <a:off x="793790" y="6196617"/>
            <a:ext cx="158710" cy="198358"/>
          </a:xfrm>
          <a:prstGeom prst="rect">
            <a:avLst/>
          </a:prstGeom>
          <a:noFill/>
          <a:ln/>
        </p:spPr>
        <p:txBody>
          <a:bodyPr wrap="none" lIns="0" tIns="0" rIns="0" bIns="0" rtlCol="0" anchor="t"/>
          <a:lstStyle/>
          <a:p>
            <a:pPr marL="0" indent="0" algn="l">
              <a:lnSpc>
                <a:spcPts val="2000"/>
              </a:lnSpc>
              <a:buNone/>
            </a:pPr>
            <a:r>
              <a:rPr lang="en-US" sz="1600" b="1" dirty="0">
                <a:solidFill>
                  <a:srgbClr val="464646"/>
                </a:solidFill>
                <a:latin typeface="Aptos SemiBold" panose="020B0004020202020204" pitchFamily="34" charset="0"/>
                <a:ea typeface="DM Sans Light Italic" pitchFamily="34" charset="-122"/>
                <a:cs typeface="DM Sans Light Italic" pitchFamily="34" charset="-120"/>
              </a:rPr>
              <a:t>03</a:t>
            </a:r>
            <a:endParaRPr lang="en-US" sz="1600" dirty="0"/>
          </a:p>
        </p:txBody>
      </p:sp>
      <p:sp>
        <p:nvSpPr>
          <p:cNvPr id="23" name="Shape 18"/>
          <p:cNvSpPr/>
          <p:nvPr/>
        </p:nvSpPr>
        <p:spPr>
          <a:xfrm>
            <a:off x="793790" y="6443433"/>
            <a:ext cx="6441996" cy="22860"/>
          </a:xfrm>
          <a:prstGeom prst="rect">
            <a:avLst/>
          </a:prstGeom>
          <a:solidFill>
            <a:srgbClr val="1C9770"/>
          </a:solidFill>
          <a:ln/>
        </p:spPr>
        <p:txBody>
          <a:bodyPr/>
          <a:lstStyle/>
          <a:p>
            <a:endParaRPr lang="en-US" sz="2400"/>
          </a:p>
        </p:txBody>
      </p:sp>
      <p:sp>
        <p:nvSpPr>
          <p:cNvPr id="24" name="Text 19"/>
          <p:cNvSpPr/>
          <p:nvPr/>
        </p:nvSpPr>
        <p:spPr>
          <a:xfrm>
            <a:off x="793790" y="6568449"/>
            <a:ext cx="3682127" cy="248007"/>
          </a:xfrm>
          <a:prstGeom prst="rect">
            <a:avLst/>
          </a:prstGeom>
          <a:noFill/>
          <a:ln/>
        </p:spPr>
        <p:txBody>
          <a:bodyPr wrap="none" lIns="0" tIns="0" rIns="0" bIns="0" rtlCol="0" anchor="t"/>
          <a:lstStyle/>
          <a:p>
            <a:pPr marL="0" indent="0" algn="l">
              <a:lnSpc>
                <a:spcPts val="1950"/>
              </a:lnSpc>
              <a:buNone/>
            </a:pPr>
            <a:r>
              <a:rPr lang="en-US" b="1" dirty="0">
                <a:solidFill>
                  <a:srgbClr val="464646"/>
                </a:solidFill>
                <a:latin typeface="Aptos SemiBold" panose="020B0004020202020204" pitchFamily="34" charset="0"/>
                <a:ea typeface="DM Sans Semi Bold" pitchFamily="34" charset="-122"/>
                <a:cs typeface="DM Sans Semi Bold" pitchFamily="34" charset="-120"/>
              </a:rPr>
              <a:t>Create Student Preparation Resources</a:t>
            </a:r>
            <a:endParaRPr lang="en-US" dirty="0"/>
          </a:p>
        </p:txBody>
      </p:sp>
      <p:sp>
        <p:nvSpPr>
          <p:cNvPr id="25" name="Text 20"/>
          <p:cNvSpPr/>
          <p:nvPr/>
        </p:nvSpPr>
        <p:spPr>
          <a:xfrm>
            <a:off x="793790" y="6911706"/>
            <a:ext cx="6441996" cy="508159"/>
          </a:xfrm>
          <a:prstGeom prst="rect">
            <a:avLst/>
          </a:prstGeom>
          <a:noFill/>
          <a:ln/>
        </p:spPr>
        <p:txBody>
          <a:bodyPr wrap="square" lIns="0" tIns="0" rIns="0" bIns="0" rtlCol="0" anchor="t"/>
          <a:lstStyle/>
          <a:p>
            <a:pPr marL="0" indent="0" algn="l">
              <a:lnSpc>
                <a:spcPts val="2000"/>
              </a:lnSpc>
              <a:buNone/>
            </a:pPr>
            <a:r>
              <a:rPr lang="en-US" sz="1600" dirty="0">
                <a:solidFill>
                  <a:srgbClr val="464646"/>
                </a:solidFill>
                <a:latin typeface="Calibri Light" panose="020F0302020204030204" pitchFamily="34" charset="0"/>
                <a:ea typeface="Inter Medium" pitchFamily="34" charset="-122"/>
                <a:cs typeface="Calibri Light" panose="020F0302020204030204" pitchFamily="34" charset="0"/>
              </a:rPr>
              <a:t>Produce exemplar videos and comprehensive practice session frameworks to support student preparation and confidence development.</a:t>
            </a:r>
            <a:endParaRPr lang="en-US" sz="1600" dirty="0"/>
          </a:p>
        </p:txBody>
      </p:sp>
      <p:sp>
        <p:nvSpPr>
          <p:cNvPr id="26" name="Text 21"/>
          <p:cNvSpPr/>
          <p:nvPr/>
        </p:nvSpPr>
        <p:spPr>
          <a:xfrm>
            <a:off x="7394496" y="6196617"/>
            <a:ext cx="158710" cy="198358"/>
          </a:xfrm>
          <a:prstGeom prst="rect">
            <a:avLst/>
          </a:prstGeom>
          <a:noFill/>
          <a:ln/>
        </p:spPr>
        <p:txBody>
          <a:bodyPr wrap="none" lIns="0" tIns="0" rIns="0" bIns="0" rtlCol="0" anchor="t"/>
          <a:lstStyle/>
          <a:p>
            <a:pPr marL="0" indent="0" algn="l">
              <a:lnSpc>
                <a:spcPts val="2000"/>
              </a:lnSpc>
              <a:buNone/>
            </a:pPr>
            <a:r>
              <a:rPr lang="en-US" sz="1600" b="1" dirty="0">
                <a:solidFill>
                  <a:srgbClr val="464646"/>
                </a:solidFill>
                <a:latin typeface="Aptos SemiBold" panose="020B0004020202020204" pitchFamily="34" charset="0"/>
                <a:ea typeface="DM Sans Light Italic" pitchFamily="34" charset="-122"/>
                <a:cs typeface="DM Sans Light Italic" pitchFamily="34" charset="-120"/>
              </a:rPr>
              <a:t>04</a:t>
            </a:r>
            <a:endParaRPr lang="en-US" sz="1600" dirty="0"/>
          </a:p>
        </p:txBody>
      </p:sp>
      <p:sp>
        <p:nvSpPr>
          <p:cNvPr id="27" name="Shape 22"/>
          <p:cNvSpPr/>
          <p:nvPr/>
        </p:nvSpPr>
        <p:spPr>
          <a:xfrm>
            <a:off x="7394496" y="6443433"/>
            <a:ext cx="6442115" cy="22860"/>
          </a:xfrm>
          <a:prstGeom prst="rect">
            <a:avLst/>
          </a:prstGeom>
          <a:solidFill>
            <a:srgbClr val="1C9770"/>
          </a:solidFill>
          <a:ln/>
        </p:spPr>
        <p:txBody>
          <a:bodyPr/>
          <a:lstStyle/>
          <a:p>
            <a:endParaRPr lang="en-US" sz="2400"/>
          </a:p>
        </p:txBody>
      </p:sp>
      <p:sp>
        <p:nvSpPr>
          <p:cNvPr id="28" name="Text 23"/>
          <p:cNvSpPr/>
          <p:nvPr/>
        </p:nvSpPr>
        <p:spPr>
          <a:xfrm>
            <a:off x="7394496" y="6568449"/>
            <a:ext cx="2526983" cy="248007"/>
          </a:xfrm>
          <a:prstGeom prst="rect">
            <a:avLst/>
          </a:prstGeom>
          <a:noFill/>
          <a:ln/>
        </p:spPr>
        <p:txBody>
          <a:bodyPr wrap="none" lIns="0" tIns="0" rIns="0" bIns="0" rtlCol="0" anchor="t"/>
          <a:lstStyle/>
          <a:p>
            <a:pPr marL="0" indent="0" algn="l">
              <a:lnSpc>
                <a:spcPts val="1950"/>
              </a:lnSpc>
              <a:buNone/>
            </a:pPr>
            <a:r>
              <a:rPr lang="en-US" b="1" dirty="0">
                <a:solidFill>
                  <a:srgbClr val="464646"/>
                </a:solidFill>
                <a:latin typeface="Aptos SemiBold" panose="020B0004020202020204" pitchFamily="34" charset="0"/>
                <a:ea typeface="DM Sans Semi Bold" pitchFamily="34" charset="-122"/>
                <a:cs typeface="DM Sans Semi Bold" pitchFamily="34" charset="-120"/>
              </a:rPr>
              <a:t>Conduct Pilot Assessment</a:t>
            </a:r>
            <a:endParaRPr lang="en-US" dirty="0"/>
          </a:p>
        </p:txBody>
      </p:sp>
      <p:sp>
        <p:nvSpPr>
          <p:cNvPr id="29" name="Text 24"/>
          <p:cNvSpPr/>
          <p:nvPr/>
        </p:nvSpPr>
        <p:spPr>
          <a:xfrm>
            <a:off x="7394496" y="6911706"/>
            <a:ext cx="6442115" cy="508159"/>
          </a:xfrm>
          <a:prstGeom prst="rect">
            <a:avLst/>
          </a:prstGeom>
          <a:noFill/>
          <a:ln/>
        </p:spPr>
        <p:txBody>
          <a:bodyPr wrap="square" lIns="0" tIns="0" rIns="0" bIns="0" rtlCol="0" anchor="t"/>
          <a:lstStyle/>
          <a:p>
            <a:pPr marL="0" indent="0" algn="l">
              <a:lnSpc>
                <a:spcPts val="2000"/>
              </a:lnSpc>
              <a:buNone/>
            </a:pPr>
            <a:r>
              <a:rPr lang="en-US" sz="1600" dirty="0">
                <a:solidFill>
                  <a:srgbClr val="464646"/>
                </a:solidFill>
                <a:latin typeface="Calibri Light" panose="020F0302020204030204" pitchFamily="34" charset="0"/>
                <a:ea typeface="Inter Medium" pitchFamily="34" charset="-122"/>
                <a:cs typeface="Calibri Light" panose="020F0302020204030204" pitchFamily="34" charset="0"/>
              </a:rPr>
              <a:t>Implement trial assessment with small cohort to validate timing, scenario effectiveness, and marking consistency before full programme implementation.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343</TotalTime>
  <Words>1693</Words>
  <Application>Microsoft Macintosh PowerPoint</Application>
  <PresentationFormat>Custom</PresentationFormat>
  <Paragraphs>165</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Calibri Light</vt:lpstr>
      <vt:lpstr>Wingdings</vt:lpstr>
      <vt:lpstr>Arial</vt:lpstr>
      <vt:lpstr>Aptos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Elizabeth Black</cp:lastModifiedBy>
  <cp:revision>15</cp:revision>
  <dcterms:created xsi:type="dcterms:W3CDTF">2025-09-22T04:51:03Z</dcterms:created>
  <dcterms:modified xsi:type="dcterms:W3CDTF">2026-02-10T05:19:51Z</dcterms:modified>
</cp:coreProperties>
</file>