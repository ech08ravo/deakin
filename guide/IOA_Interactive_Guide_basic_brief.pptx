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188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5" Type="http://schemas.openxmlformats.org/officeDocument/2006/relationships/slide" Target="slide5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Oral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walkthrough for academics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0" y="548640"/>
            <a:ext cx="3017520" cy="1097280"/>
          </a:xfrm>
          <a:prstGeom prst="rect">
            <a:avLst/>
          </a:prstGeom>
          <a:solidFill>
            <a:srgbClr val="2435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5852160" y="640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7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85216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in 10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852160" y="1325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Colvin &amp; Gaffey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0" y="1920240"/>
            <a:ext cx="3017520" cy="1097280"/>
          </a:xfrm>
          <a:prstGeom prst="rect">
            <a:avLst/>
          </a:prstGeom>
          <a:solidFill>
            <a:srgbClr val="2435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585216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7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521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marking 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2697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Shaeri et al.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0" y="3291840"/>
            <a:ext cx="3017520" cy="1097280"/>
          </a:xfrm>
          <a:prstGeom prst="rect">
            <a:avLst/>
          </a:prstGeom>
          <a:solidFill>
            <a:srgbClr val="2435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585216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7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8521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successfully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4069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path:</a:t>
            </a:r>
            <a:endParaRPr lang="en-US" sz="1200" dirty="0"/>
          </a:p>
        </p:txBody>
      </p:sp>
      <p:sp>
        <p:nvSpPr>
          <p:cNvPr id="17" name="Shape 15">
            <a:hlinkClick r:id="rId3" action="ppaction://hlinksldjump"/>
          </p:cNvPr>
          <p:cNvSpPr/>
          <p:nvPr/>
        </p:nvSpPr>
        <p:spPr>
          <a:xfrm>
            <a:off x="548640" y="3108960"/>
            <a:ext cx="4572000" cy="347472"/>
          </a:xfrm>
          <a:prstGeom prst="rect">
            <a:avLst/>
          </a:prstGeom>
          <a:solidFill>
            <a:srgbClr val="2435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>
            <a:hlinkClick r:id="rId3" action="ppaction://hlinksldjump"/>
          </p:cNvPr>
          <p:cNvSpPr/>
          <p:nvPr/>
        </p:nvSpPr>
        <p:spPr>
          <a:xfrm>
            <a:off x="731520" y="31089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 IOA right for my unit?  →</a:t>
            </a:r>
            <a:endParaRPr lang="en-US" sz="1300" dirty="0"/>
          </a:p>
        </p:txBody>
      </p:sp>
      <p:sp>
        <p:nvSpPr>
          <p:cNvPr id="19" name="Shape 17">
            <a:hlinkClick r:id="rId4" action="ppaction://hlinksldjump"/>
          </p:cNvPr>
          <p:cNvSpPr/>
          <p:nvPr/>
        </p:nvSpPr>
        <p:spPr>
          <a:xfrm>
            <a:off x="548640" y="3520440"/>
            <a:ext cx="4572000" cy="347472"/>
          </a:xfrm>
          <a:prstGeom prst="rect">
            <a:avLst/>
          </a:prstGeom>
          <a:solidFill>
            <a:srgbClr val="2435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>
            <a:hlinkClick r:id="rId4" action="ppaction://hlinksldjump"/>
          </p:cNvPr>
          <p:cNvSpPr/>
          <p:nvPr/>
        </p:nvSpPr>
        <p:spPr>
          <a:xfrm>
            <a:off x="731520" y="35204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exactly is an IOA?  →</a:t>
            </a:r>
            <a:endParaRPr lang="en-US" sz="1300" dirty="0"/>
          </a:p>
        </p:txBody>
      </p:sp>
      <p:sp>
        <p:nvSpPr>
          <p:cNvPr id="21" name="Shape 19">
            <a:hlinkClick r:id="rId5" action="ppaction://hlinksldjump"/>
          </p:cNvPr>
          <p:cNvSpPr/>
          <p:nvPr/>
        </p:nvSpPr>
        <p:spPr>
          <a:xfrm>
            <a:off x="548640" y="3931920"/>
            <a:ext cx="4572000" cy="347472"/>
          </a:xfrm>
          <a:prstGeom prst="rect">
            <a:avLst/>
          </a:prstGeom>
          <a:solidFill>
            <a:srgbClr val="2435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>
            <a:hlinkClick r:id="rId5" action="ppaction://hlinksldjump"/>
          </p:cNvPr>
          <p:cNvSpPr/>
          <p:nvPr/>
        </p:nvSpPr>
        <p:spPr>
          <a:xfrm>
            <a:off x="731520" y="39319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 my IOA  →</a:t>
            </a:r>
            <a:endParaRPr lang="en-US" sz="1300" dirty="0"/>
          </a:p>
        </p:txBody>
      </p:sp>
      <p:sp>
        <p:nvSpPr>
          <p:cNvPr id="23" name="Shape 21">
            <a:hlinkClick r:id="rId6" action="ppaction://hlinksldjump"/>
          </p:cNvPr>
          <p:cNvSpPr/>
          <p:nvPr/>
        </p:nvSpPr>
        <p:spPr>
          <a:xfrm>
            <a:off x="548640" y="4343400"/>
            <a:ext cx="4572000" cy="347472"/>
          </a:xfrm>
          <a:prstGeom prst="rect">
            <a:avLst/>
          </a:prstGeom>
          <a:solidFill>
            <a:srgbClr val="2435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2">
            <a:hlinkClick r:id="rId6" action="ppaction://hlinksldjump"/>
          </p:cNvPr>
          <p:cNvSpPr/>
          <p:nvPr/>
        </p:nvSpPr>
        <p:spPr>
          <a:xfrm>
            <a:off x="731520" y="4343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Logistics &amp; marking  →</a:t>
            </a:r>
            <a:endParaRPr lang="en-US" sz="1300" dirty="0"/>
          </a:p>
        </p:txBody>
      </p:sp>
      <p:sp>
        <p:nvSpPr>
          <p:cNvPr id="25" name="Shape 23">
            <a:hlinkClick r:id="rId7" action="ppaction://hlinksldjump"/>
          </p:cNvPr>
          <p:cNvSpPr/>
          <p:nvPr/>
        </p:nvSpPr>
        <p:spPr>
          <a:xfrm>
            <a:off x="548640" y="4754880"/>
            <a:ext cx="4572000" cy="347472"/>
          </a:xfrm>
          <a:prstGeom prst="rect">
            <a:avLst/>
          </a:prstGeom>
          <a:solidFill>
            <a:srgbClr val="2435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4">
            <a:hlinkClick r:id="rId7" action="ppaction://hlinksldjump"/>
          </p:cNvPr>
          <p:cNvSpPr/>
          <p:nvPr/>
        </p:nvSpPr>
        <p:spPr>
          <a:xfrm>
            <a:off x="731520" y="47548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Preparing students  →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IOA Guide for Academics</a:t>
            </a:r>
            <a:endParaRPr lang="en-US" sz="1200" dirty="0"/>
          </a:p>
        </p:txBody>
      </p:sp>
      <p:sp>
        <p:nvSpPr>
          <p:cNvPr id="4" name="Text 2">
            <a:hlinkClick r:id="rId3" action="ppaction://hlinksldjump"/>
          </p:cNvPr>
          <p:cNvSpPr/>
          <p:nvPr/>
        </p:nvSpPr>
        <p:spPr>
          <a:xfrm>
            <a:off x="6858000" y="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Menu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IOA?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time-limited, professional conversation between a student and an assessor. The student demonstrates understanding by discussing, explaining, and responding to questions — like a workplace consultation.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931920" cy="2194560"/>
          </a:xfrm>
          <a:prstGeom prst="rect">
            <a:avLst/>
          </a:prstGeom>
          <a:solidFill>
            <a:srgbClr val="E6F4E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8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IOAs are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conversations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around authentic scenarios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depth of understanding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ability to think on feet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to probe and follow up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286000"/>
            <a:ext cx="3931920" cy="2194560"/>
          </a:xfrm>
          <a:prstGeom prst="rect">
            <a:avLst/>
          </a:prstGeom>
          <a:solidFill>
            <a:srgbClr val="FDEAE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93776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IOAs are not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6974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oral exams or vivas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 or speeches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 tests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Memorisation exercises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unstructured chats</a:t>
            </a:r>
            <a:endParaRPr lang="en-US" sz="1200" dirty="0"/>
          </a:p>
        </p:txBody>
      </p:sp>
      <p:sp>
        <p:nvSpPr>
          <p:cNvPr id="13" name="Shape 11">
            <a:hlinkClick r:id="rId4" action="ppaction://hlinksldjump"/>
          </p:cNvPr>
          <p:cNvSpPr/>
          <p:nvPr/>
        </p:nvSpPr>
        <p:spPr>
          <a:xfrm>
            <a:off x="457200" y="4709160"/>
            <a:ext cx="256032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>
            <a:hlinkClick r:id="rId4" action="ppaction://hlinksldjump"/>
          </p:cNvPr>
          <p:cNvSpPr/>
          <p:nvPr/>
        </p:nvSpPr>
        <p:spPr>
          <a:xfrm>
            <a:off x="45720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 IOA right for me?  →</a:t>
            </a:r>
            <a:endParaRPr lang="en-US" sz="1200" dirty="0"/>
          </a:p>
        </p:txBody>
      </p:sp>
      <p:sp>
        <p:nvSpPr>
          <p:cNvPr id="15" name="Shape 13">
            <a:hlinkClick r:id="rId5" action="ppaction://hlinksldjump"/>
          </p:cNvPr>
          <p:cNvSpPr/>
          <p:nvPr/>
        </p:nvSpPr>
        <p:spPr>
          <a:xfrm>
            <a:off x="3291840" y="4709160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>
            <a:hlinkClick r:id="rId5" action="ppaction://hlinksldjump"/>
          </p:cNvPr>
          <p:cNvSpPr/>
          <p:nvPr/>
        </p:nvSpPr>
        <p:spPr>
          <a:xfrm>
            <a:off x="329184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 my IOA  →</a:t>
            </a:r>
            <a:endParaRPr lang="en-US" sz="1200" dirty="0"/>
          </a:p>
        </p:txBody>
      </p:sp>
      <p:sp>
        <p:nvSpPr>
          <p:cNvPr id="17" name="Shape 15">
            <a:hlinkClick r:id="rId3" action="ppaction://hlinksldjump"/>
          </p:cNvPr>
          <p:cNvSpPr/>
          <p:nvPr/>
        </p:nvSpPr>
        <p:spPr>
          <a:xfrm>
            <a:off x="6126480" y="4709160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>
            <a:hlinkClick r:id="rId3" action="ppaction://hlinksldjump"/>
          </p:cNvPr>
          <p:cNvSpPr/>
          <p:nvPr/>
        </p:nvSpPr>
        <p:spPr>
          <a:xfrm>
            <a:off x="612648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Menu  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IOA Guide for Academics</a:t>
            </a:r>
            <a:endParaRPr lang="en-US" sz="1200" dirty="0"/>
          </a:p>
        </p:txBody>
      </p:sp>
      <p:sp>
        <p:nvSpPr>
          <p:cNvPr id="4" name="Text 2">
            <a:hlinkClick r:id="rId3" action="ppaction://hlinksldjump"/>
          </p:cNvPr>
          <p:cNvSpPr/>
          <p:nvPr/>
        </p:nvSpPr>
        <p:spPr>
          <a:xfrm>
            <a:off x="6858000" y="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Menu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IOA Right for My Unit?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IOA is likely a good fit if your unit involves: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Learning outcomes about applying knowledge (not just recall)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8229600" cy="329184"/>
          </a:xfrm>
          <a:prstGeom prst="rect">
            <a:avLst/>
          </a:prstGeom>
          <a:solidFill>
            <a:srgbClr val="F5F0E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Academic integrity concerns with current assessments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82296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40080" y="250545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Professional communication or workplace skills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89504"/>
            <a:ext cx="8229600" cy="329184"/>
          </a:xfrm>
          <a:prstGeom prst="rect">
            <a:avLst/>
          </a:prstGeom>
          <a:solidFill>
            <a:srgbClr val="F5F0E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640080" y="288950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Authentic scenarios from industry or practice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82296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640080" y="327355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Need to verify individual understanding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329184"/>
          </a:xfrm>
          <a:prstGeom prst="rect">
            <a:avLst/>
          </a:prstGeom>
          <a:solidFill>
            <a:srgbClr val="F5F0E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640080" y="36576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Desire to reduce overall marking time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41648"/>
            <a:ext cx="82296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40080" y="404164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Student engagement or attendance is a concern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= strong fit  |  Fewer = still worth exploring  |  Print this slide as a checklist</a:t>
            </a:r>
            <a:endParaRPr lang="en-US" sz="1100" dirty="0"/>
          </a:p>
        </p:txBody>
      </p:sp>
      <p:sp>
        <p:nvSpPr>
          <p:cNvPr id="23" name="Shape 21">
            <a:hlinkClick r:id="rId4" action="ppaction://hlinksldjump"/>
          </p:cNvPr>
          <p:cNvSpPr/>
          <p:nvPr/>
        </p:nvSpPr>
        <p:spPr>
          <a:xfrm>
            <a:off x="457200" y="4709160"/>
            <a:ext cx="256032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>
            <a:hlinkClick r:id="rId4" action="ppaction://hlinksldjump"/>
          </p:cNvPr>
          <p:cNvSpPr/>
          <p:nvPr/>
        </p:nvSpPr>
        <p:spPr>
          <a:xfrm>
            <a:off x="45720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evidence  →</a:t>
            </a:r>
            <a:endParaRPr lang="en-US" sz="1200" dirty="0"/>
          </a:p>
        </p:txBody>
      </p:sp>
      <p:sp>
        <p:nvSpPr>
          <p:cNvPr id="25" name="Shape 23">
            <a:hlinkClick r:id="rId5" action="ppaction://hlinksldjump"/>
          </p:cNvPr>
          <p:cNvSpPr/>
          <p:nvPr/>
        </p:nvSpPr>
        <p:spPr>
          <a:xfrm>
            <a:off x="3291840" y="4709160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>
            <a:hlinkClick r:id="rId5" action="ppaction://hlinksldjump"/>
          </p:cNvPr>
          <p:cNvSpPr/>
          <p:nvPr/>
        </p:nvSpPr>
        <p:spPr>
          <a:xfrm>
            <a:off x="329184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 my IOA  →</a:t>
            </a:r>
            <a:endParaRPr lang="en-US" sz="1200" dirty="0"/>
          </a:p>
        </p:txBody>
      </p:sp>
      <p:sp>
        <p:nvSpPr>
          <p:cNvPr id="27" name="Shape 25">
            <a:hlinkClick r:id="rId3" action="ppaction://hlinksldjump"/>
          </p:cNvPr>
          <p:cNvSpPr/>
          <p:nvPr/>
        </p:nvSpPr>
        <p:spPr>
          <a:xfrm>
            <a:off x="6126480" y="4709160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>
            <a:hlinkClick r:id="rId3" action="ppaction://hlinksldjump"/>
          </p:cNvPr>
          <p:cNvSpPr/>
          <p:nvPr/>
        </p:nvSpPr>
        <p:spPr>
          <a:xfrm>
            <a:off x="612648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Menu  →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IOA Guide for Academics</a:t>
            </a:r>
            <a:endParaRPr lang="en-US" sz="1200" dirty="0"/>
          </a:p>
        </p:txBody>
      </p:sp>
      <p:sp>
        <p:nvSpPr>
          <p:cNvPr id="4" name="Text 2">
            <a:hlinkClick r:id="rId3" action="ppaction://hlinksldjump"/>
          </p:cNvPr>
          <p:cNvSpPr/>
          <p:nvPr/>
        </p:nvSpPr>
        <p:spPr>
          <a:xfrm>
            <a:off x="6858000" y="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Menu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 Base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645920" cy="53035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~4,000 words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141732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 IOA generates equivalent of ~4,000 written words of assessable content.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06640" y="141732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Colvin &amp; Gaffey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1645920" cy="53035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57200" y="207568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 less marking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207568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60% reduction — assessment and feedback happen simultaneously.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06640" y="207568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Shaeri et al.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734056"/>
            <a:ext cx="1645920" cy="53035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57200" y="273405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+19% attendance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273405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using IOAs saw 19% improvement in student engagement.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06640" y="273405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Shaeri et al.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392424"/>
            <a:ext cx="1645920" cy="53035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457200" y="339242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equity gaps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339242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differences across gender, language, or socioeconomic status.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06640" y="339242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Davey et al.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050792"/>
            <a:ext cx="1645920" cy="53035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457200" y="405079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800+ students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405079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successfully with parallel scheduling and trained sessionals.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0" y="405079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Griffith University</a:t>
            </a:r>
            <a:endParaRPr lang="en-US" sz="900" dirty="0"/>
          </a:p>
        </p:txBody>
      </p:sp>
      <p:sp>
        <p:nvSpPr>
          <p:cNvPr id="26" name="Shape 24">
            <a:hlinkClick r:id="rId4" action="ppaction://hlinksldjump"/>
          </p:cNvPr>
          <p:cNvSpPr/>
          <p:nvPr/>
        </p:nvSpPr>
        <p:spPr>
          <a:xfrm>
            <a:off x="457200" y="4709160"/>
            <a:ext cx="256032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>
            <a:hlinkClick r:id="rId4" action="ppaction://hlinksldjump"/>
          </p:cNvPr>
          <p:cNvSpPr/>
          <p:nvPr/>
        </p:nvSpPr>
        <p:spPr>
          <a:xfrm>
            <a:off x="45720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 my IOA  →</a:t>
            </a:r>
            <a:endParaRPr lang="en-US" sz="1200" dirty="0"/>
          </a:p>
        </p:txBody>
      </p:sp>
      <p:sp>
        <p:nvSpPr>
          <p:cNvPr id="28" name="Shape 26">
            <a:hlinkClick r:id="rId5" action="ppaction://hlinksldjump"/>
          </p:cNvPr>
          <p:cNvSpPr/>
          <p:nvPr/>
        </p:nvSpPr>
        <p:spPr>
          <a:xfrm>
            <a:off x="3291840" y="4709160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>
            <a:hlinkClick r:id="rId5" action="ppaction://hlinksldjump"/>
          </p:cNvPr>
          <p:cNvSpPr/>
          <p:nvPr/>
        </p:nvSpPr>
        <p:spPr>
          <a:xfrm>
            <a:off x="329184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Logistics  →</a:t>
            </a:r>
            <a:endParaRPr lang="en-US" sz="1200" dirty="0"/>
          </a:p>
        </p:txBody>
      </p:sp>
      <p:sp>
        <p:nvSpPr>
          <p:cNvPr id="30" name="Shape 28">
            <a:hlinkClick r:id="rId3" action="ppaction://hlinksldjump"/>
          </p:cNvPr>
          <p:cNvSpPr/>
          <p:nvPr/>
        </p:nvSpPr>
        <p:spPr>
          <a:xfrm>
            <a:off x="6126480" y="4709160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>
            <a:hlinkClick r:id="rId3" action="ppaction://hlinksldjump"/>
          </p:cNvPr>
          <p:cNvSpPr/>
          <p:nvPr/>
        </p:nvSpPr>
        <p:spPr>
          <a:xfrm>
            <a:off x="612648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Menu  →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IOA Guide for Academics</a:t>
            </a:r>
            <a:endParaRPr lang="en-US" sz="1200" dirty="0"/>
          </a:p>
        </p:txBody>
      </p:sp>
      <p:sp>
        <p:nvSpPr>
          <p:cNvPr id="4" name="Text 2">
            <a:hlinkClick r:id="rId3" action="ppaction://hlinksldjump"/>
          </p:cNvPr>
          <p:cNvSpPr/>
          <p:nvPr/>
        </p:nvSpPr>
        <p:spPr>
          <a:xfrm>
            <a:off x="6858000" y="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Menu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— Format &amp; Duration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1920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viva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probing of individual knowledge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Consultation simulation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Health, law, business disciplines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Case-based discussion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Analytical disciplines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(2 assessors)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Capstone / high-stakes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IOA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cohorts, collaborative outcomes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>
            <a:off x="64008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Guide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= targeted single topic  •  10 min = standard (~4,000 words)  •  15 min = complex  •  20+ min = capstone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Weighting: IOAs work best at 20–40% of unit. Pair with a preparatory task (e.g., case brief).</a:t>
            </a:r>
            <a:endParaRPr lang="en-US" sz="1100" dirty="0"/>
          </a:p>
        </p:txBody>
      </p:sp>
      <p:sp>
        <p:nvSpPr>
          <p:cNvPr id="10" name="Shape 7">
            <a:hlinkClick r:id="rId4" action="ppaction://hlinksldjump"/>
          </p:cNvPr>
          <p:cNvSpPr/>
          <p:nvPr/>
        </p:nvSpPr>
        <p:spPr>
          <a:xfrm>
            <a:off x="457200" y="4709160"/>
            <a:ext cx="256032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>
            <a:hlinkClick r:id="rId4" action="ppaction://hlinksldjump"/>
          </p:cNvPr>
          <p:cNvSpPr/>
          <p:nvPr/>
        </p:nvSpPr>
        <p:spPr>
          <a:xfrm>
            <a:off x="45720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Rubric design  →</a:t>
            </a:r>
            <a:endParaRPr lang="en-US" sz="1200" dirty="0"/>
          </a:p>
        </p:txBody>
      </p:sp>
      <p:sp>
        <p:nvSpPr>
          <p:cNvPr id="12" name="Shape 9">
            <a:hlinkClick r:id="rId5" action="ppaction://hlinksldjump"/>
          </p:cNvPr>
          <p:cNvSpPr/>
          <p:nvPr/>
        </p:nvSpPr>
        <p:spPr>
          <a:xfrm>
            <a:off x="3291840" y="4709160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>
            <a:hlinkClick r:id="rId5" action="ppaction://hlinksldjump"/>
          </p:cNvPr>
          <p:cNvSpPr/>
          <p:nvPr/>
        </p:nvSpPr>
        <p:spPr>
          <a:xfrm>
            <a:off x="329184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Logistics  →</a:t>
            </a:r>
            <a:endParaRPr lang="en-US" sz="1200" dirty="0"/>
          </a:p>
        </p:txBody>
      </p:sp>
      <p:sp>
        <p:nvSpPr>
          <p:cNvPr id="14" name="Shape 11">
            <a:hlinkClick r:id="rId3" action="ppaction://hlinksldjump"/>
          </p:cNvPr>
          <p:cNvSpPr/>
          <p:nvPr/>
        </p:nvSpPr>
        <p:spPr>
          <a:xfrm>
            <a:off x="6126480" y="4709160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2">
            <a:hlinkClick r:id="rId3" action="ppaction://hlinksldjump"/>
          </p:cNvPr>
          <p:cNvSpPr/>
          <p:nvPr/>
        </p:nvSpPr>
        <p:spPr>
          <a:xfrm>
            <a:off x="612648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Menu  →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IOA Guide for Academics</a:t>
            </a:r>
            <a:endParaRPr lang="en-US" sz="1200" dirty="0"/>
          </a:p>
        </p:txBody>
      </p:sp>
      <p:sp>
        <p:nvSpPr>
          <p:cNvPr id="4" name="Text 2">
            <a:hlinkClick r:id="rId3" action="ppaction://hlinksldjump"/>
          </p:cNvPr>
          <p:cNvSpPr/>
          <p:nvPr/>
        </p:nvSpPr>
        <p:spPr>
          <a:xfrm>
            <a:off x="6858000" y="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Menu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Your Rubric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Assess the quality of THINKING, not the quality of SPEAKING.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73152" cy="384048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530352" y="2011680"/>
            <a:ext cx="8156448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accuracy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0116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of knowledge demonstrated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87168"/>
            <a:ext cx="73152" cy="384048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530352" y="2487168"/>
            <a:ext cx="8156448" cy="384048"/>
          </a:xfrm>
          <a:prstGeom prst="rect">
            <a:avLst/>
          </a:prstGeom>
          <a:solidFill>
            <a:srgbClr val="F5F0E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685800" y="24871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reasoning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4871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explain 'why' not just 'what'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62656"/>
            <a:ext cx="73152" cy="384048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530352" y="2962656"/>
            <a:ext cx="8156448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685800" y="29626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296265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theory to the specific scenario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38144"/>
            <a:ext cx="73152" cy="384048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530352" y="3438144"/>
            <a:ext cx="8156448" cy="384048"/>
          </a:xfrm>
          <a:prstGeom prst="rect">
            <a:avLst/>
          </a:prstGeom>
          <a:solidFill>
            <a:srgbClr val="F5F0E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685800" y="34381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43814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when assessor probes, challenges, or pivots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13632"/>
            <a:ext cx="73152" cy="384048"/>
          </a:xfrm>
          <a:prstGeom prst="rect">
            <a:avLst/>
          </a:prstGeom>
          <a:solidFill>
            <a:srgbClr val="C97A1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530352" y="3913632"/>
            <a:ext cx="8156448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685800" y="39136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communication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391363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this is an explicit learning outcome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434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3–4 criteria max. Each must be distinguishable at the pass/fail boundary.</a:t>
            </a:r>
            <a:endParaRPr lang="en-US" sz="1100" dirty="0"/>
          </a:p>
        </p:txBody>
      </p:sp>
      <p:sp>
        <p:nvSpPr>
          <p:cNvPr id="29" name="Shape 27">
            <a:hlinkClick r:id="rId4" action="ppaction://hlinksldjump"/>
          </p:cNvPr>
          <p:cNvSpPr/>
          <p:nvPr/>
        </p:nvSpPr>
        <p:spPr>
          <a:xfrm>
            <a:off x="457200" y="4709160"/>
            <a:ext cx="256032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>
            <a:hlinkClick r:id="rId4" action="ppaction://hlinksldjump"/>
          </p:cNvPr>
          <p:cNvSpPr/>
          <p:nvPr/>
        </p:nvSpPr>
        <p:spPr>
          <a:xfrm>
            <a:off x="45720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Logistics  →</a:t>
            </a:r>
            <a:endParaRPr lang="en-US" sz="1200" dirty="0"/>
          </a:p>
        </p:txBody>
      </p:sp>
      <p:sp>
        <p:nvSpPr>
          <p:cNvPr id="31" name="Shape 29">
            <a:hlinkClick r:id="rId5" action="ppaction://hlinksldjump"/>
          </p:cNvPr>
          <p:cNvSpPr/>
          <p:nvPr/>
        </p:nvSpPr>
        <p:spPr>
          <a:xfrm>
            <a:off x="3291840" y="4709160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>
            <a:hlinkClick r:id="rId5" action="ppaction://hlinksldjump"/>
          </p:cNvPr>
          <p:cNvSpPr/>
          <p:nvPr/>
        </p:nvSpPr>
        <p:spPr>
          <a:xfrm>
            <a:off x="329184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Preparing students  →</a:t>
            </a:r>
            <a:endParaRPr lang="en-US" sz="1200" dirty="0"/>
          </a:p>
        </p:txBody>
      </p:sp>
      <p:sp>
        <p:nvSpPr>
          <p:cNvPr id="33" name="Shape 31">
            <a:hlinkClick r:id="rId3" action="ppaction://hlinksldjump"/>
          </p:cNvPr>
          <p:cNvSpPr/>
          <p:nvPr/>
        </p:nvSpPr>
        <p:spPr>
          <a:xfrm>
            <a:off x="6126480" y="4709160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2">
            <a:hlinkClick r:id="rId3" action="ppaction://hlinksldjump"/>
          </p:cNvPr>
          <p:cNvSpPr/>
          <p:nvPr/>
        </p:nvSpPr>
        <p:spPr>
          <a:xfrm>
            <a:off x="612648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Menu  →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IOA Guide for Academics</a:t>
            </a:r>
            <a:endParaRPr lang="en-US" sz="1200" dirty="0"/>
          </a:p>
        </p:txBody>
      </p:sp>
      <p:sp>
        <p:nvSpPr>
          <p:cNvPr id="4" name="Text 2">
            <a:hlinkClick r:id="rId3" action="ppaction://hlinksldjump"/>
          </p:cNvPr>
          <p:cNvSpPr/>
          <p:nvPr/>
        </p:nvSpPr>
        <p:spPr>
          <a:xfrm>
            <a:off x="6858000" y="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Menu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 &amp; Marking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7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students/hr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 IOA + 2-min gap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329184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7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marking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+ feedback at once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12648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7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 hrs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100 students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Parallelise across assessors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Logistics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0632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face-to-face, online (Teams), or hybrid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at minimum a moderation sample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calibration session before marking begins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assessors mark same 2–3 students, then compare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rooms with waiting area (F2F) or use SOTS (online)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backup plan for no-shows (reschedule window)</a:t>
            </a:r>
            <a:endParaRPr lang="en-US" sz="1200" dirty="0"/>
          </a:p>
        </p:txBody>
      </p:sp>
      <p:sp>
        <p:nvSpPr>
          <p:cNvPr id="20" name="Shape 18">
            <a:hlinkClick r:id="rId4" action="ppaction://hlinksldjump"/>
          </p:cNvPr>
          <p:cNvSpPr/>
          <p:nvPr/>
        </p:nvSpPr>
        <p:spPr>
          <a:xfrm>
            <a:off x="457200" y="4709160"/>
            <a:ext cx="256032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>
            <a:hlinkClick r:id="rId4" action="ppaction://hlinksldjump"/>
          </p:cNvPr>
          <p:cNvSpPr/>
          <p:nvPr/>
        </p:nvSpPr>
        <p:spPr>
          <a:xfrm>
            <a:off x="45720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Preparing students  →</a:t>
            </a:r>
            <a:endParaRPr lang="en-US" sz="1200" dirty="0"/>
          </a:p>
        </p:txBody>
      </p:sp>
      <p:sp>
        <p:nvSpPr>
          <p:cNvPr id="22" name="Shape 20">
            <a:hlinkClick r:id="rId5" action="ppaction://hlinksldjump"/>
          </p:cNvPr>
          <p:cNvSpPr/>
          <p:nvPr/>
        </p:nvSpPr>
        <p:spPr>
          <a:xfrm>
            <a:off x="3291840" y="4709160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>
            <a:hlinkClick r:id="rId5" action="ppaction://hlinksldjump"/>
          </p:cNvPr>
          <p:cNvSpPr/>
          <p:nvPr/>
        </p:nvSpPr>
        <p:spPr>
          <a:xfrm>
            <a:off x="329184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 my IOA  →</a:t>
            </a:r>
            <a:endParaRPr lang="en-US" sz="1200" dirty="0"/>
          </a:p>
        </p:txBody>
      </p:sp>
      <p:sp>
        <p:nvSpPr>
          <p:cNvPr id="24" name="Shape 22">
            <a:hlinkClick r:id="rId3" action="ppaction://hlinksldjump"/>
          </p:cNvPr>
          <p:cNvSpPr/>
          <p:nvPr/>
        </p:nvSpPr>
        <p:spPr>
          <a:xfrm>
            <a:off x="6126480" y="4709160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>
            <a:hlinkClick r:id="rId3" action="ppaction://hlinksldjump"/>
          </p:cNvPr>
          <p:cNvSpPr/>
          <p:nvPr/>
        </p:nvSpPr>
        <p:spPr>
          <a:xfrm>
            <a:off x="612648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Menu  →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IOA Guide for Academics</a:t>
            </a:r>
            <a:endParaRPr lang="en-US" sz="1200" dirty="0"/>
          </a:p>
        </p:txBody>
      </p:sp>
      <p:sp>
        <p:nvSpPr>
          <p:cNvPr id="4" name="Text 2">
            <a:hlinkClick r:id="rId3" action="ppaction://hlinksldjump"/>
          </p:cNvPr>
          <p:cNvSpPr/>
          <p:nvPr/>
        </p:nvSpPr>
        <p:spPr>
          <a:xfrm>
            <a:off x="6858000" y="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Menu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Preparing Students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anxiety decreases significantly with clear preparation and practice opportunities.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114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Exact format and duration explained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42032"/>
            <a:ext cx="4114800" cy="292608"/>
          </a:xfrm>
          <a:prstGeom prst="rect">
            <a:avLst/>
          </a:prstGeom>
          <a:solidFill>
            <a:srgbClr val="F5F0E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40080" y="25420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Rubric / marking criteria shared in advance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89504"/>
            <a:ext cx="4114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640080" y="28895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Practice or mock IOA opportunity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36976"/>
            <a:ext cx="4114800" cy="292608"/>
          </a:xfrm>
          <a:prstGeom prst="rect">
            <a:avLst/>
          </a:prstGeom>
          <a:solidFill>
            <a:srgbClr val="F5F0E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40080" y="32369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Example questions (not actual ones)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84448"/>
            <a:ext cx="4114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640080" y="35844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Technical requirements (if online)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4114800" cy="292608"/>
          </a:xfrm>
          <a:prstGeom prst="rect">
            <a:avLst/>
          </a:prstGeom>
          <a:solidFill>
            <a:srgbClr val="F5F0E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How to request accessibility adjustments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828800"/>
            <a:ext cx="3840480" cy="246888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502920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Adjustments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224028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time (e.g., 15 min instead of 10)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provided 5 min before IOA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person present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alternative (documented need)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option even when others F2F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equity gaps found (Davey et al.)</a:t>
            </a:r>
            <a:endParaRPr lang="en-US" sz="1100" dirty="0"/>
          </a:p>
        </p:txBody>
      </p:sp>
      <p:sp>
        <p:nvSpPr>
          <p:cNvPr id="23" name="Shape 21">
            <a:hlinkClick r:id="rId4" action="ppaction://hlinksldjump"/>
          </p:cNvPr>
          <p:cNvSpPr/>
          <p:nvPr/>
        </p:nvSpPr>
        <p:spPr>
          <a:xfrm>
            <a:off x="457200" y="4709160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>
            <a:hlinkClick r:id="rId4" action="ppaction://hlinksldjump"/>
          </p:cNvPr>
          <p:cNvSpPr/>
          <p:nvPr/>
        </p:nvSpPr>
        <p:spPr>
          <a:xfrm>
            <a:off x="45720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Evidence base  →</a:t>
            </a:r>
            <a:endParaRPr lang="en-US" sz="1200" dirty="0"/>
          </a:p>
        </p:txBody>
      </p:sp>
      <p:sp>
        <p:nvSpPr>
          <p:cNvPr id="25" name="Shape 23">
            <a:hlinkClick r:id="rId5" action="ppaction://hlinksldjump"/>
          </p:cNvPr>
          <p:cNvSpPr/>
          <p:nvPr/>
        </p:nvSpPr>
        <p:spPr>
          <a:xfrm>
            <a:off x="3291840" y="4709160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>
            <a:hlinkClick r:id="rId5" action="ppaction://hlinksldjump"/>
          </p:cNvPr>
          <p:cNvSpPr/>
          <p:nvPr/>
        </p:nvSpPr>
        <p:spPr>
          <a:xfrm>
            <a:off x="329184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 my IOA  →</a:t>
            </a:r>
            <a:endParaRPr lang="en-US" sz="1200" dirty="0"/>
          </a:p>
        </p:txBody>
      </p:sp>
      <p:sp>
        <p:nvSpPr>
          <p:cNvPr id="27" name="Shape 25">
            <a:hlinkClick r:id="rId3" action="ppaction://hlinksldjump"/>
          </p:cNvPr>
          <p:cNvSpPr/>
          <p:nvPr/>
        </p:nvSpPr>
        <p:spPr>
          <a:xfrm>
            <a:off x="6126480" y="4709160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>
            <a:hlinkClick r:id="rId3" action="ppaction://hlinksldjump"/>
          </p:cNvPr>
          <p:cNvSpPr/>
          <p:nvPr/>
        </p:nvSpPr>
        <p:spPr>
          <a:xfrm>
            <a:off x="6126480" y="4709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Menu 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813</Words>
  <Application>Microsoft Macintosh PowerPoint</Application>
  <PresentationFormat>On-screen Show (16:9)</PresentationFormat>
  <Paragraphs>169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Oral Assessments — Guide for Academics</dc:title>
  <dc:subject>PptxGenJS Presentation</dc:subject>
  <dc:creator>IOA Project Team</dc:creator>
  <cp:lastModifiedBy>Elizabeth Black</cp:lastModifiedBy>
  <cp:revision>1</cp:revision>
  <dcterms:created xsi:type="dcterms:W3CDTF">2026-02-11T00:23:48Z</dcterms:created>
  <dcterms:modified xsi:type="dcterms:W3CDTF">2026-02-11T02:02:21Z</dcterms:modified>
</cp:coreProperties>
</file>